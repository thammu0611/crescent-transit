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 Introduce the project and say that this review covers the 12 Phase-2 rubric items, then a live demo of Module 1, the real-time location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 s. Point out that every rubric item has a slide, and that item 12 is implemented and will be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Explain, do not read. BSACIST today: students rely on the printed circular and call the driver. Chennai Bus (MTC) and Chalo track city buses in Chennai. TransLoc is the campus-shuttle product used by US universities. If asked to demonstrate: open the Chennai Bus or Chalo app on a phone and show a live bus.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Stress the technical reasons: coverage (private buses are not in MTC data), cost (hardware and licences), and data trust (client writes straight to Firebase, no validation, stale points look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Five tracking papers from 2011 to 2023. Watkins et al. is the foundational study: real-time information users waited almost 2 minutes less. The others are college or campus tracking systems built with Android, RFID, LoRaWAN and Firebase.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Five arrival-prediction papers from 2023 to 2025: LSTM, fully connected neural networks, a CNN-based model and a hybrid Markov model. All are verifiable: IEEE DOIs and arXiv IDs are on the references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Compare by method, technology, dataset and findings. Note that the tracking prototypes report no accuracy numbers and use hardware or Firebase.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The ETA papers report numbers (40 s, 80 s, MAE improvements) but depend on large clean datasets. That is why Module 1 focuses on clean validated history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Answer "what is missing?" in one line: a trusted, low-cost campus tracker. Four gaps: data trust, staleness, hardware cost, and no measured ETA.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Explain without reading: main idea, six functions (first three done in Module 1), expected outcome.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 Six objectives, each starting with an action verb, each with a measurable target. Three targets are already met and measured by Module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In-scope is software only, on the phone the driver already has. Hardware, payments and city buses are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Same stack as the approved proposal. Note that the prototype runs real PostgreSQL inside Node (PGlite), and switches to Supabase by setting DATABASE_URL. ML tools come in Module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 Dataset 1 is real: the official 2026-27 route circular. Be honest that stop coordinates are locality-level, not surveyed. Dataset 2 is what Module 1 now collects. Dataset 3 is derived from it for ETA, measured by MAE.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Three layers. Navy boxes exist now; dashed boxes are later modules. The key design rule: only the server writes positions.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 Six modules. Module 1 is done; the others follow over eight weeks in Phase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Eight tables. Point to the two red ones: location_pings is the full history, bus_latest holds one row per bus for the live map. The partial unique index on trips guarantees one active trip per bus.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 Walk one fix left to right: POST with token, validation, one transaction writing history and latest, broadcast only to that route room, and the reply to the driver. Rejected fixes go to rejected_pings and are never broadcast.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Everything in the list is implemented. The numbers on the right are measured, not estimated: npm test, the simulator with --faults, and npm run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 then switch to the live demo. Demo script is in docs/DEMO_SCRIPT.md.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here, more if asked. Full walkthrough with line numbers is in docs/CODE_WALKTHROUGH.md. Open server/validation.js and server/tracking.js in VS Code if the panel asks to see the real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 Tests and measurements are reproducible: npm test, npm run simulate -- --faults, npm run measure. Be clear the latency is localhost.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 Eight-week plan for the remaining modules, ending with a pilot on route 118.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only if asked. Every paper is verifiable by DOI or arXiv ID.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for the demo. Keep the simulator running in the background so other buses are already moving.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rgbClr val="0A1D3D"/>
                </a:solidFill>
                <a:latin typeface="Arial" panose="020B0604020202020204"/>
                <a:cs typeface="Arial" panose="020B0604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A1D3D"/>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A1D3D"/>
                </a:solidFill>
                <a:latin typeface="Arial" panose="020B0604020202020204"/>
                <a:cs typeface="Arial" panose="020B0604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A1D3D"/>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503022" y="277399"/>
            <a:ext cx="1518260" cy="397914"/>
          </a:xfrm>
          <a:prstGeom prst="rect">
            <a:avLst/>
          </a:prstGeom>
        </p:spPr>
      </p:pic>
      <p:pic>
        <p:nvPicPr>
          <p:cNvPr id="17" name="bg object 17"/>
          <p:cNvPicPr/>
          <p:nvPr/>
        </p:nvPicPr>
        <p:blipFill>
          <a:blip r:embed="rId7" cstate="print"/>
          <a:stretch>
            <a:fillRect/>
          </a:stretch>
        </p:blipFill>
        <p:spPr>
          <a:xfrm>
            <a:off x="457200" y="868324"/>
            <a:ext cx="11277003" cy="72720"/>
          </a:xfrm>
          <a:prstGeom prst="rect">
            <a:avLst/>
          </a:prstGeom>
        </p:spPr>
      </p:pic>
      <p:sp>
        <p:nvSpPr>
          <p:cNvPr id="2" name="Holder 2"/>
          <p:cNvSpPr>
            <a:spLocks noGrp="1"/>
          </p:cNvSpPr>
          <p:nvPr>
            <p:ph type="title"/>
          </p:nvPr>
        </p:nvSpPr>
        <p:spPr>
          <a:xfrm>
            <a:off x="3332416" y="1037425"/>
            <a:ext cx="5527167" cy="391794"/>
          </a:xfrm>
          <a:prstGeom prst="rect">
            <a:avLst/>
          </a:prstGeom>
        </p:spPr>
        <p:txBody>
          <a:bodyPr wrap="square" lIns="0" tIns="0" rIns="0" bIns="0">
            <a:spAutoFit/>
          </a:bodyPr>
          <a:lstStyle>
            <a:lvl1pPr>
              <a:defRPr sz="2400" b="1" i="0">
                <a:solidFill>
                  <a:srgbClr val="0A1D3D"/>
                </a:solidFill>
                <a:latin typeface="Arial" panose="020B0604020202020204"/>
                <a:cs typeface="Arial" panose="020B0604020202020204"/>
              </a:defRPr>
            </a:lvl1pPr>
          </a:lstStyle>
          <a:p/>
        </p:txBody>
      </p:sp>
      <p:sp>
        <p:nvSpPr>
          <p:cNvPr id="3" name="Holder 3"/>
          <p:cNvSpPr>
            <a:spLocks noGrp="1"/>
          </p:cNvSpPr>
          <p:nvPr>
            <p:ph type="body" idx="1"/>
          </p:nvPr>
        </p:nvSpPr>
        <p:spPr>
          <a:xfrm>
            <a:off x="413701" y="1731961"/>
            <a:ext cx="11364595" cy="28321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534504" y="6352982"/>
            <a:ext cx="2830829" cy="167640"/>
          </a:xfrm>
          <a:prstGeom prst="rect">
            <a:avLst/>
          </a:prstGeom>
        </p:spPr>
        <p:txBody>
          <a:bodyPr wrap="square" lIns="0" tIns="0" rIns="0" bIns="0">
            <a:spAutoFit/>
          </a:bodyPr>
          <a:lstStyle>
            <a:lvl1pPr>
              <a:defRPr sz="1000" b="1" i="0">
                <a:solidFill>
                  <a:srgbClr val="777777"/>
                </a:solidFill>
                <a:latin typeface="Arial" panose="020B0604020202020204"/>
                <a:cs typeface="Arial" panose="020B0604020202020204"/>
              </a:defRPr>
            </a:lvl1p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281384" y="6352982"/>
            <a:ext cx="160020" cy="167640"/>
          </a:xfrm>
          <a:prstGeom prst="rect">
            <a:avLst/>
          </a:prstGeom>
        </p:spPr>
        <p:txBody>
          <a:bodyPr wrap="square" lIns="0" tIns="0" rIns="0" bIns="0">
            <a:spAutoFit/>
          </a:bodyPr>
          <a:lstStyle>
            <a:lvl1pPr>
              <a:defRPr sz="1000" b="1" i="0">
                <a:solidFill>
                  <a:srgbClr val="777777"/>
                </a:solidFill>
                <a:latin typeface="Arial" panose="020B0604020202020204"/>
                <a:cs typeface="Arial" panose="020B0604020202020204"/>
              </a:defRPr>
            </a:lvl1pPr>
          </a:lstStyle>
          <a:p>
            <a:pPr marL="38100">
              <a:lnSpc>
                <a:spcPct val="100000"/>
              </a:lnSpc>
              <a:spcBef>
                <a:spcPts val="5"/>
              </a:spcBef>
            </a:pPr>
            <a:fld id="{81D60167-4931-47E6-BA6A-407CBD079E47}" type="slidenum">
              <a:rPr spc="-50" dirty="0"/>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pic>
        <p:nvPicPr>
          <p:cNvPr id="27" name="Picture 26" descr="image5.jpeg"/>
          <p:cNvPicPr>
            <a:picLocks noChangeAspect="1"/>
          </p:cNvPicPr>
          <p:nvPr/>
        </p:nvPicPr>
        <p:blipFill>
          <a:blip r:embed="rId1"/>
          <a:stretch>
            <a:fillRect/>
          </a:stretch>
        </p:blipFill>
        <p:spPr>
          <a:xfrm>
            <a:off x="9061704" y="18288"/>
            <a:ext cx="2962656" cy="841248"/>
          </a:xfrm>
          <a:prstGeom prst="rect">
            <a:avLst/>
          </a:prstGeom>
        </p:spPr>
      </p:pic>
      <p:sp>
        <p:nvSpPr>
          <p:cNvPr id="28" name="TextBox 27"/>
          <p:cNvSpPr txBox="1"/>
          <p:nvPr/>
        </p:nvSpPr>
        <p:spPr>
          <a:xfrm>
            <a:off x="457200" y="1755648"/>
            <a:ext cx="11274552" cy="731520"/>
          </a:xfrm>
          <a:prstGeom prst="rect">
            <a:avLst/>
          </a:prstGeom>
          <a:noFill/>
        </p:spPr>
        <p:txBody>
          <a:bodyPr wrap="square" lIns="0" tIns="0" rIns="0" bIns="0" anchor="t">
            <a:spAutoFit/>
          </a:bodyPr>
          <a:lstStyle/>
          <a:p>
            <a:pPr algn="ctr"/>
            <a:r>
              <a:rPr sz="4000" b="1">
                <a:solidFill>
                  <a:srgbClr val="0A1D3D"/>
                </a:solidFill>
                <a:latin typeface="Arial" panose="020B0604020202020204"/>
              </a:rPr>
              <a:t>UNIVERSITY BUS TRACKING SYSTEM</a:t>
            </a:r>
            <a:endParaRPr sz="4000" b="1">
              <a:solidFill>
                <a:srgbClr val="0A1D3D"/>
              </a:solidFill>
              <a:latin typeface="Arial" panose="020B0604020202020204"/>
            </a:endParaRPr>
          </a:p>
        </p:txBody>
      </p:sp>
      <p:sp>
        <p:nvSpPr>
          <p:cNvPr id="29" name="TextBox 28"/>
          <p:cNvSpPr txBox="1"/>
          <p:nvPr/>
        </p:nvSpPr>
        <p:spPr>
          <a:xfrm>
            <a:off x="457200" y="2578608"/>
            <a:ext cx="11274552" cy="822960"/>
          </a:xfrm>
          <a:prstGeom prst="rect">
            <a:avLst/>
          </a:prstGeom>
          <a:noFill/>
        </p:spPr>
        <p:txBody>
          <a:bodyPr wrap="square" lIns="0" tIns="0" rIns="0" bIns="0" anchor="t">
            <a:spAutoFit/>
          </a:bodyPr>
          <a:lstStyle/>
          <a:p>
            <a:pPr algn="ctr"/>
            <a:r>
              <a:rPr sz="2000" b="1">
                <a:solidFill>
                  <a:srgbClr val="272727"/>
                </a:solidFill>
                <a:latin typeface="Arial" panose="020B0604020202020204"/>
              </a:rPr>
              <a:t>Real-Time GPS Tracking and Arrival Prediction for Campus Transport</a:t>
            </a:r>
            <a:endParaRPr sz="2000" b="1">
              <a:solidFill>
                <a:srgbClr val="272727"/>
              </a:solidFill>
              <a:latin typeface="Arial" panose="020B0604020202020204"/>
            </a:endParaRPr>
          </a:p>
          <a:p>
            <a:pPr algn="ctr">
              <a:spcBef>
                <a:spcPts val="1200"/>
              </a:spcBef>
            </a:pPr>
            <a:r>
              <a:rPr sz="1600" b="1">
                <a:solidFill>
                  <a:srgbClr val="C70F2D"/>
                </a:solidFill>
                <a:latin typeface="Arial" panose="020B0604020202020204"/>
              </a:rPr>
              <a:t>MINI PROJECT PHASE-2 REVIEW  ·  CAF7104</a:t>
            </a:r>
            <a:endParaRPr sz="1600" b="1">
              <a:solidFill>
                <a:srgbClr val="C70F2D"/>
              </a:solidFill>
              <a:latin typeface="Arial" panose="020B0604020202020204"/>
            </a:endParaRPr>
          </a:p>
        </p:txBody>
      </p:sp>
      <p:sp>
        <p:nvSpPr>
          <p:cNvPr id="30" name="Rounded Rectangle 29"/>
          <p:cNvSpPr/>
          <p:nvPr/>
        </p:nvSpPr>
        <p:spPr>
          <a:xfrm>
            <a:off x="1325880" y="3630168"/>
            <a:ext cx="4489704" cy="2203704"/>
          </a:xfrm>
          <a:prstGeom prst="roundRect">
            <a:avLst>
              <a:gd name="adj" fmla="val 7468"/>
            </a:avLst>
          </a:prstGeom>
          <a:solidFill>
            <a:srgbClr val="F4F4F4"/>
          </a:solidFill>
          <a:ln w="12700">
            <a:solidFill>
              <a:srgbClr val="0A1D3D"/>
            </a:solidFill>
          </a:ln>
          <a:effectLst>
            <a:outerShdw blurRad="57150" dist="25400" dir="5400000" rotWithShape="0">
              <a:srgbClr val="000000">
                <a:alpha val="18000"/>
              </a:srgbClr>
            </a:outerShdw>
          </a:effectLst>
        </p:spPr>
        <p:txBody>
          <a:bodyPr wrap="square" rtlCol="0" anchor="ctr"/>
          <a:lstStyle/>
          <a:p>
            <a:pPr algn="ctr"/>
          </a:p>
        </p:txBody>
      </p:sp>
      <p:sp>
        <p:nvSpPr>
          <p:cNvPr id="31" name="TextBox 30"/>
          <p:cNvSpPr txBox="1"/>
          <p:nvPr/>
        </p:nvSpPr>
        <p:spPr>
          <a:xfrm>
            <a:off x="1600200" y="3931920"/>
            <a:ext cx="3941063" cy="1451610"/>
          </a:xfrm>
          <a:prstGeom prst="rect">
            <a:avLst/>
          </a:prstGeom>
          <a:noFill/>
        </p:spPr>
        <p:txBody>
          <a:bodyPr wrap="square" lIns="0" tIns="0" rIns="0" bIns="0" anchor="t">
            <a:spAutoFit/>
          </a:bodyPr>
          <a:lstStyle/>
          <a:p>
            <a:pPr algn="ctr"/>
            <a:r>
              <a:rPr sz="1300" b="1">
                <a:solidFill>
                  <a:srgbClr val="0A1D3D"/>
                </a:solidFill>
                <a:latin typeface="Arial" panose="020B0604020202020204"/>
              </a:rPr>
              <a:t>PRESENTED BY</a:t>
            </a:r>
            <a:endParaRPr sz="1300" b="1">
              <a:solidFill>
                <a:srgbClr val="0A1D3D"/>
              </a:solidFill>
              <a:latin typeface="Arial" panose="020B0604020202020204"/>
            </a:endParaRPr>
          </a:p>
          <a:p>
            <a:pPr algn="l">
              <a:spcBef>
                <a:spcPts val="1000"/>
              </a:spcBef>
            </a:pPr>
            <a:r>
              <a:rPr sz="1200" b="1">
                <a:solidFill>
                  <a:srgbClr val="272727"/>
                </a:solidFill>
                <a:latin typeface="Arial" panose="020B0604020202020204"/>
              </a:rPr>
              <a:t>Name: Thameem</a:t>
            </a:r>
            <a:endParaRPr sz="1200" b="1">
              <a:solidFill>
                <a:srgbClr val="272727"/>
              </a:solidFill>
              <a:latin typeface="Arial" panose="020B0604020202020204"/>
            </a:endParaRPr>
          </a:p>
          <a:p>
            <a:pPr algn="l">
              <a:spcBef>
                <a:spcPts val="1000"/>
              </a:spcBef>
            </a:pPr>
            <a:r>
              <a:rPr sz="1200" b="1">
                <a:solidFill>
                  <a:srgbClr val="272727"/>
                </a:solidFill>
                <a:latin typeface="Arial" panose="020B0604020202020204"/>
              </a:rPr>
              <a:t>RRN No: [</a:t>
            </a:r>
            <a:r>
              <a:rPr lang="en-US" altLang="" sz="1200" b="1">
                <a:solidFill>
                  <a:srgbClr val="272727"/>
                </a:solidFill>
                <a:latin typeface="Arial" panose="020B0604020202020204"/>
              </a:rPr>
              <a:t>250282601112</a:t>
            </a:r>
            <a:r>
              <a:rPr sz="1200" b="1">
                <a:solidFill>
                  <a:srgbClr val="272727"/>
                </a:solidFill>
                <a:latin typeface="Arial" panose="020B0604020202020204"/>
              </a:rPr>
              <a:t>]</a:t>
            </a:r>
            <a:endParaRPr sz="1200" b="1">
              <a:solidFill>
                <a:srgbClr val="272727"/>
              </a:solidFill>
              <a:latin typeface="Arial" panose="020B0604020202020204"/>
            </a:endParaRPr>
          </a:p>
          <a:p>
            <a:pPr algn="l">
              <a:spcBef>
                <a:spcPts val="1000"/>
              </a:spcBef>
            </a:pPr>
            <a:r>
              <a:rPr sz="1200" b="1">
                <a:solidFill>
                  <a:srgbClr val="272727"/>
                </a:solidFill>
                <a:latin typeface="Arial" panose="020B0604020202020204"/>
              </a:rPr>
              <a:t>Class: MCA</a:t>
            </a:r>
            <a:endParaRPr sz="1200" b="1">
              <a:solidFill>
                <a:srgbClr val="272727"/>
              </a:solidFill>
              <a:latin typeface="Arial" panose="020B0604020202020204"/>
            </a:endParaRPr>
          </a:p>
          <a:p>
            <a:pPr algn="l">
              <a:spcBef>
                <a:spcPts val="1000"/>
              </a:spcBef>
            </a:pPr>
            <a:r>
              <a:rPr sz="1200" b="1">
                <a:solidFill>
                  <a:srgbClr val="272727"/>
                </a:solidFill>
                <a:latin typeface="Arial" panose="020B0604020202020204"/>
              </a:rPr>
              <a:t>Guide: [</a:t>
            </a:r>
            <a:r>
              <a:rPr lang="en-US" altLang="" sz="1200" b="1">
                <a:solidFill>
                  <a:srgbClr val="272727"/>
                </a:solidFill>
                <a:latin typeface="Arial" panose="020B0604020202020204"/>
              </a:rPr>
              <a:t>Dr.Javabur Sathick</a:t>
            </a:r>
            <a:r>
              <a:rPr sz="1200" b="1">
                <a:solidFill>
                  <a:srgbClr val="272727"/>
                </a:solidFill>
                <a:latin typeface="Arial" panose="020B0604020202020204"/>
              </a:rPr>
              <a:t>]</a:t>
            </a:r>
            <a:endParaRPr sz="1200" b="1">
              <a:solidFill>
                <a:srgbClr val="272727"/>
              </a:solidFill>
              <a:latin typeface="Arial" panose="020B0604020202020204"/>
            </a:endParaRPr>
          </a:p>
        </p:txBody>
      </p:sp>
      <p:sp>
        <p:nvSpPr>
          <p:cNvPr id="32" name="Rounded Rectangle 31"/>
          <p:cNvSpPr/>
          <p:nvPr/>
        </p:nvSpPr>
        <p:spPr>
          <a:xfrm>
            <a:off x="6172200" y="3630168"/>
            <a:ext cx="4672584" cy="2203704"/>
          </a:xfrm>
          <a:prstGeom prst="roundRect">
            <a:avLst>
              <a:gd name="adj" fmla="val 7468"/>
            </a:avLst>
          </a:prstGeom>
          <a:solidFill>
            <a:srgbClr val="F4F4F4"/>
          </a:solidFill>
          <a:ln w="12700">
            <a:solidFill>
              <a:srgbClr val="0A1D3D"/>
            </a:solidFill>
          </a:ln>
          <a:effectLst>
            <a:outerShdw blurRad="57150" dist="25400" dir="5400000" rotWithShape="0">
              <a:srgbClr val="000000">
                <a:alpha val="18000"/>
              </a:srgbClr>
            </a:outerShdw>
          </a:effectLst>
        </p:spPr>
        <p:txBody>
          <a:bodyPr wrap="square" rtlCol="0" anchor="ctr"/>
          <a:lstStyle/>
          <a:p>
            <a:pPr algn="ctr"/>
          </a:p>
        </p:txBody>
      </p:sp>
      <p:sp>
        <p:nvSpPr>
          <p:cNvPr id="33" name="TextBox 32"/>
          <p:cNvSpPr txBox="1"/>
          <p:nvPr/>
        </p:nvSpPr>
        <p:spPr>
          <a:xfrm>
            <a:off x="6446520" y="3931920"/>
            <a:ext cx="4123944" cy="1600200"/>
          </a:xfrm>
          <a:prstGeom prst="rect">
            <a:avLst/>
          </a:prstGeom>
          <a:noFill/>
        </p:spPr>
        <p:txBody>
          <a:bodyPr wrap="square" lIns="0" tIns="0" rIns="0" bIns="0" anchor="t">
            <a:spAutoFit/>
          </a:bodyPr>
          <a:lstStyle/>
          <a:p>
            <a:pPr algn="ctr"/>
            <a:r>
              <a:rPr sz="1300" b="1">
                <a:solidFill>
                  <a:srgbClr val="0A1D3D"/>
                </a:solidFill>
                <a:latin typeface="Arial" panose="020B0604020202020204"/>
              </a:rPr>
              <a:t>PHASE-2 STATUS</a:t>
            </a:r>
            <a:endParaRPr sz="1300" b="1">
              <a:solidFill>
                <a:srgbClr val="0A1D3D"/>
              </a:solidFill>
              <a:latin typeface="Arial" panose="020B0604020202020204"/>
            </a:endParaRPr>
          </a:p>
          <a:p>
            <a:pPr algn="l">
              <a:spcBef>
                <a:spcPts val="900"/>
              </a:spcBef>
            </a:pPr>
            <a:r>
              <a:rPr sz="1100" b="1">
                <a:solidFill>
                  <a:srgbClr val="C70F2D"/>
                </a:solidFill>
                <a:latin typeface="Arial" panose="020B0604020202020204"/>
              </a:rPr>
              <a:t>MODULE 1:</a:t>
            </a:r>
            <a:r>
              <a:rPr sz="1100" b="0">
                <a:solidFill>
                  <a:srgbClr val="272727"/>
                </a:solidFill>
                <a:latin typeface="Arial" panose="020B0604020202020204"/>
              </a:rPr>
              <a:t> Live location pipeline — completed</a:t>
            </a:r>
            <a:endParaRPr sz="1100" b="0">
              <a:solidFill>
                <a:srgbClr val="272727"/>
              </a:solidFill>
              <a:latin typeface="Arial" panose="020B0604020202020204"/>
            </a:endParaRPr>
          </a:p>
          <a:p>
            <a:pPr algn="l">
              <a:spcBef>
                <a:spcPts val="900"/>
              </a:spcBef>
            </a:pPr>
            <a:r>
              <a:rPr sz="1100" b="1">
                <a:solidFill>
                  <a:srgbClr val="C70F2D"/>
                </a:solidFill>
                <a:latin typeface="Arial" panose="020B0604020202020204"/>
              </a:rPr>
              <a:t>TESTS:</a:t>
            </a:r>
            <a:r>
              <a:rPr sz="1100" b="0">
                <a:solidFill>
                  <a:srgbClr val="272727"/>
                </a:solidFill>
                <a:latin typeface="Arial" panose="020B0604020202020204"/>
              </a:rPr>
              <a:t> 29 of 29 automated tests passing</a:t>
            </a:r>
            <a:endParaRPr sz="1100" b="0">
              <a:solidFill>
                <a:srgbClr val="272727"/>
              </a:solidFill>
              <a:latin typeface="Arial" panose="020B0604020202020204"/>
            </a:endParaRPr>
          </a:p>
          <a:p>
            <a:pPr algn="l">
              <a:spcBef>
                <a:spcPts val="900"/>
              </a:spcBef>
            </a:pPr>
            <a:r>
              <a:rPr sz="1100" b="1">
                <a:solidFill>
                  <a:srgbClr val="C70F2D"/>
                </a:solidFill>
                <a:latin typeface="Arial" panose="020B0604020202020204"/>
              </a:rPr>
              <a:t>DATA:</a:t>
            </a:r>
            <a:r>
              <a:rPr sz="1100" b="0">
                <a:solidFill>
                  <a:srgbClr val="272727"/>
                </a:solidFill>
                <a:latin typeface="Arial" panose="020B0604020202020204"/>
              </a:rPr>
              <a:t> 28 routes · 395 boarding points loaded</a:t>
            </a:r>
            <a:endParaRPr sz="1100" b="0">
              <a:solidFill>
                <a:srgbClr val="272727"/>
              </a:solidFill>
              <a:latin typeface="Arial" panose="020B0604020202020204"/>
            </a:endParaRPr>
          </a:p>
          <a:p>
            <a:pPr algn="l">
              <a:spcBef>
                <a:spcPts val="900"/>
              </a:spcBef>
            </a:pPr>
            <a:r>
              <a:rPr sz="1100" b="1">
                <a:solidFill>
                  <a:srgbClr val="C70F2D"/>
                </a:solidFill>
                <a:latin typeface="Arial" panose="020B0604020202020204"/>
              </a:rPr>
              <a:t>LATENCY:</a:t>
            </a:r>
            <a:r>
              <a:rPr sz="1100" b="0">
                <a:solidFill>
                  <a:srgbClr val="272727"/>
                </a:solidFill>
                <a:latin typeface="Arial" panose="020B0604020202020204"/>
              </a:rPr>
              <a:t> 19.5 ms median, driver to map</a:t>
            </a:r>
            <a:endParaRPr sz="1100" b="0">
              <a:solidFill>
                <a:srgbClr val="272727"/>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PHASE-2 REVIEW — RUBRIC COVERAGE</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600200"/>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01</a:t>
            </a:r>
          </a:p>
          <a:p>
            <a:pPr algn="l">
              <a:spcBef>
                <a:spcPts val="200"/>
              </a:spcBef>
              <a:buNone/>
            </a:pPr>
            <a:r>
              <a:rPr sz="1300" b="1">
                <a:solidFill>
                  <a:srgbClr val="0A1D3D"/>
                </a:solidFill>
                <a:latin typeface="Arial"/>
              </a:rPr>
              <a:t>Existing System</a:t>
            </a:r>
          </a:p>
          <a:p>
            <a:pPr algn="l">
              <a:spcBef>
                <a:spcPts val="400"/>
              </a:spcBef>
              <a:buNone/>
            </a:pPr>
            <a:r>
              <a:rPr sz="1050" b="0">
                <a:solidFill>
                  <a:srgbClr val="666666"/>
                </a:solidFill>
                <a:latin typeface="Arial"/>
              </a:rPr>
              <a:t>Slide 3</a:t>
            </a:r>
          </a:p>
        </p:txBody>
      </p:sp>
      <p:sp>
        <p:nvSpPr>
          <p:cNvPr id="30" name="Rounded Rectangle 29"/>
          <p:cNvSpPr/>
          <p:nvPr/>
        </p:nvSpPr>
        <p:spPr>
          <a:xfrm>
            <a:off x="3300984" y="1600200"/>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02</a:t>
            </a:r>
          </a:p>
          <a:p>
            <a:pPr algn="l">
              <a:spcBef>
                <a:spcPts val="200"/>
              </a:spcBef>
              <a:buNone/>
            </a:pPr>
            <a:r>
              <a:rPr sz="1300" b="1">
                <a:solidFill>
                  <a:srgbClr val="0A1D3D"/>
                </a:solidFill>
                <a:latin typeface="Arial"/>
              </a:rPr>
              <a:t>Existing System Limitations</a:t>
            </a:r>
          </a:p>
          <a:p>
            <a:pPr algn="l">
              <a:spcBef>
                <a:spcPts val="400"/>
              </a:spcBef>
              <a:buNone/>
            </a:pPr>
            <a:r>
              <a:rPr sz="1050" b="0">
                <a:solidFill>
                  <a:srgbClr val="666666"/>
                </a:solidFill>
                <a:latin typeface="Arial"/>
              </a:rPr>
              <a:t>Slide 4</a:t>
            </a:r>
          </a:p>
        </p:txBody>
      </p:sp>
      <p:sp>
        <p:nvSpPr>
          <p:cNvPr id="31" name="Rounded Rectangle 30"/>
          <p:cNvSpPr/>
          <p:nvPr/>
        </p:nvSpPr>
        <p:spPr>
          <a:xfrm>
            <a:off x="6190488" y="1600200"/>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03</a:t>
            </a:r>
          </a:p>
          <a:p>
            <a:pPr algn="l">
              <a:spcBef>
                <a:spcPts val="200"/>
              </a:spcBef>
              <a:buNone/>
            </a:pPr>
            <a:r>
              <a:rPr sz="1300" b="1">
                <a:solidFill>
                  <a:srgbClr val="0A1D3D"/>
                </a:solidFill>
                <a:latin typeface="Arial"/>
              </a:rPr>
              <a:t>Literature Survey</a:t>
            </a:r>
          </a:p>
          <a:p>
            <a:pPr algn="l">
              <a:spcBef>
                <a:spcPts val="400"/>
              </a:spcBef>
              <a:buNone/>
            </a:pPr>
            <a:r>
              <a:rPr sz="1050" b="0">
                <a:solidFill>
                  <a:srgbClr val="666666"/>
                </a:solidFill>
                <a:latin typeface="Arial"/>
              </a:rPr>
              <a:t>Slide 5 – 6</a:t>
            </a:r>
          </a:p>
        </p:txBody>
      </p:sp>
      <p:sp>
        <p:nvSpPr>
          <p:cNvPr id="32" name="Rounded Rectangle 31"/>
          <p:cNvSpPr/>
          <p:nvPr/>
        </p:nvSpPr>
        <p:spPr>
          <a:xfrm>
            <a:off x="9079992" y="1600200"/>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04</a:t>
            </a:r>
          </a:p>
          <a:p>
            <a:pPr algn="l">
              <a:spcBef>
                <a:spcPts val="200"/>
              </a:spcBef>
              <a:buNone/>
            </a:pPr>
            <a:r>
              <a:rPr sz="1300" b="1">
                <a:solidFill>
                  <a:srgbClr val="0A1D3D"/>
                </a:solidFill>
                <a:latin typeface="Arial"/>
              </a:rPr>
              <a:t>Literature Comparison</a:t>
            </a:r>
          </a:p>
          <a:p>
            <a:pPr algn="l">
              <a:spcBef>
                <a:spcPts val="400"/>
              </a:spcBef>
              <a:buNone/>
            </a:pPr>
            <a:r>
              <a:rPr sz="1050" b="0">
                <a:solidFill>
                  <a:srgbClr val="666666"/>
                </a:solidFill>
                <a:latin typeface="Arial"/>
              </a:rPr>
              <a:t>Slide 7 – 8</a:t>
            </a:r>
          </a:p>
        </p:txBody>
      </p:sp>
      <p:sp>
        <p:nvSpPr>
          <p:cNvPr id="33" name="Rounded Rectangle 32"/>
          <p:cNvSpPr/>
          <p:nvPr/>
        </p:nvSpPr>
        <p:spPr>
          <a:xfrm>
            <a:off x="411480" y="3081528"/>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05</a:t>
            </a:r>
          </a:p>
          <a:p>
            <a:pPr algn="l">
              <a:spcBef>
                <a:spcPts val="200"/>
              </a:spcBef>
              <a:buNone/>
            </a:pPr>
            <a:r>
              <a:rPr sz="1300" b="1">
                <a:solidFill>
                  <a:srgbClr val="0A1D3D"/>
                </a:solidFill>
                <a:latin typeface="Arial"/>
              </a:rPr>
              <a:t>Research / Project Gap</a:t>
            </a:r>
          </a:p>
          <a:p>
            <a:pPr algn="l">
              <a:spcBef>
                <a:spcPts val="400"/>
              </a:spcBef>
              <a:buNone/>
            </a:pPr>
            <a:r>
              <a:rPr sz="1050" b="0">
                <a:solidFill>
                  <a:srgbClr val="666666"/>
                </a:solidFill>
                <a:latin typeface="Arial"/>
              </a:rPr>
              <a:t>Slide 9</a:t>
            </a:r>
          </a:p>
        </p:txBody>
      </p:sp>
      <p:sp>
        <p:nvSpPr>
          <p:cNvPr id="34" name="Rounded Rectangle 33"/>
          <p:cNvSpPr/>
          <p:nvPr/>
        </p:nvSpPr>
        <p:spPr>
          <a:xfrm>
            <a:off x="3300984" y="3081528"/>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06</a:t>
            </a:r>
          </a:p>
          <a:p>
            <a:pPr algn="l">
              <a:spcBef>
                <a:spcPts val="200"/>
              </a:spcBef>
              <a:buNone/>
            </a:pPr>
            <a:r>
              <a:rPr sz="1300" b="1">
                <a:solidFill>
                  <a:srgbClr val="0A1D3D"/>
                </a:solidFill>
                <a:latin typeface="Arial"/>
              </a:rPr>
              <a:t>Proposed Solution</a:t>
            </a:r>
          </a:p>
          <a:p>
            <a:pPr algn="l">
              <a:spcBef>
                <a:spcPts val="400"/>
              </a:spcBef>
              <a:buNone/>
            </a:pPr>
            <a:r>
              <a:rPr sz="1050" b="0">
                <a:solidFill>
                  <a:srgbClr val="666666"/>
                </a:solidFill>
                <a:latin typeface="Arial"/>
              </a:rPr>
              <a:t>Slide 10</a:t>
            </a:r>
          </a:p>
        </p:txBody>
      </p:sp>
      <p:sp>
        <p:nvSpPr>
          <p:cNvPr id="35" name="Rounded Rectangle 34"/>
          <p:cNvSpPr/>
          <p:nvPr/>
        </p:nvSpPr>
        <p:spPr>
          <a:xfrm>
            <a:off x="6190488" y="3081528"/>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07</a:t>
            </a:r>
          </a:p>
          <a:p>
            <a:pPr algn="l">
              <a:spcBef>
                <a:spcPts val="200"/>
              </a:spcBef>
              <a:buNone/>
            </a:pPr>
            <a:r>
              <a:rPr sz="1300" b="1">
                <a:solidFill>
                  <a:srgbClr val="0A1D3D"/>
                </a:solidFill>
                <a:latin typeface="Arial"/>
              </a:rPr>
              <a:t>Project Objectives</a:t>
            </a:r>
          </a:p>
          <a:p>
            <a:pPr algn="l">
              <a:spcBef>
                <a:spcPts val="400"/>
              </a:spcBef>
              <a:buNone/>
            </a:pPr>
            <a:r>
              <a:rPr sz="1050" b="0">
                <a:solidFill>
                  <a:srgbClr val="666666"/>
                </a:solidFill>
                <a:latin typeface="Arial"/>
              </a:rPr>
              <a:t>Slide 11</a:t>
            </a:r>
          </a:p>
        </p:txBody>
      </p:sp>
      <p:sp>
        <p:nvSpPr>
          <p:cNvPr id="36" name="Rounded Rectangle 35"/>
          <p:cNvSpPr/>
          <p:nvPr/>
        </p:nvSpPr>
        <p:spPr>
          <a:xfrm>
            <a:off x="9079992" y="3081528"/>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08</a:t>
            </a:r>
          </a:p>
          <a:p>
            <a:pPr algn="l">
              <a:spcBef>
                <a:spcPts val="200"/>
              </a:spcBef>
              <a:buNone/>
            </a:pPr>
            <a:r>
              <a:rPr sz="1300" b="1">
                <a:solidFill>
                  <a:srgbClr val="0A1D3D"/>
                </a:solidFill>
                <a:latin typeface="Arial"/>
              </a:rPr>
              <a:t>Project Scope</a:t>
            </a:r>
          </a:p>
          <a:p>
            <a:pPr algn="l">
              <a:spcBef>
                <a:spcPts val="400"/>
              </a:spcBef>
              <a:buNone/>
            </a:pPr>
            <a:r>
              <a:rPr sz="1050" b="0">
                <a:solidFill>
                  <a:srgbClr val="666666"/>
                </a:solidFill>
                <a:latin typeface="Arial"/>
              </a:rPr>
              <a:t>Slide 12</a:t>
            </a:r>
          </a:p>
        </p:txBody>
      </p:sp>
      <p:sp>
        <p:nvSpPr>
          <p:cNvPr id="37" name="Rounded Rectangle 36"/>
          <p:cNvSpPr/>
          <p:nvPr/>
        </p:nvSpPr>
        <p:spPr>
          <a:xfrm>
            <a:off x="411480" y="4562856"/>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09</a:t>
            </a:r>
          </a:p>
          <a:p>
            <a:pPr algn="l">
              <a:spcBef>
                <a:spcPts val="200"/>
              </a:spcBef>
              <a:buNone/>
            </a:pPr>
            <a:r>
              <a:rPr sz="1300" b="1">
                <a:solidFill>
                  <a:srgbClr val="0A1D3D"/>
                </a:solidFill>
                <a:latin typeface="Arial"/>
              </a:rPr>
              <a:t>Technology Identification</a:t>
            </a:r>
          </a:p>
          <a:p>
            <a:pPr algn="l">
              <a:spcBef>
                <a:spcPts val="400"/>
              </a:spcBef>
              <a:buNone/>
            </a:pPr>
            <a:r>
              <a:rPr sz="1050" b="0">
                <a:solidFill>
                  <a:srgbClr val="666666"/>
                </a:solidFill>
                <a:latin typeface="Arial"/>
              </a:rPr>
              <a:t>Slide 13</a:t>
            </a:r>
          </a:p>
        </p:txBody>
      </p:sp>
      <p:sp>
        <p:nvSpPr>
          <p:cNvPr id="38" name="Rounded Rectangle 37"/>
          <p:cNvSpPr/>
          <p:nvPr/>
        </p:nvSpPr>
        <p:spPr>
          <a:xfrm>
            <a:off x="3300984" y="4562856"/>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10</a:t>
            </a:r>
          </a:p>
          <a:p>
            <a:pPr algn="l">
              <a:spcBef>
                <a:spcPts val="200"/>
              </a:spcBef>
              <a:buNone/>
            </a:pPr>
            <a:r>
              <a:rPr sz="1300" b="1">
                <a:solidFill>
                  <a:srgbClr val="0A1D3D"/>
                </a:solidFill>
                <a:latin typeface="Arial"/>
              </a:rPr>
              <a:t>Data / Dataset Identification</a:t>
            </a:r>
          </a:p>
          <a:p>
            <a:pPr algn="l">
              <a:spcBef>
                <a:spcPts val="400"/>
              </a:spcBef>
              <a:buNone/>
            </a:pPr>
            <a:r>
              <a:rPr sz="1050" b="0">
                <a:solidFill>
                  <a:srgbClr val="666666"/>
                </a:solidFill>
                <a:latin typeface="Arial"/>
              </a:rPr>
              <a:t>Slide 14</a:t>
            </a:r>
          </a:p>
        </p:txBody>
      </p:sp>
      <p:sp>
        <p:nvSpPr>
          <p:cNvPr id="39" name="Rounded Rectangle 38"/>
          <p:cNvSpPr/>
          <p:nvPr/>
        </p:nvSpPr>
        <p:spPr>
          <a:xfrm>
            <a:off x="6190488" y="4562856"/>
            <a:ext cx="2706624" cy="1298448"/>
          </a:xfrm>
          <a:prstGeom prst="roundRect">
            <a:avLst>
              <a:gd name="adj" fmla="val 4929"/>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11</a:t>
            </a:r>
          </a:p>
          <a:p>
            <a:pPr algn="l">
              <a:spcBef>
                <a:spcPts val="200"/>
              </a:spcBef>
              <a:buNone/>
            </a:pPr>
            <a:r>
              <a:rPr sz="1300" b="1">
                <a:solidFill>
                  <a:srgbClr val="0A1D3D"/>
                </a:solidFill>
                <a:latin typeface="Arial"/>
              </a:rPr>
              <a:t>System Design</a:t>
            </a:r>
          </a:p>
          <a:p>
            <a:pPr algn="l">
              <a:spcBef>
                <a:spcPts val="400"/>
              </a:spcBef>
              <a:buNone/>
            </a:pPr>
            <a:r>
              <a:rPr sz="1050" b="0">
                <a:solidFill>
                  <a:srgbClr val="666666"/>
                </a:solidFill>
                <a:latin typeface="Arial"/>
              </a:rPr>
              <a:t>Slide 15 – 18</a:t>
            </a:r>
          </a:p>
        </p:txBody>
      </p:sp>
      <p:sp>
        <p:nvSpPr>
          <p:cNvPr id="40" name="Rounded Rectangle 39"/>
          <p:cNvSpPr/>
          <p:nvPr/>
        </p:nvSpPr>
        <p:spPr>
          <a:xfrm>
            <a:off x="9079992" y="4562856"/>
            <a:ext cx="2706624" cy="1298448"/>
          </a:xfrm>
          <a:prstGeom prst="roundRect">
            <a:avLst>
              <a:gd name="adj" fmla="val 4929"/>
            </a:avLst>
          </a:prstGeom>
          <a:solidFill>
            <a:srgbClr val="FBEAEC"/>
          </a:solidFill>
          <a:ln w="1905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09728" rIns="109728" bIns="73152">
            <a:noAutofit/>
          </a:bodyPr>
          <a:lstStyle/>
          <a:p>
            <a:pPr algn="l">
              <a:buNone/>
            </a:pPr>
            <a:r>
              <a:rPr sz="2000" b="1">
                <a:solidFill>
                  <a:srgbClr val="C70F2D"/>
                </a:solidFill>
                <a:latin typeface="Arial"/>
              </a:rPr>
              <a:t>12</a:t>
            </a:r>
          </a:p>
          <a:p>
            <a:pPr algn="l">
              <a:spcBef>
                <a:spcPts val="200"/>
              </a:spcBef>
              <a:buNone/>
            </a:pPr>
            <a:r>
              <a:rPr sz="1300" b="1">
                <a:solidFill>
                  <a:srgbClr val="0A1D3D"/>
                </a:solidFill>
                <a:latin typeface="Arial"/>
              </a:rPr>
              <a:t>Initial Implementation — Module 1</a:t>
            </a:r>
          </a:p>
          <a:p>
            <a:pPr algn="l">
              <a:spcBef>
                <a:spcPts val="400"/>
              </a:spcBef>
              <a:buNone/>
            </a:pPr>
            <a:r>
              <a:rPr sz="1050" b="0">
                <a:solidFill>
                  <a:srgbClr val="666666"/>
                </a:solidFill>
                <a:latin typeface="Arial"/>
              </a:rPr>
              <a:t>Slide 19 – 22 + demo</a:t>
            </a:r>
          </a:p>
        </p:txBody>
      </p:sp>
      <p:sp>
        <p:nvSpPr>
          <p:cNvPr id="41" name="TextBox 40"/>
          <p:cNvSpPr txBox="1"/>
          <p:nvPr/>
        </p:nvSpPr>
        <p:spPr>
          <a:xfrm>
            <a:off x="530352" y="6053328"/>
            <a:ext cx="11155680" cy="228600"/>
          </a:xfrm>
          <a:prstGeom prst="rect">
            <a:avLst/>
          </a:prstGeom>
          <a:noFill/>
        </p:spPr>
        <p:txBody>
          <a:bodyPr wrap="square" lIns="0" tIns="0" rIns="0" bIns="0" anchor="t">
            <a:noAutofit/>
          </a:bodyPr>
          <a:lstStyle/>
          <a:p>
            <a:pPr algn="l">
              <a:buNone/>
            </a:pPr>
            <a:r>
              <a:rPr sz="1100" b="1">
                <a:solidFill>
                  <a:srgbClr val="C70F2D"/>
                </a:solidFill>
                <a:latin typeface="Arial"/>
              </a:rPr>
              <a:t>Highlighted item is mandatory: </a:t>
            </a:r>
            <a:r>
              <a:rPr sz="1100" b="0">
                <a:solidFill>
                  <a:srgbClr val="272727"/>
                </a:solidFill>
                <a:latin typeface="Arial"/>
              </a:rPr>
              <a:t>Module 1 is implemented, tested and demonstrated live.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EXISTING SYSTEMS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530352" y="1463040"/>
            <a:ext cx="11155680" cy="274320"/>
          </a:xfrm>
          <a:prstGeom prst="rect">
            <a:avLst/>
          </a:prstGeom>
          <a:noFill/>
        </p:spPr>
        <p:txBody>
          <a:bodyPr wrap="square" lIns="0" tIns="0" rIns="0" bIns="0" anchor="t">
            <a:noAutofit/>
          </a:bodyPr>
          <a:lstStyle/>
          <a:p>
            <a:pPr algn="l">
              <a:buNone/>
            </a:pPr>
            <a:r>
              <a:rPr sz="1400" b="1">
                <a:solidFill>
                  <a:srgbClr val="0A1D3D"/>
                </a:solidFill>
                <a:latin typeface="Arial"/>
              </a:rPr>
              <a:t>Four systems studied: what students use today, and three tracking products</a:t>
            </a:r>
          </a:p>
        </p:txBody>
      </p:sp>
      <p:sp>
        <p:nvSpPr>
          <p:cNvPr id="30" name="Rounded Rectangle 29"/>
          <p:cNvSpPr/>
          <p:nvPr/>
        </p:nvSpPr>
        <p:spPr>
          <a:xfrm>
            <a:off x="411480" y="1901952"/>
            <a:ext cx="2706624" cy="3429000"/>
          </a:xfrm>
          <a:prstGeom prst="roundRect">
            <a:avLst>
              <a:gd name="adj" fmla="val 236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64592" rIns="137160" bIns="91440">
            <a:noAutofit/>
          </a:bodyPr>
          <a:lstStyle/>
          <a:p>
            <a:pPr algn="l">
              <a:buNone/>
            </a:pPr>
            <a:r>
              <a:rPr sz="1500" b="1">
                <a:solidFill>
                  <a:srgbClr val="0A1D3D"/>
                </a:solidFill>
                <a:latin typeface="Arial"/>
              </a:rPr>
              <a:t>BSACIST Transport Circular</a:t>
            </a:r>
          </a:p>
          <a:p>
            <a:pPr algn="l">
              <a:spcBef>
                <a:spcPts val="400"/>
              </a:spcBef>
              <a:spcAft>
                <a:spcPts val="1000"/>
              </a:spcAft>
              <a:buNone/>
            </a:pPr>
            <a:r>
              <a:rPr sz="1000" b="1">
                <a:solidFill>
                  <a:srgbClr val="C70F2D"/>
                </a:solidFill>
                <a:latin typeface="Arial"/>
              </a:rPr>
              <a:t>IN USE AT BSACIST TODAY</a:t>
            </a:r>
          </a:p>
          <a:p>
            <a:pPr algn="l" marL="155448" indent="-137160">
              <a:spcAft>
                <a:spcPts val="900"/>
              </a:spcAft>
              <a:buClr>
                <a:srgbClr val="C70F2D"/>
              </a:buClr>
              <a:buFont typeface="Arial"/>
              <a:buChar char="•"/>
            </a:pPr>
            <a:r>
              <a:rPr sz="1250" b="0">
                <a:solidFill>
                  <a:srgbClr val="272727"/>
                </a:solidFill>
                <a:latin typeface="Arial"/>
              </a:rPr>
              <a:t>Route list for 2026-27: 28 routes, 395 boarding points</a:t>
            </a:r>
          </a:p>
          <a:p>
            <a:pPr algn="l" marL="155448" indent="-137160">
              <a:spcAft>
                <a:spcPts val="900"/>
              </a:spcAft>
              <a:buClr>
                <a:srgbClr val="C70F2D"/>
              </a:buClr>
              <a:buFont typeface="Arial"/>
              <a:buChar char="•"/>
            </a:pPr>
            <a:r>
              <a:rPr sz="1250" b="0">
                <a:solidFill>
                  <a:srgbClr val="272727"/>
                </a:solidFill>
                <a:latin typeface="Arial"/>
              </a:rPr>
              <a:t>One fixed pick-up time per stop</a:t>
            </a:r>
          </a:p>
          <a:p>
            <a:pPr algn="l" marL="155448" indent="-137160">
              <a:spcAft>
                <a:spcPts val="900"/>
              </a:spcAft>
              <a:buClr>
                <a:srgbClr val="C70F2D"/>
              </a:buClr>
              <a:buFont typeface="Arial"/>
              <a:buChar char="•"/>
            </a:pPr>
            <a:r>
              <a:rPr sz="1250" b="0">
                <a:solidFill>
                  <a:srgbClr val="272727"/>
                </a:solidFill>
                <a:latin typeface="Arial"/>
              </a:rPr>
              <a:t>Driver's mobile number printed for enquiries</a:t>
            </a:r>
          </a:p>
          <a:p>
            <a:pPr algn="l" marL="155448" indent="-137160">
              <a:spcAft>
                <a:spcPts val="900"/>
              </a:spcAft>
              <a:buClr>
                <a:srgbClr val="C70F2D"/>
              </a:buClr>
              <a:buFont typeface="Arial"/>
              <a:buChar char="•"/>
            </a:pPr>
            <a:r>
              <a:rPr sz="1250" b="0">
                <a:solidFill>
                  <a:srgbClr val="272727"/>
                </a:solidFill>
                <a:latin typeface="Arial"/>
              </a:rPr>
              <a:t>Single evening departure at 4.30 PM</a:t>
            </a:r>
          </a:p>
        </p:txBody>
      </p:sp>
      <p:sp>
        <p:nvSpPr>
          <p:cNvPr id="31" name="Rounded Rectangle 30"/>
          <p:cNvSpPr/>
          <p:nvPr/>
        </p:nvSpPr>
        <p:spPr>
          <a:xfrm>
            <a:off x="3300984" y="1901952"/>
            <a:ext cx="2706624" cy="3429000"/>
          </a:xfrm>
          <a:prstGeom prst="roundRect">
            <a:avLst>
              <a:gd name="adj" fmla="val 236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64592" rIns="137160" bIns="91440">
            <a:noAutofit/>
          </a:bodyPr>
          <a:lstStyle/>
          <a:p>
            <a:pPr algn="l">
              <a:buNone/>
            </a:pPr>
            <a:r>
              <a:rPr sz="1500" b="1">
                <a:solidFill>
                  <a:srgbClr val="0A1D3D"/>
                </a:solidFill>
                <a:latin typeface="Arial"/>
              </a:rPr>
              <a:t>MTC “Chennai Bus” App</a:t>
            </a:r>
          </a:p>
          <a:p>
            <a:pPr algn="l">
              <a:spcBef>
                <a:spcPts val="400"/>
              </a:spcBef>
              <a:spcAft>
                <a:spcPts val="1000"/>
              </a:spcAft>
              <a:buNone/>
            </a:pPr>
            <a:r>
              <a:rPr sz="1000" b="1">
                <a:solidFill>
                  <a:srgbClr val="C70F2D"/>
                </a:solidFill>
                <a:latin typeface="Arial"/>
              </a:rPr>
              <a:t>CITY TRANSIT · CHENNAI · 2022</a:t>
            </a:r>
          </a:p>
          <a:p>
            <a:pPr algn="l" marL="155448" indent="-137160">
              <a:spcAft>
                <a:spcPts val="900"/>
              </a:spcAft>
              <a:buClr>
                <a:srgbClr val="C70F2D"/>
              </a:buClr>
              <a:buFont typeface="Arial"/>
              <a:buChar char="•"/>
            </a:pPr>
            <a:r>
              <a:rPr sz="1250" b="0">
                <a:solidFill>
                  <a:srgbClr val="272727"/>
                </a:solidFill>
                <a:latin typeface="Arial"/>
              </a:rPr>
              <a:t>Launched by Tamil Nadu Transport Dept. for MTC buses</a:t>
            </a:r>
          </a:p>
          <a:p>
            <a:pPr algn="l" marL="155448" indent="-137160">
              <a:spcAft>
                <a:spcPts val="900"/>
              </a:spcAft>
              <a:buClr>
                <a:srgbClr val="C70F2D"/>
              </a:buClr>
              <a:buFont typeface="Arial"/>
              <a:buChar char="•"/>
            </a:pPr>
            <a:r>
              <a:rPr sz="1250" b="0">
                <a:solidFill>
                  <a:srgbClr val="272727"/>
                </a:solidFill>
                <a:latin typeface="Arial"/>
              </a:rPr>
              <a:t>GPS on MTC buses gives live location and ETA</a:t>
            </a:r>
          </a:p>
          <a:p>
            <a:pPr algn="l" marL="155448" indent="-137160">
              <a:spcAft>
                <a:spcPts val="900"/>
              </a:spcAft>
              <a:buClr>
                <a:srgbClr val="C70F2D"/>
              </a:buClr>
              <a:buFont typeface="Arial"/>
              <a:buChar char="•"/>
            </a:pPr>
            <a:r>
              <a:rPr sz="1250" b="0">
                <a:solidFill>
                  <a:srgbClr val="272727"/>
                </a:solidFill>
                <a:latin typeface="Arial"/>
              </a:rPr>
              <a:t>Nearby stops, trip planner, favourites</a:t>
            </a:r>
          </a:p>
          <a:p>
            <a:pPr algn="l" marL="155448" indent="-137160">
              <a:spcAft>
                <a:spcPts val="900"/>
              </a:spcAft>
              <a:buClr>
                <a:srgbClr val="C70F2D"/>
              </a:buClr>
              <a:buFont typeface="Arial"/>
              <a:buChar char="•"/>
            </a:pPr>
            <a:r>
              <a:rPr sz="1250" b="0">
                <a:solidFill>
                  <a:srgbClr val="272727"/>
                </a:solidFill>
                <a:latin typeface="Arial"/>
              </a:rPr>
              <a:t>SOS button to the MTC control centre</a:t>
            </a:r>
          </a:p>
        </p:txBody>
      </p:sp>
      <p:sp>
        <p:nvSpPr>
          <p:cNvPr id="32" name="Rounded Rectangle 31"/>
          <p:cNvSpPr/>
          <p:nvPr/>
        </p:nvSpPr>
        <p:spPr>
          <a:xfrm>
            <a:off x="6190488" y="1901952"/>
            <a:ext cx="2706624" cy="3429000"/>
          </a:xfrm>
          <a:prstGeom prst="roundRect">
            <a:avLst>
              <a:gd name="adj" fmla="val 236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64592" rIns="137160" bIns="91440">
            <a:noAutofit/>
          </a:bodyPr>
          <a:lstStyle/>
          <a:p>
            <a:pPr algn="l">
              <a:buNone/>
            </a:pPr>
            <a:r>
              <a:rPr sz="1500" b="1">
                <a:solidFill>
                  <a:srgbClr val="0A1D3D"/>
                </a:solidFill>
                <a:latin typeface="Arial"/>
              </a:rPr>
              <a:t>Chalo</a:t>
            </a:r>
          </a:p>
          <a:p>
            <a:pPr algn="l">
              <a:spcBef>
                <a:spcPts val="400"/>
              </a:spcBef>
              <a:spcAft>
                <a:spcPts val="1000"/>
              </a:spcAft>
              <a:buNone/>
            </a:pPr>
            <a:r>
              <a:rPr sz="1000" b="1">
                <a:solidFill>
                  <a:srgbClr val="C70F2D"/>
                </a:solidFill>
                <a:latin typeface="Arial"/>
              </a:rPr>
              <a:t>COMMERCIAL · 20+ INDIAN CITIES</a:t>
            </a:r>
          </a:p>
          <a:p>
            <a:pPr algn="l" marL="155448" indent="-137160">
              <a:spcAft>
                <a:spcPts val="900"/>
              </a:spcAft>
              <a:buClr>
                <a:srgbClr val="C70F2D"/>
              </a:buClr>
              <a:buFont typeface="Arial"/>
              <a:buChar char="•"/>
            </a:pPr>
            <a:r>
              <a:rPr sz="1250" b="0">
                <a:solidFill>
                  <a:srgbClr val="272727"/>
                </a:solidFill>
                <a:latin typeface="Arial"/>
              </a:rPr>
              <a:t>GPS devices installed in operators' city buses</a:t>
            </a:r>
          </a:p>
          <a:p>
            <a:pPr algn="l" marL="155448" indent="-137160">
              <a:spcAft>
                <a:spcPts val="900"/>
              </a:spcAft>
              <a:buClr>
                <a:srgbClr val="C70F2D"/>
              </a:buClr>
              <a:buFont typeface="Arial"/>
              <a:buChar char="•"/>
            </a:pPr>
            <a:r>
              <a:rPr sz="1250" b="0">
                <a:solidFill>
                  <a:srgbClr val="272727"/>
                </a:solidFill>
                <a:latin typeface="Arial"/>
              </a:rPr>
              <a:t>Live bus location and live arrival time</a:t>
            </a:r>
          </a:p>
          <a:p>
            <a:pPr algn="l" marL="155448" indent="-137160">
              <a:spcAft>
                <a:spcPts val="900"/>
              </a:spcAft>
              <a:buClr>
                <a:srgbClr val="C70F2D"/>
              </a:buClr>
              <a:buFont typeface="Arial"/>
              <a:buChar char="•"/>
            </a:pPr>
            <a:r>
              <a:rPr sz="1250" b="0">
                <a:solidFill>
                  <a:srgbClr val="272727"/>
                </a:solidFill>
                <a:latin typeface="Arial"/>
              </a:rPr>
              <a:t>Crowd indicator, mobile tickets and passes</a:t>
            </a:r>
          </a:p>
          <a:p>
            <a:pPr algn="l" marL="155448" indent="-137160">
              <a:spcAft>
                <a:spcPts val="900"/>
              </a:spcAft>
              <a:buClr>
                <a:srgbClr val="C70F2D"/>
              </a:buClr>
              <a:buFont typeface="Arial"/>
              <a:buChar char="•"/>
            </a:pPr>
            <a:r>
              <a:rPr sz="1250" b="0">
                <a:solidFill>
                  <a:srgbClr val="272727"/>
                </a:solidFill>
                <a:latin typeface="Arial"/>
              </a:rPr>
              <a:t>Available only where the operator has partnered</a:t>
            </a:r>
          </a:p>
        </p:txBody>
      </p:sp>
      <p:sp>
        <p:nvSpPr>
          <p:cNvPr id="33" name="Rounded Rectangle 32"/>
          <p:cNvSpPr/>
          <p:nvPr/>
        </p:nvSpPr>
        <p:spPr>
          <a:xfrm>
            <a:off x="9079992" y="1901952"/>
            <a:ext cx="2706624" cy="3429000"/>
          </a:xfrm>
          <a:prstGeom prst="roundRect">
            <a:avLst>
              <a:gd name="adj" fmla="val 236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64592" rIns="137160" bIns="91440">
            <a:noAutofit/>
          </a:bodyPr>
          <a:lstStyle/>
          <a:p>
            <a:pPr algn="l">
              <a:buNone/>
            </a:pPr>
            <a:r>
              <a:rPr sz="1500" b="1">
                <a:solidFill>
                  <a:srgbClr val="0A1D3D"/>
                </a:solidFill>
                <a:latin typeface="Arial"/>
              </a:rPr>
              <a:t>TransLoc</a:t>
            </a:r>
          </a:p>
          <a:p>
            <a:pPr algn="l">
              <a:spcBef>
                <a:spcPts val="400"/>
              </a:spcBef>
              <a:spcAft>
                <a:spcPts val="1000"/>
              </a:spcAft>
              <a:buNone/>
            </a:pPr>
            <a:r>
              <a:rPr sz="1000" b="1">
                <a:solidFill>
                  <a:srgbClr val="C70F2D"/>
                </a:solidFill>
                <a:latin typeface="Arial"/>
              </a:rPr>
              <a:t>CAMPUS SHUTTLES · USA</a:t>
            </a:r>
          </a:p>
          <a:p>
            <a:pPr algn="l" marL="155448" indent="-137160">
              <a:spcAft>
                <a:spcPts val="900"/>
              </a:spcAft>
              <a:buClr>
                <a:srgbClr val="C70F2D"/>
              </a:buClr>
              <a:buFont typeface="Arial"/>
              <a:buChar char="•"/>
            </a:pPr>
            <a:r>
              <a:rPr sz="1250" b="0">
                <a:solidFill>
                  <a:srgbClr val="272727"/>
                </a:solidFill>
                <a:latin typeface="Arial"/>
              </a:rPr>
              <a:t>Platform sold to universities and transit agencies</a:t>
            </a:r>
          </a:p>
          <a:p>
            <a:pPr algn="l" marL="155448" indent="-137160">
              <a:spcAft>
                <a:spcPts val="900"/>
              </a:spcAft>
              <a:buClr>
                <a:srgbClr val="C70F2D"/>
              </a:buClr>
              <a:buFont typeface="Arial"/>
              <a:buChar char="•"/>
            </a:pPr>
            <a:r>
              <a:rPr sz="1250" b="0">
                <a:solidFill>
                  <a:srgbClr val="272727"/>
                </a:solidFill>
                <a:latin typeface="Arial"/>
              </a:rPr>
              <a:t>Real-time shuttle tracking with arrival estimates</a:t>
            </a:r>
          </a:p>
          <a:p>
            <a:pPr algn="l" marL="155448" indent="-137160">
              <a:spcAft>
                <a:spcPts val="900"/>
              </a:spcAft>
              <a:buClr>
                <a:srgbClr val="C70F2D"/>
              </a:buClr>
              <a:buFont typeface="Arial"/>
              <a:buChar char="•"/>
            </a:pPr>
            <a:r>
              <a:rPr sz="1250" b="0">
                <a:solidFill>
                  <a:srgbClr val="272727"/>
                </a:solidFill>
                <a:latin typeface="Arial"/>
              </a:rPr>
              <a:t>Rider app, SMS arrival times, lobby display screens</a:t>
            </a:r>
          </a:p>
          <a:p>
            <a:pPr algn="l" marL="155448" indent="-137160">
              <a:spcAft>
                <a:spcPts val="900"/>
              </a:spcAft>
              <a:buClr>
                <a:srgbClr val="C70F2D"/>
              </a:buClr>
              <a:buFont typeface="Arial"/>
              <a:buChar char="•"/>
            </a:pPr>
            <a:r>
              <a:rPr sz="1250" b="0">
                <a:solidFill>
                  <a:srgbClr val="272727"/>
                </a:solidFill>
                <a:latin typeface="Arial"/>
              </a:rPr>
              <a:t>Also offers on-demand “Safe Ride” booking</a:t>
            </a:r>
          </a:p>
        </p:txBody>
      </p:sp>
      <p:sp>
        <p:nvSpPr>
          <p:cNvPr id="34" name="Rounded Rectangle 33"/>
          <p:cNvSpPr/>
          <p:nvPr/>
        </p:nvSpPr>
        <p:spPr>
          <a:xfrm>
            <a:off x="411480" y="5486400"/>
            <a:ext cx="11365992" cy="548640"/>
          </a:xfrm>
          <a:prstGeom prst="roundRect">
            <a:avLst>
              <a:gd name="adj" fmla="val 11666"/>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200" b="1">
                <a:solidFill>
                  <a:srgbClr val="C70F2D"/>
                </a:solidFill>
                <a:latin typeface="Arial"/>
              </a:rPr>
              <a:t>Common pattern: </a:t>
            </a:r>
            <a:r>
              <a:rPr sz="1200" b="1">
                <a:solidFill>
                  <a:srgbClr val="0A1D3D"/>
                </a:solidFill>
                <a:latin typeface="Arial"/>
              </a:rPr>
              <a:t>a GPS source on the bus, a server, and a map or ETA for riders — none of them covers the BSACIST fleet.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LIMITATIONS OF EXISTING SYSTEMS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72768"/>
          <a:ext cx="11365992" cy="4041648"/>
        </p:xfrm>
        <a:graphic>
          <a:graphicData uri="http://schemas.openxmlformats.org/drawingml/2006/table">
            <a:tbl>
              <a:tblPr firstRow="0" bandRow="0">
                <a:tableStyleId>{5C22544A-7EE6-4342-B048-85BDC9FD1C3A}</a:tableStyleId>
              </a:tblPr>
              <a:tblGrid>
                <a:gridCol w="2103120"/>
                <a:gridCol w="2788920"/>
                <a:gridCol w="1783080"/>
                <a:gridCol w="4690872"/>
              </a:tblGrid>
              <a:tr h="384048">
                <a:tc>
                  <a:txBody>
                    <a:bodyPr wrap="square" lIns="73152" tIns="36576" rIns="73152" bIns="36576" anchor="t">
                      <a:noAutofit/>
                    </a:bodyPr>
                    <a:lstStyle/>
                    <a:p>
                      <a:pPr algn="l">
                        <a:buNone/>
                      </a:pPr>
                      <a:r>
                        <a:rPr sz="1100" b="1">
                          <a:solidFill>
                            <a:srgbClr val="FFFFFF"/>
                          </a:solidFill>
                          <a:latin typeface="Arial"/>
                        </a:rPr>
                        <a:t>System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Limitation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Type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Why it is technically valid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731520">
                <a:tc>
                  <a:txBody>
                    <a:bodyPr wrap="square" lIns="73152" tIns="36576" rIns="73152" bIns="36576" anchor="t">
                      <a:noAutofit/>
                    </a:bodyPr>
                    <a:lstStyle/>
                    <a:p>
                      <a:pPr algn="l">
                        <a:buNone/>
                      </a:pPr>
                      <a:r>
                        <a:rPr sz="1100" b="1">
                          <a:solidFill>
                            <a:srgbClr val="0A1D3D"/>
                          </a:solidFill>
                          <a:latin typeface="Arial"/>
                        </a:rPr>
                        <a:t>BSACIST circular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No live position; times are fixed whatever the traffic</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C70F2D"/>
                          </a:solidFill>
                          <a:latin typeface="Arial"/>
                        </a:rPr>
                        <a:t>Manual · Accuracy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Students phone a driver who is driving — unsafe, and one driver cannot answer 40–55 riders. A delay is invisible until the bus arrives.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31520">
                <a:tc>
                  <a:txBody>
                    <a:bodyPr wrap="square" lIns="73152" tIns="36576" rIns="73152" bIns="36576" anchor="t">
                      <a:noAutofit/>
                    </a:bodyPr>
                    <a:lstStyle/>
                    <a:p>
                      <a:pPr algn="l">
                        <a:buNone/>
                      </a:pPr>
                      <a:r>
                        <a:rPr sz="1100" b="1">
                          <a:solidFill>
                            <a:srgbClr val="0A1D3D"/>
                          </a:solidFill>
                          <a:latin typeface="Arial"/>
                        </a:rPr>
                        <a:t>MTC Chennai Bus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Tracks only MTC's own city fleet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C70F2D"/>
                          </a:solidFill>
                          <a:latin typeface="Arial"/>
                        </a:rPr>
                        <a:t>Coverage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University buses are privately operated, so they are not in MTC's GPS feed; the app has no university stops or timetable.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31520">
                <a:tc>
                  <a:txBody>
                    <a:bodyPr wrap="square" lIns="73152" tIns="36576" rIns="73152" bIns="36576" anchor="t">
                      <a:noAutofit/>
                    </a:bodyPr>
                    <a:lstStyle/>
                    <a:p>
                      <a:pPr algn="l">
                        <a:buNone/>
                      </a:pPr>
                      <a:r>
                        <a:rPr sz="1100" b="1">
                          <a:solidFill>
                            <a:srgbClr val="0A1D3D"/>
                          </a:solidFill>
                          <a:latin typeface="Arial"/>
                        </a:rPr>
                        <a:t>Chalo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Needs an operator partnership and installed GPS devices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C70F2D"/>
                          </a:solidFill>
                          <a:latin typeface="Arial"/>
                        </a:rPr>
                        <a:t>Cost · Access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Built for city bus operators; a 28-bus private fleet cannot add its own buses, and the ETA method is proprietary.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31520">
                <a:tc>
                  <a:txBody>
                    <a:bodyPr wrap="square" lIns="73152" tIns="36576" rIns="73152" bIns="36576" anchor="t">
                      <a:noAutofit/>
                    </a:bodyPr>
                    <a:lstStyle/>
                    <a:p>
                      <a:pPr algn="l">
                        <a:buNone/>
                      </a:pPr>
                      <a:r>
                        <a:rPr sz="1100" b="1">
                          <a:solidFill>
                            <a:srgbClr val="0A1D3D"/>
                          </a:solidFill>
                          <a:latin typeface="Arial"/>
                        </a:rPr>
                        <a:t>TransLoc</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Paid platform designed for US campuses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C70F2D"/>
                          </a:solidFill>
                          <a:latin typeface="Arial"/>
                        </a:rPr>
                        <a:t>Cost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Institutional licensing; data stays with the vendor; no stops, language or timetable for an Indian campus.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31520">
                <a:tc>
                  <a:txBody>
                    <a:bodyPr wrap="square" lIns="73152" tIns="36576" rIns="73152" bIns="36576" anchor="t">
                      <a:noAutofit/>
                    </a:bodyPr>
                    <a:lstStyle/>
                    <a:p>
                      <a:pPr algn="l">
                        <a:buNone/>
                      </a:pPr>
                      <a:r>
                        <a:rPr sz="1100" b="1">
                          <a:solidFill>
                            <a:srgbClr val="0A1D3D"/>
                          </a:solidFill>
                          <a:latin typeface="Arial"/>
                        </a:rPr>
                        <a:t>Research prototypes (IoT / Firebase)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Hardware in every bus; clients write straight to the database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C70F2D"/>
                          </a:solidFill>
                          <a:latin typeface="Arial"/>
                        </a:rPr>
                        <a:t>Accuracy · Features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No server-side check of GPS fixes, so a stale or wrong point is drawn as current; no stored history to measure ETA.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
        <p:nvSpPr>
          <p:cNvPr id="30" name="TextBox 29"/>
          <p:cNvSpPr txBox="1"/>
          <p:nvPr/>
        </p:nvSpPr>
        <p:spPr>
          <a:xfrm>
            <a:off x="530352" y="5760720"/>
            <a:ext cx="11155680" cy="365760"/>
          </a:xfrm>
          <a:prstGeom prst="rect">
            <a:avLst/>
          </a:prstGeom>
          <a:noFill/>
        </p:spPr>
        <p:txBody>
          <a:bodyPr wrap="square" lIns="0" tIns="0" rIns="0" bIns="0" anchor="t">
            <a:noAutofit/>
          </a:bodyPr>
          <a:lstStyle/>
          <a:p>
            <a:pPr algn="l">
              <a:buNone/>
            </a:pPr>
            <a:r>
              <a:rPr sz="1150" b="1">
                <a:solidFill>
                  <a:srgbClr val="0A1D3D"/>
                </a:solidFill>
                <a:latin typeface="Arial"/>
              </a:rPr>
              <a:t>Categories used by the rubric: </a:t>
            </a:r>
            <a:r>
              <a:rPr sz="1150" b="0">
                <a:solidFill>
                  <a:srgbClr val="272727"/>
                </a:solidFill>
                <a:latin typeface="Arial"/>
              </a:rPr>
              <a:t>cost, accuracy, manual work, coverage and missing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LITERATURE SURVEY</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530352" y="1463040"/>
            <a:ext cx="11155680" cy="274320"/>
          </a:xfrm>
          <a:prstGeom prst="rect">
            <a:avLst/>
          </a:prstGeom>
          <a:noFill/>
        </p:spPr>
        <p:txBody>
          <a:bodyPr wrap="square" lIns="0" tIns="0" rIns="0" bIns="0" anchor="t">
            <a:noAutofit/>
          </a:bodyPr>
          <a:lstStyle/>
          <a:p>
            <a:pPr algn="l">
              <a:buNone/>
            </a:pPr>
            <a:r>
              <a:rPr sz="1400" b="1">
                <a:solidFill>
                  <a:srgbClr val="0A1D3D"/>
                </a:solidFill>
                <a:latin typeface="Arial"/>
              </a:rPr>
              <a:t>Part A — Tracking systems  ·  10 papers studied: abstract, methodology and results</a:t>
            </a:r>
          </a:p>
        </p:txBody>
      </p:sp>
      <p:graphicFrame>
        <p:nvGraphicFramePr>
          <p:cNvPr id="30" name="Table 29"/>
          <p:cNvGraphicFramePr>
            <a:graphicFrameLocks noGrp="1"/>
          </p:cNvGraphicFramePr>
          <p:nvPr/>
        </p:nvGraphicFramePr>
        <p:xfrm>
          <a:off x="411480" y="1828800"/>
          <a:ext cx="11365992" cy="4407408"/>
        </p:xfrm>
        <a:graphic>
          <a:graphicData uri="http://schemas.openxmlformats.org/drawingml/2006/table">
            <a:tbl>
              <a:tblPr firstRow="0" bandRow="0">
                <a:tableStyleId>{5C22544A-7EE6-4342-B048-85BDC9FD1C3A}</a:tableStyleId>
              </a:tblPr>
              <a:tblGrid>
                <a:gridCol w="411480"/>
                <a:gridCol w="3794760"/>
                <a:gridCol w="2788920"/>
                <a:gridCol w="1737360"/>
                <a:gridCol w="2633472"/>
              </a:tblGrid>
              <a:tr h="384048">
                <a:tc>
                  <a:txBody>
                    <a:bodyPr wrap="square" lIns="73152" tIns="36576" rIns="73152" bIns="36576" anchor="t">
                      <a:noAutofit/>
                    </a:bodyPr>
                    <a:lstStyle/>
                    <a:p>
                      <a:pPr algn="l">
                        <a:buNone/>
                      </a:pPr>
                      <a:r>
                        <a:rPr sz="1100" b="1">
                          <a:solidFill>
                            <a:srgbClr val="FFFFFF"/>
                          </a:solidFill>
                          <a:latin typeface="Arial"/>
                        </a:rPr>
                        <a: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Paper title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Authors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Year · Venue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Relevance to this project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804672">
                <a:tc>
                  <a:txBody>
                    <a:bodyPr wrap="square" lIns="73152" tIns="36576" rIns="73152" bIns="36576" anchor="t">
                      <a:noAutofit/>
                    </a:bodyPr>
                    <a:lstStyle/>
                    <a:p>
                      <a:pPr algn="l">
                        <a:buNone/>
                      </a:pPr>
                      <a:r>
                        <a:rPr sz="1100" b="1">
                          <a:solidFill>
                            <a:srgbClr val="C70F2D"/>
                          </a:solidFill>
                          <a:latin typeface="Arial"/>
                        </a:rPr>
                        <a:t>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Where Is My Bus? Impact of mobile real-time information on the perceived and actual wait time of transit riders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K. E. Watkins, B. Ferris, A. Borning, G. S. Rutherford, D. Layton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2011 · Transportation Research Part 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Foundational evidence that real-time information cuts actual waiting time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804672">
                <a:tc>
                  <a:txBody>
                    <a:bodyPr wrap="square" lIns="73152" tIns="36576" rIns="73152" bIns="36576" anchor="t">
                      <a:noAutofit/>
                    </a:bodyPr>
                    <a:lstStyle/>
                    <a:p>
                      <a:pPr algn="l">
                        <a:buNone/>
                      </a:pPr>
                      <a:r>
                        <a:rPr sz="1100" b="1">
                          <a:solidFill>
                            <a:srgbClr val="C70F2D"/>
                          </a:solidFill>
                          <a:latin typeface="Arial"/>
                        </a:rPr>
                        <a:t>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0A1D3D"/>
                          </a:solidFill>
                          <a:latin typeface="Arial"/>
                        </a:rPr>
                        <a:t>College Bus Tracking and Notification System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K. Premkumar, K. Pavithra, J. Presiela, D. Priyadarshini, P. Priyanga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2020 · IEEE ICSCAN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Same user group: college buses, Android app, Google Maps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804672">
                <a:tc>
                  <a:txBody>
                    <a:bodyPr wrap="square" lIns="73152" tIns="36576" rIns="73152" bIns="36576" anchor="t">
                      <a:noAutofit/>
                    </a:bodyPr>
                    <a:lstStyle/>
                    <a:p>
                      <a:pPr algn="l">
                        <a:buNone/>
                      </a:pPr>
                      <a:r>
                        <a:rPr sz="1100" b="1">
                          <a:solidFill>
                            <a:srgbClr val="C70F2D"/>
                          </a:solidFill>
                          <a:latin typeface="Arial"/>
                        </a:rPr>
                        <a:t>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IoT Bus Tracking System Localization via GPS-RFID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M. Kassim, A. S. Salleh, S. Shahbudin, M. Yusoff, N. A. Kamaluddin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2022 · IEEE ICPEA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Hardware tracker; checks route deviation and unwanted stops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804672">
                <a:tc>
                  <a:txBody>
                    <a:bodyPr wrap="square" lIns="73152" tIns="36576" rIns="73152" bIns="36576" anchor="t">
                      <a:noAutofit/>
                    </a:bodyPr>
                    <a:lstStyle/>
                    <a:p>
                      <a:pPr algn="l">
                        <a:buNone/>
                      </a:pPr>
                      <a:r>
                        <a:rPr sz="1100" b="1">
                          <a:solidFill>
                            <a:srgbClr val="C70F2D"/>
                          </a:solidFill>
                          <a:latin typeface="Arial"/>
                        </a:rPr>
                        <a:t>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0A1D3D"/>
                          </a:solidFill>
                          <a:latin typeface="Arial"/>
                        </a:rPr>
                        <a:t>FIEE Smart Campus IoT Real-Time Bus Tracking System and Web App Using LoRaWAN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M. Arevalo Villanueva, A. Aspilcueta Narvaez, G. A. Arias Obregon, S. L. Cabrera Ronceros, F. Bendezu Isidro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2022 · IEEE ISC2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University bus on a web map — alternative radio link to GPRS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804672">
                <a:tc>
                  <a:txBody>
                    <a:bodyPr wrap="square" lIns="73152" tIns="36576" rIns="73152" bIns="36576" anchor="t">
                      <a:noAutofit/>
                    </a:bodyPr>
                    <a:lstStyle/>
                    <a:p>
                      <a:pPr algn="l">
                        <a:buNone/>
                      </a:pPr>
                      <a:r>
                        <a:rPr sz="1100" b="1">
                          <a:solidFill>
                            <a:srgbClr val="C70F2D"/>
                          </a:solidFill>
                          <a:latin typeface="Arial"/>
                        </a:rPr>
                        <a:t>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Smart Campus Bus Tracking Alert System Using Real-Time GPS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M. Sobhana, T. Revanth Chowdary, M. G. S. S. Venkatesh, K. Sri Devendra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2023 · IEEE ICACCS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Stop-crossed alerts → basis for our notification module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LITERATURE SURVEY</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530352" y="1463040"/>
            <a:ext cx="11155680" cy="274320"/>
          </a:xfrm>
          <a:prstGeom prst="rect">
            <a:avLst/>
          </a:prstGeom>
          <a:noFill/>
        </p:spPr>
        <p:txBody>
          <a:bodyPr wrap="square" lIns="0" tIns="0" rIns="0" bIns="0" anchor="t">
            <a:noAutofit/>
          </a:bodyPr>
          <a:lstStyle/>
          <a:p>
            <a:pPr algn="l">
              <a:buNone/>
            </a:pPr>
            <a:r>
              <a:rPr sz="1400" b="1">
                <a:solidFill>
                  <a:srgbClr val="0A1D3D"/>
                </a:solidFill>
                <a:latin typeface="Arial"/>
              </a:rPr>
              <a:t>Part B — Arrival-time prediction  ·  10 papers studied: abstract, methodology and results</a:t>
            </a:r>
          </a:p>
        </p:txBody>
      </p:sp>
      <p:graphicFrame>
        <p:nvGraphicFramePr>
          <p:cNvPr id="30" name="Table 29"/>
          <p:cNvGraphicFramePr>
            <a:graphicFrameLocks noGrp="1"/>
          </p:cNvGraphicFramePr>
          <p:nvPr/>
        </p:nvGraphicFramePr>
        <p:xfrm>
          <a:off x="411480" y="1828800"/>
          <a:ext cx="11365992" cy="4407408"/>
        </p:xfrm>
        <a:graphic>
          <a:graphicData uri="http://schemas.openxmlformats.org/drawingml/2006/table">
            <a:tbl>
              <a:tblPr firstRow="0" bandRow="0">
                <a:tableStyleId>{5C22544A-7EE6-4342-B048-85BDC9FD1C3A}</a:tableStyleId>
              </a:tblPr>
              <a:tblGrid>
                <a:gridCol w="411480"/>
                <a:gridCol w="3794760"/>
                <a:gridCol w="2788920"/>
                <a:gridCol w="1737360"/>
                <a:gridCol w="2633472"/>
              </a:tblGrid>
              <a:tr h="384048">
                <a:tc>
                  <a:txBody>
                    <a:bodyPr wrap="square" lIns="73152" tIns="36576" rIns="73152" bIns="36576" anchor="t">
                      <a:noAutofit/>
                    </a:bodyPr>
                    <a:lstStyle/>
                    <a:p>
                      <a:pPr algn="l">
                        <a:buNone/>
                      </a:pPr>
                      <a:r>
                        <a:rPr sz="1100" b="1">
                          <a:solidFill>
                            <a:srgbClr val="FFFFFF"/>
                          </a:solidFill>
                          <a:latin typeface="Arial"/>
                        </a:rPr>
                        <a: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Paper title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Authors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Year · Venue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Relevance to this project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804672">
                <a:tc>
                  <a:txBody>
                    <a:bodyPr wrap="square" lIns="73152" tIns="36576" rIns="73152" bIns="36576" anchor="t">
                      <a:noAutofit/>
                    </a:bodyPr>
                    <a:lstStyle/>
                    <a:p>
                      <a:pPr algn="l">
                        <a:buNone/>
                      </a:pPr>
                      <a:r>
                        <a:rPr sz="1100" b="1">
                          <a:solidFill>
                            <a:srgbClr val="C70F2D"/>
                          </a:solidFill>
                          <a:latin typeface="Arial"/>
                        </a:rPr>
                        <a:t>6</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GPS-based Arrival Time Prediction for Bus Schedules: Enhancing Commuter Experience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N. Shanthi, R. C. Suganthe, V. Manimaran, P. Manoj Kumar, A. Kavin Bharathi, E. Mythili</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2023 · IEEE ICoAC</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LSTM ETA using distance, dwell time, traffic density and junctions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804672">
                <a:tc>
                  <a:txBody>
                    <a:bodyPr wrap="square" lIns="73152" tIns="36576" rIns="73152" bIns="36576" anchor="t">
                      <a:noAutofit/>
                    </a:bodyPr>
                    <a:lstStyle/>
                    <a:p>
                      <a:pPr algn="l">
                        <a:buNone/>
                      </a:pPr>
                      <a:r>
                        <a:rPr sz="1100" b="1">
                          <a:solidFill>
                            <a:srgbClr val="C70F2D"/>
                          </a:solidFill>
                          <a:latin typeface="Arial"/>
                        </a:rPr>
                        <a:t>7</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0A1D3D"/>
                          </a:solidFill>
                          <a:latin typeface="Arial"/>
                        </a:rPr>
                        <a:t>Real-Time Bus Arrival Prediction: A Deep Learning Approach for Enhanced Urban Mobility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N. Rashvand, S. S. Hosseini, M. Azarbayjani, H. Tabkhi</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2023 · arXiv 2303.15495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Sets an ETA error benchmark (under 40 s) on large data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804672">
                <a:tc>
                  <a:txBody>
                    <a:bodyPr wrap="square" lIns="73152" tIns="36576" rIns="73152" bIns="36576" anchor="t">
                      <a:noAutofit/>
                    </a:bodyPr>
                    <a:lstStyle/>
                    <a:p>
                      <a:pPr algn="l">
                        <a:buNone/>
                      </a:pPr>
                      <a:r>
                        <a:rPr sz="1100" b="1">
                          <a:solidFill>
                            <a:srgbClr val="C70F2D"/>
                          </a:solidFill>
                          <a:latin typeface="Arial"/>
                        </a:rPr>
                        <a:t>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Real-Time Bus Departure Prediction Using Neural Networks for Smart IoT Public Bus Transit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N. Rashvand, S. S. Hosseini, M. Azarbayjani, H. Tabkhi</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2024 · IoT (MDPI) 5(4)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IoT framing; deviation from timetable as the target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804672">
                <a:tc>
                  <a:txBody>
                    <a:bodyPr wrap="square" lIns="73152" tIns="36576" rIns="73152" bIns="36576" anchor="t">
                      <a:noAutofit/>
                    </a:bodyPr>
                    <a:lstStyle/>
                    <a:p>
                      <a:pPr algn="l">
                        <a:buNone/>
                      </a:pPr>
                      <a:r>
                        <a:rPr sz="1100" b="1">
                          <a:solidFill>
                            <a:srgbClr val="C70F2D"/>
                          </a:solidFill>
                          <a:latin typeface="Arial"/>
                        </a:rPr>
                        <a:t>9</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1">
                          <a:solidFill>
                            <a:srgbClr val="0A1D3D"/>
                          </a:solidFill>
                          <a:latin typeface="Arial"/>
                        </a:rPr>
                        <a:t>ArrivalNet: Predicting City-wide Bus/Tram Arrival Time with Two-dimensional Temporal Variation Modeling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Z. Li, P. Wolf, M. Wang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2024 · arXiv 2410.14742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Reports MAE and RMSE — the metrics we adopt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804672">
                <a:tc>
                  <a:txBody>
                    <a:bodyPr wrap="square" lIns="73152" tIns="36576" rIns="73152" bIns="36576" anchor="t">
                      <a:noAutofit/>
                    </a:bodyPr>
                    <a:lstStyle/>
                    <a:p>
                      <a:pPr algn="l">
                        <a:buNone/>
                      </a:pPr>
                      <a:r>
                        <a:rPr sz="1100" b="1">
                          <a:solidFill>
                            <a:srgbClr val="C70F2D"/>
                          </a:solidFill>
                          <a:latin typeface="Arial"/>
                        </a:rPr>
                        <a:t>10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1">
                          <a:solidFill>
                            <a:srgbClr val="0A1D3D"/>
                          </a:solidFill>
                          <a:latin typeface="Arial"/>
                        </a:rPr>
                        <a:t>Real-time Bus Travel Time Prediction and Reliability Quantification: A Hybrid Markov Model</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Y. Sun, J. Spall, W. Wong, X. Zhao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2025 · arXiv 2503.05907</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Segment-by-segment travel time with uncertainty bounds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LITERATURE COMPARISON</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54480"/>
          <a:ext cx="11365992" cy="3950208"/>
        </p:xfrm>
        <a:graphic>
          <a:graphicData uri="http://schemas.openxmlformats.org/drawingml/2006/table">
            <a:tbl>
              <a:tblPr firstRow="0" bandRow="0">
                <a:tableStyleId>{5C22544A-7EE6-4342-B048-85BDC9FD1C3A}</a:tableStyleId>
              </a:tblPr>
              <a:tblGrid>
                <a:gridCol w="1691640"/>
                <a:gridCol w="2331720"/>
                <a:gridCol w="2514600"/>
                <a:gridCol w="2331720"/>
                <a:gridCol w="2496312"/>
              </a:tblGrid>
              <a:tr h="384048">
                <a:tc>
                  <a:txBody>
                    <a:bodyPr wrap="square" lIns="73152" tIns="36576" rIns="73152" bIns="36576" anchor="t">
                      <a:noAutofit/>
                    </a:bodyPr>
                    <a:lstStyle/>
                    <a:p>
                      <a:pPr algn="l">
                        <a:buNone/>
                      </a:pPr>
                      <a:r>
                        <a:rPr sz="1100" b="1">
                          <a:solidFill>
                            <a:srgbClr val="FFFFFF"/>
                          </a:solidFill>
                          <a:latin typeface="Arial"/>
                        </a:rPr>
                        <a:t>Paper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Method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Technology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Dataset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Findings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713232">
                <a:tc>
                  <a:txBody>
                    <a:bodyPr wrap="square" lIns="73152" tIns="36576" rIns="73152" bIns="36576" anchor="t">
                      <a:noAutofit/>
                    </a:bodyPr>
                    <a:lstStyle/>
                    <a:p>
                      <a:pPr algn="l">
                        <a:buNone/>
                      </a:pPr>
                      <a:r>
                        <a:rPr sz="1050" b="1">
                          <a:solidFill>
                            <a:srgbClr val="0A1D3D"/>
                          </a:solidFill>
                          <a:latin typeface="Arial"/>
                        </a:rPr>
                        <a:t>[1] Watkins 2011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Rider survey with observed wait times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OneBusAway: web, SMS, phone, smartphone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King County Metro (Seattle) riders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Real-time users waited almost 2 min less than timetable users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13232">
                <a:tc>
                  <a:txBody>
                    <a:bodyPr wrap="square" lIns="73152" tIns="36576" rIns="73152" bIns="36576" anchor="t">
                      <a:noAutofit/>
                    </a:bodyPr>
                    <a:lstStyle/>
                    <a:p>
                      <a:pPr algn="l">
                        <a:buNone/>
                      </a:pPr>
                      <a:r>
                        <a:rPr sz="1050" b="1">
                          <a:solidFill>
                            <a:srgbClr val="0A1D3D"/>
                          </a:solidFill>
                          <a:latin typeface="Arial"/>
                        </a:rPr>
                        <a:t>[2] Premkumar 2020</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Bus GPS position shared to students' app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Android, GPS, Google Maps API</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College-bus prototype; no dataset reported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Live bus on the map; alarm to driver when a student is near the stop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13232">
                <a:tc>
                  <a:txBody>
                    <a:bodyPr wrap="square" lIns="73152" tIns="36576" rIns="73152" bIns="36576" anchor="t">
                      <a:noAutofit/>
                    </a:bodyPr>
                    <a:lstStyle/>
                    <a:p>
                      <a:pPr algn="l">
                        <a:buNone/>
                      </a:pPr>
                      <a:r>
                        <a:rPr sz="1050" b="1">
                          <a:solidFill>
                            <a:srgbClr val="0A1D3D"/>
                          </a:solidFill>
                          <a:latin typeface="Arial"/>
                        </a:rPr>
                        <a:t>[3] Kassim 2022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GPS location + RFID bus identification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2 × ESP8266, GPS Neo-6M, RFID MFRC522, IR sensors, Blynk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Prototype tested at 3 locations, buses A–C</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Buses tracked; passenger counter recorded 0–5 people on board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13232">
                <a:tc>
                  <a:txBody>
                    <a:bodyPr wrap="square" lIns="73152" tIns="36576" rIns="73152" bIns="36576" anchor="t">
                      <a:noAutofit/>
                    </a:bodyPr>
                    <a:lstStyle/>
                    <a:p>
                      <a:pPr algn="l">
                        <a:buNone/>
                      </a:pPr>
                      <a:r>
                        <a:rPr sz="1050" b="1">
                          <a:solidFill>
                            <a:srgbClr val="0A1D3D"/>
                          </a:solidFill>
                          <a:latin typeface="Arial"/>
                        </a:rPr>
                        <a:t>[4] Arevalo V. 2022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LoRaWAN link instead of GPRS/GSM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Arduino UNO, RAK811, Neo-6M, Vue.js, Firebase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University campus prototype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Bus shown live on a web app over LoRaWAN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13232">
                <a:tc>
                  <a:txBody>
                    <a:bodyPr wrap="square" lIns="73152" tIns="36576" rIns="73152" bIns="36576" anchor="t">
                      <a:noAutofit/>
                    </a:bodyPr>
                    <a:lstStyle/>
                    <a:p>
                      <a:pPr algn="l">
                        <a:buNone/>
                      </a:pPr>
                      <a:r>
                        <a:rPr sz="1050" b="1">
                          <a:solidFill>
                            <a:srgbClr val="0A1D3D"/>
                          </a:solidFill>
                          <a:latin typeface="Arial"/>
                        </a:rPr>
                        <a:t>[5] Sobhana 2023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Real-time location sync with stop alerts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Java app, GPS, Firebase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School-bus prototype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Parents alerted when the previous stop is crossed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
        <p:nvSpPr>
          <p:cNvPr id="30" name="Rounded Rectangle 29"/>
          <p:cNvSpPr/>
          <p:nvPr/>
        </p:nvSpPr>
        <p:spPr>
          <a:xfrm>
            <a:off x="411480" y="5440680"/>
            <a:ext cx="11365992" cy="566928"/>
          </a:xfrm>
          <a:prstGeom prst="roundRect">
            <a:avLst>
              <a:gd name="adj" fmla="val 11290"/>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200" b="1">
                <a:solidFill>
                  <a:srgbClr val="C70F2D"/>
                </a:solidFill>
                <a:latin typeface="Arial"/>
              </a:rPr>
              <a:t>TAKEAWAY  </a:t>
            </a:r>
            <a:r>
              <a:rPr sz="1200" b="1">
                <a:solidFill>
                  <a:srgbClr val="0A1D3D"/>
                </a:solidFill>
                <a:latin typeface="Arial"/>
              </a:rPr>
              <a:t>Tracking papers stop at showing the bus: data is written straight to the cloud and never checked.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LITERATURE COMPARISON</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54480"/>
          <a:ext cx="11365992" cy="3950208"/>
        </p:xfrm>
        <a:graphic>
          <a:graphicData uri="http://schemas.openxmlformats.org/drawingml/2006/table">
            <a:tbl>
              <a:tblPr firstRow="0" bandRow="0">
                <a:tableStyleId>{5C22544A-7EE6-4342-B048-85BDC9FD1C3A}</a:tableStyleId>
              </a:tblPr>
              <a:tblGrid>
                <a:gridCol w="1691640"/>
                <a:gridCol w="2331720"/>
                <a:gridCol w="2514600"/>
                <a:gridCol w="2331720"/>
                <a:gridCol w="2496312"/>
              </a:tblGrid>
              <a:tr h="384048">
                <a:tc>
                  <a:txBody>
                    <a:bodyPr wrap="square" lIns="73152" tIns="36576" rIns="73152" bIns="36576" anchor="t">
                      <a:noAutofit/>
                    </a:bodyPr>
                    <a:lstStyle/>
                    <a:p>
                      <a:pPr algn="l">
                        <a:buNone/>
                      </a:pPr>
                      <a:r>
                        <a:rPr sz="1100" b="1">
                          <a:solidFill>
                            <a:srgbClr val="FFFFFF"/>
                          </a:solidFill>
                          <a:latin typeface="Arial"/>
                        </a:rPr>
                        <a:t>Paper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Method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Technology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Dataset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Findings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713232">
                <a:tc>
                  <a:txBody>
                    <a:bodyPr wrap="square" lIns="73152" tIns="36576" rIns="73152" bIns="36576" anchor="t">
                      <a:noAutofit/>
                    </a:bodyPr>
                    <a:lstStyle/>
                    <a:p>
                      <a:pPr algn="l">
                        <a:buNone/>
                      </a:pPr>
                      <a:r>
                        <a:rPr sz="1050" b="1">
                          <a:solidFill>
                            <a:srgbClr val="0A1D3D"/>
                          </a:solidFill>
                          <a:latin typeface="Arial"/>
                        </a:rPr>
                        <a:t>[6] Shanthi 2023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LSTM neural network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IoT GPS feed + LSTM</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Trajectory data with distance, dwell, traffic, junctions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Stop-level ETA that accounts for dwell time and junctions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13232">
                <a:tc>
                  <a:txBody>
                    <a:bodyPr wrap="square" lIns="73152" tIns="36576" rIns="73152" bIns="36576" anchor="t">
                      <a:noAutofit/>
                    </a:bodyPr>
                    <a:lstStyle/>
                    <a:p>
                      <a:pPr algn="l">
                        <a:buNone/>
                      </a:pPr>
                      <a:r>
                        <a:rPr sz="1050" b="1">
                          <a:solidFill>
                            <a:srgbClr val="0A1D3D"/>
                          </a:solidFill>
                          <a:latin typeface="Arial"/>
                        </a:rPr>
                        <a:t>[7] Rashvand 2023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Fully connected neural network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Deep learning (FCNN)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New York buses: 200+ lines, 2 M data points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Arrival error under 40 s; inference &lt; 0.006 ms per point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13232">
                <a:tc>
                  <a:txBody>
                    <a:bodyPr wrap="square" lIns="73152" tIns="36576" rIns="73152" bIns="36576" anchor="t">
                      <a:noAutofit/>
                    </a:bodyPr>
                    <a:lstStyle/>
                    <a:p>
                      <a:pPr algn="l">
                        <a:buNone/>
                      </a:pPr>
                      <a:r>
                        <a:rPr sz="1050" b="1">
                          <a:solidFill>
                            <a:srgbClr val="0A1D3D"/>
                          </a:solidFill>
                          <a:latin typeface="Arial"/>
                        </a:rPr>
                        <a:t>[8] Rashvand 2024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FCNN on historical departures + feature engineering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Neural network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Boston: 151 routes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Deviation predicted within 80 s (baseline deviation ≈ 4 min)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713232">
                <a:tc>
                  <a:txBody>
                    <a:bodyPr wrap="square" lIns="73152" tIns="36576" rIns="73152" bIns="36576" anchor="t">
                      <a:noAutofit/>
                    </a:bodyPr>
                    <a:lstStyle/>
                    <a:p>
                      <a:pPr algn="l">
                        <a:buNone/>
                      </a:pPr>
                      <a:r>
                        <a:rPr sz="1050" b="1">
                          <a:solidFill>
                            <a:srgbClr val="0A1D3D"/>
                          </a:solidFill>
                          <a:latin typeface="Arial"/>
                        </a:rPr>
                        <a:t>[9] Li 2024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2-D temporal variation modelling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CNN (computer-vision backbones)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Dresden: 125 days of bus/tram data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MAE lower by ≥ 14.7 %, RMSE by ≥ 6.1 % vs. baselines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713232">
                <a:tc>
                  <a:txBody>
                    <a:bodyPr wrap="square" lIns="73152" tIns="36576" rIns="73152" bIns="36576" anchor="t">
                      <a:noAutofit/>
                    </a:bodyPr>
                    <a:lstStyle/>
                    <a:p>
                      <a:pPr algn="l">
                        <a:buNone/>
                      </a:pPr>
                      <a:r>
                        <a:rPr sz="1050" b="1">
                          <a:solidFill>
                            <a:srgbClr val="0A1D3D"/>
                          </a:solidFill>
                          <a:latin typeface="Arial"/>
                        </a:rPr>
                        <a:t>[10] Sun 2025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Hybrid Markov model, MLE, Fisher information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Statistical model on GTFS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Gainesville, FL: GTFS static + realtime, 2023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Beat historical-mean and AI baselines with narrower 95 % bounds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
        <p:nvSpPr>
          <p:cNvPr id="30" name="Rounded Rectangle 29"/>
          <p:cNvSpPr/>
          <p:nvPr/>
        </p:nvSpPr>
        <p:spPr>
          <a:xfrm>
            <a:off x="411480" y="5440680"/>
            <a:ext cx="11365992" cy="566928"/>
          </a:xfrm>
          <a:prstGeom prst="roundRect">
            <a:avLst>
              <a:gd name="adj" fmla="val 11290"/>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200" b="1">
                <a:solidFill>
                  <a:srgbClr val="C70F2D"/>
                </a:solidFill>
                <a:latin typeface="Arial"/>
              </a:rPr>
              <a:t>TAKEAWAY  </a:t>
            </a:r>
            <a:r>
              <a:rPr sz="1200" b="1">
                <a:solidFill>
                  <a:srgbClr val="0A1D3D"/>
                </a:solidFill>
                <a:latin typeface="Arial"/>
              </a:rPr>
              <a:t>ETA papers need clean, timestamped history (millions of points). Module 1 collects exactly that.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RESEARCH / PROJECT GAP</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411480" y="1481328"/>
            <a:ext cx="1920240" cy="274320"/>
          </a:xfrm>
          <a:prstGeom prst="rect">
            <a:avLst/>
          </a:prstGeom>
          <a:noFill/>
        </p:spPr>
        <p:txBody>
          <a:bodyPr wrap="square" lIns="0" tIns="0" rIns="0" bIns="0" anchor="t">
            <a:noAutofit/>
          </a:bodyPr>
          <a:lstStyle/>
          <a:p>
            <a:pPr algn="l">
              <a:buNone/>
            </a:pPr>
            <a:r>
              <a:rPr sz="1100" b="1">
                <a:solidFill>
                  <a:srgbClr val="666666"/>
                </a:solidFill>
                <a:latin typeface="Arial"/>
              </a:rPr>
              <a:t>GAP</a:t>
            </a:r>
          </a:p>
        </p:txBody>
      </p:sp>
      <p:sp>
        <p:nvSpPr>
          <p:cNvPr id="30" name="TextBox 29"/>
          <p:cNvSpPr txBox="1"/>
          <p:nvPr/>
        </p:nvSpPr>
        <p:spPr>
          <a:xfrm>
            <a:off x="2423160" y="1481328"/>
            <a:ext cx="4206240" cy="274320"/>
          </a:xfrm>
          <a:prstGeom prst="rect">
            <a:avLst/>
          </a:prstGeom>
          <a:noFill/>
        </p:spPr>
        <p:txBody>
          <a:bodyPr wrap="square" lIns="0" tIns="0" rIns="0" bIns="0" anchor="t">
            <a:noAutofit/>
          </a:bodyPr>
          <a:lstStyle/>
          <a:p>
            <a:pPr algn="l">
              <a:buNone/>
            </a:pPr>
            <a:r>
              <a:rPr sz="1100" b="1">
                <a:solidFill>
                  <a:srgbClr val="666666"/>
                </a:solidFill>
                <a:latin typeface="Arial"/>
              </a:rPr>
              <a:t>EXISTING SOLUTIONS</a:t>
            </a:r>
          </a:p>
        </p:txBody>
      </p:sp>
      <p:sp>
        <p:nvSpPr>
          <p:cNvPr id="31" name="TextBox 30"/>
          <p:cNvSpPr txBox="1"/>
          <p:nvPr/>
        </p:nvSpPr>
        <p:spPr>
          <a:xfrm>
            <a:off x="7178040" y="1481328"/>
            <a:ext cx="4572000" cy="274320"/>
          </a:xfrm>
          <a:prstGeom prst="rect">
            <a:avLst/>
          </a:prstGeom>
          <a:noFill/>
        </p:spPr>
        <p:txBody>
          <a:bodyPr wrap="square" lIns="0" tIns="0" rIns="0" bIns="0" anchor="t">
            <a:noAutofit/>
          </a:bodyPr>
          <a:lstStyle/>
          <a:p>
            <a:pPr algn="l">
              <a:buNone/>
            </a:pPr>
            <a:r>
              <a:rPr sz="1100" b="1">
                <a:solidFill>
                  <a:srgbClr val="C70F2D"/>
                </a:solidFill>
                <a:latin typeface="Arial"/>
              </a:rPr>
              <a:t>THIS PROJECT ADDS</a:t>
            </a:r>
          </a:p>
        </p:txBody>
      </p:sp>
      <p:sp>
        <p:nvSpPr>
          <p:cNvPr id="32" name="Rounded Rectangle 31"/>
          <p:cNvSpPr/>
          <p:nvPr/>
        </p:nvSpPr>
        <p:spPr>
          <a:xfrm>
            <a:off x="411480" y="1810512"/>
            <a:ext cx="1874519" cy="749808"/>
          </a:xfrm>
          <a:prstGeom prst="roundRect">
            <a:avLst>
              <a:gd name="adj" fmla="val 8536"/>
            </a:avLst>
          </a:prstGeom>
          <a:solidFill>
            <a:srgbClr val="0A1D3D"/>
          </a:solidFill>
          <a:ln>
            <a:no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200" b="1">
                <a:solidFill>
                  <a:srgbClr val="FFFFFF"/>
                </a:solidFill>
                <a:latin typeface="Arial"/>
              </a:rPr>
              <a:t>DATA TRUST</a:t>
            </a:r>
          </a:p>
        </p:txBody>
      </p:sp>
      <p:sp>
        <p:nvSpPr>
          <p:cNvPr id="33" name="Rounded Rectangle 32"/>
          <p:cNvSpPr/>
          <p:nvPr/>
        </p:nvSpPr>
        <p:spPr>
          <a:xfrm>
            <a:off x="2423160" y="1810512"/>
            <a:ext cx="4343400" cy="749808"/>
          </a:xfrm>
          <a:prstGeom prst="roundRect">
            <a:avLst>
              <a:gd name="adj" fmla="val 8536"/>
            </a:avLst>
          </a:prstGeom>
          <a:solidFill>
            <a:srgbClr val="F4F4F4"/>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0">
                <a:solidFill>
                  <a:srgbClr val="272727"/>
                </a:solidFill>
                <a:latin typeface="Arial"/>
              </a:rPr>
              <a:t>Device writes straight to Firebase or a cloud DB; nothing checks the fix</a:t>
            </a:r>
          </a:p>
        </p:txBody>
      </p:sp>
      <p:sp>
        <p:nvSpPr>
          <p:cNvPr id="34" name="Chevron 33"/>
          <p:cNvSpPr/>
          <p:nvPr/>
        </p:nvSpPr>
        <p:spPr>
          <a:xfrm>
            <a:off x="6830568" y="2020824"/>
            <a:ext cx="274320" cy="329184"/>
          </a:xfrm>
          <a:prstGeom prst="chevron">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178040" y="1810512"/>
            <a:ext cx="4599432" cy="749808"/>
          </a:xfrm>
          <a:prstGeom prst="roundRect">
            <a:avLst>
              <a:gd name="adj" fmla="val 8536"/>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1">
                <a:solidFill>
                  <a:srgbClr val="0A1D3D"/>
                </a:solidFill>
                <a:latin typeface="Arial"/>
              </a:rPr>
              <a:t>Server is the only writer: 11 validation rules; every rejection logged with its reason</a:t>
            </a:r>
          </a:p>
        </p:txBody>
      </p:sp>
      <p:sp>
        <p:nvSpPr>
          <p:cNvPr id="36" name="Rounded Rectangle 35"/>
          <p:cNvSpPr/>
          <p:nvPr/>
        </p:nvSpPr>
        <p:spPr>
          <a:xfrm>
            <a:off x="411480" y="2706624"/>
            <a:ext cx="1874519" cy="749808"/>
          </a:xfrm>
          <a:prstGeom prst="roundRect">
            <a:avLst>
              <a:gd name="adj" fmla="val 8536"/>
            </a:avLst>
          </a:prstGeom>
          <a:solidFill>
            <a:srgbClr val="0A1D3D"/>
          </a:solidFill>
          <a:ln>
            <a:no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200" b="1">
                <a:solidFill>
                  <a:srgbClr val="FFFFFF"/>
                </a:solidFill>
                <a:latin typeface="Arial"/>
              </a:rPr>
              <a:t>STALENESS</a:t>
            </a:r>
          </a:p>
        </p:txBody>
      </p:sp>
      <p:sp>
        <p:nvSpPr>
          <p:cNvPr id="37" name="Rounded Rectangle 36"/>
          <p:cNvSpPr/>
          <p:nvPr/>
        </p:nvSpPr>
        <p:spPr>
          <a:xfrm>
            <a:off x="2423160" y="2706624"/>
            <a:ext cx="4343400" cy="749808"/>
          </a:xfrm>
          <a:prstGeom prst="roundRect">
            <a:avLst>
              <a:gd name="adj" fmla="val 8536"/>
            </a:avLst>
          </a:prstGeom>
          <a:solidFill>
            <a:srgbClr val="F4F4F4"/>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0">
                <a:solidFill>
                  <a:srgbClr val="272727"/>
                </a:solidFill>
                <a:latin typeface="Arial"/>
              </a:rPr>
              <a:t>The last known point is drawn as if it were live</a:t>
            </a:r>
          </a:p>
        </p:txBody>
      </p:sp>
      <p:sp>
        <p:nvSpPr>
          <p:cNvPr id="38" name="Chevron 37"/>
          <p:cNvSpPr/>
          <p:nvPr/>
        </p:nvSpPr>
        <p:spPr>
          <a:xfrm>
            <a:off x="6830568" y="2916936"/>
            <a:ext cx="274320" cy="329184"/>
          </a:xfrm>
          <a:prstGeom prst="chevron">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78040" y="2706624"/>
            <a:ext cx="4599432" cy="749808"/>
          </a:xfrm>
          <a:prstGeom prst="roundRect">
            <a:avLst>
              <a:gd name="adj" fmla="val 8536"/>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1">
                <a:solidFill>
                  <a:srgbClr val="0A1D3D"/>
                </a:solidFill>
                <a:latin typeface="Arial"/>
              </a:rPr>
              <a:t>Explicit Live ≤ 30 s / Delayed ≤ 2 min / Offline with last-seen place</a:t>
            </a:r>
          </a:p>
        </p:txBody>
      </p:sp>
      <p:sp>
        <p:nvSpPr>
          <p:cNvPr id="40" name="Rounded Rectangle 39"/>
          <p:cNvSpPr/>
          <p:nvPr/>
        </p:nvSpPr>
        <p:spPr>
          <a:xfrm>
            <a:off x="411480" y="3602736"/>
            <a:ext cx="1874519" cy="749808"/>
          </a:xfrm>
          <a:prstGeom prst="roundRect">
            <a:avLst>
              <a:gd name="adj" fmla="val 8536"/>
            </a:avLst>
          </a:prstGeom>
          <a:solidFill>
            <a:srgbClr val="0A1D3D"/>
          </a:solidFill>
          <a:ln>
            <a:no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200" b="1">
                <a:solidFill>
                  <a:srgbClr val="FFFFFF"/>
                </a:solidFill>
                <a:latin typeface="Arial"/>
              </a:rPr>
              <a:t>COST</a:t>
            </a:r>
          </a:p>
        </p:txBody>
      </p:sp>
      <p:sp>
        <p:nvSpPr>
          <p:cNvPr id="41" name="Rounded Rectangle 40"/>
          <p:cNvSpPr/>
          <p:nvPr/>
        </p:nvSpPr>
        <p:spPr>
          <a:xfrm>
            <a:off x="2423160" y="3602736"/>
            <a:ext cx="4343400" cy="749808"/>
          </a:xfrm>
          <a:prstGeom prst="roundRect">
            <a:avLst>
              <a:gd name="adj" fmla="val 8536"/>
            </a:avLst>
          </a:prstGeom>
          <a:solidFill>
            <a:srgbClr val="F4F4F4"/>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0">
                <a:solidFill>
                  <a:srgbClr val="272727"/>
                </a:solidFill>
                <a:latin typeface="Arial"/>
              </a:rPr>
              <a:t>A GPS, LoRa or RFID unit must be fitted and maintained in every bus</a:t>
            </a:r>
          </a:p>
        </p:txBody>
      </p:sp>
      <p:sp>
        <p:nvSpPr>
          <p:cNvPr id="42" name="Chevron 41"/>
          <p:cNvSpPr/>
          <p:nvPr/>
        </p:nvSpPr>
        <p:spPr>
          <a:xfrm>
            <a:off x="6830568" y="3813048"/>
            <a:ext cx="274320" cy="329184"/>
          </a:xfrm>
          <a:prstGeom prst="chevron">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178040" y="3602736"/>
            <a:ext cx="4599432" cy="749808"/>
          </a:xfrm>
          <a:prstGeom prst="roundRect">
            <a:avLst>
              <a:gd name="adj" fmla="val 8536"/>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1">
                <a:solidFill>
                  <a:srgbClr val="0A1D3D"/>
                </a:solidFill>
                <a:latin typeface="Arial"/>
              </a:rPr>
              <a:t>The driver's phone is the tracker — no hardware to buy</a:t>
            </a:r>
          </a:p>
        </p:txBody>
      </p:sp>
      <p:sp>
        <p:nvSpPr>
          <p:cNvPr id="44" name="Rounded Rectangle 43"/>
          <p:cNvSpPr/>
          <p:nvPr/>
        </p:nvSpPr>
        <p:spPr>
          <a:xfrm>
            <a:off x="411480" y="4498848"/>
            <a:ext cx="1874519" cy="749808"/>
          </a:xfrm>
          <a:prstGeom prst="roundRect">
            <a:avLst>
              <a:gd name="adj" fmla="val 8536"/>
            </a:avLst>
          </a:prstGeom>
          <a:solidFill>
            <a:srgbClr val="0A1D3D"/>
          </a:solidFill>
          <a:ln>
            <a:no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200" b="1">
                <a:solidFill>
                  <a:srgbClr val="FFFFFF"/>
                </a:solidFill>
                <a:latin typeface="Arial"/>
              </a:rPr>
              <a:t>ETA EVIDENCE</a:t>
            </a:r>
          </a:p>
        </p:txBody>
      </p:sp>
      <p:sp>
        <p:nvSpPr>
          <p:cNvPr id="45" name="Rounded Rectangle 44"/>
          <p:cNvSpPr/>
          <p:nvPr/>
        </p:nvSpPr>
        <p:spPr>
          <a:xfrm>
            <a:off x="2423160" y="4498848"/>
            <a:ext cx="4343400" cy="749808"/>
          </a:xfrm>
          <a:prstGeom prst="roundRect">
            <a:avLst>
              <a:gd name="adj" fmla="val 8536"/>
            </a:avLst>
          </a:prstGeom>
          <a:solidFill>
            <a:srgbClr val="F4F4F4"/>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0">
                <a:solidFill>
                  <a:srgbClr val="272727"/>
                </a:solidFill>
                <a:latin typeface="Arial"/>
              </a:rPr>
              <a:t>ETA models need big city datasets; campus systems show no measured ETA</a:t>
            </a:r>
          </a:p>
        </p:txBody>
      </p:sp>
      <p:sp>
        <p:nvSpPr>
          <p:cNvPr id="46" name="Chevron 45"/>
          <p:cNvSpPr/>
          <p:nvPr/>
        </p:nvSpPr>
        <p:spPr>
          <a:xfrm>
            <a:off x="6830568" y="4709160"/>
            <a:ext cx="274320" cy="329184"/>
          </a:xfrm>
          <a:prstGeom prst="chevron">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178040" y="4498848"/>
            <a:ext cx="4599432" cy="749808"/>
          </a:xfrm>
          <a:prstGeom prst="roundRect">
            <a:avLst>
              <a:gd name="adj" fmla="val 8536"/>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noAutofit/>
          </a:bodyPr>
          <a:lstStyle/>
          <a:p>
            <a:pPr algn="l">
              <a:buNone/>
            </a:pPr>
            <a:r>
              <a:rPr sz="1150" b="1">
                <a:solidFill>
                  <a:srgbClr val="0A1D3D"/>
                </a:solidFill>
                <a:latin typeface="Arial"/>
              </a:rPr>
              <a:t>Clean trip history from day one; ETA evaluated by MAE per route</a:t>
            </a:r>
          </a:p>
        </p:txBody>
      </p:sp>
      <p:sp>
        <p:nvSpPr>
          <p:cNvPr id="48" name="Rounded Rectangle 47"/>
          <p:cNvSpPr/>
          <p:nvPr/>
        </p:nvSpPr>
        <p:spPr>
          <a:xfrm>
            <a:off x="411480" y="5440680"/>
            <a:ext cx="11365992" cy="566928"/>
          </a:xfrm>
          <a:prstGeom prst="roundRect">
            <a:avLst>
              <a:gd name="adj" fmla="val 11290"/>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250" b="1">
                <a:solidFill>
                  <a:srgbClr val="C70F2D"/>
                </a:solidFill>
                <a:latin typeface="Arial"/>
              </a:rPr>
              <a:t>What is missing?  </a:t>
            </a:r>
            <a:r>
              <a:rPr sz="1250" b="1">
                <a:solidFill>
                  <a:srgbClr val="0A1D3D"/>
                </a:solidFill>
                <a:latin typeface="Arial"/>
              </a:rPr>
              <a:t>A low-cost campus tracker whose positions can be trusted: validated, honest about freshness, and measured.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PROPOSED SOLUTION</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72768"/>
            <a:ext cx="3566160" cy="3611880"/>
          </a:xfrm>
          <a:prstGeom prst="roundRect">
            <a:avLst>
              <a:gd name="adj" fmla="val 179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01168" tIns="182880" rIns="182880" bIns="91440">
            <a:noAutofit/>
          </a:bodyPr>
          <a:lstStyle/>
          <a:p>
            <a:pPr algn="l">
              <a:spcAft>
                <a:spcPts val="800"/>
              </a:spcAft>
              <a:buNone/>
            </a:pPr>
            <a:r>
              <a:rPr sz="1200" b="1">
                <a:solidFill>
                  <a:srgbClr val="C70F2D"/>
                </a:solidFill>
                <a:latin typeface="Arial"/>
              </a:rPr>
              <a:t>MAIN IDEA</a:t>
            </a:r>
          </a:p>
          <a:p>
            <a:pPr algn="l">
              <a:spcAft>
                <a:spcPts val="1000"/>
              </a:spcAft>
              <a:buNone/>
            </a:pPr>
            <a:r>
              <a:rPr sz="1500" b="1">
                <a:solidFill>
                  <a:srgbClr val="0A1D3D"/>
                </a:solidFill>
                <a:latin typeface="Arial"/>
              </a:rPr>
              <a:t>One validated location pipeline for the BSACIST fleet.</a:t>
            </a:r>
          </a:p>
          <a:p>
            <a:pPr algn="l">
              <a:buNone/>
            </a:pPr>
            <a:r>
              <a:rPr sz="1350" b="0">
                <a:solidFill>
                  <a:srgbClr val="272727"/>
                </a:solidFill>
                <a:latin typeface="Arial"/>
              </a:rPr>
              <a:t>The driver's phone reports the position. The server checks it, stores it and pushes it. Every student sees their bus with an honest freshness label, and later an ETA measured against real arrivals.</a:t>
            </a:r>
          </a:p>
        </p:txBody>
      </p:sp>
      <p:sp>
        <p:nvSpPr>
          <p:cNvPr id="30" name="Rounded Rectangle 29"/>
          <p:cNvSpPr/>
          <p:nvPr/>
        </p:nvSpPr>
        <p:spPr>
          <a:xfrm>
            <a:off x="4160520" y="1572768"/>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01</a:t>
            </a:r>
          </a:p>
          <a:p>
            <a:pPr algn="l">
              <a:spcBef>
                <a:spcPts val="200"/>
              </a:spcBef>
              <a:buNone/>
            </a:pPr>
            <a:r>
              <a:rPr sz="1300" b="1">
                <a:solidFill>
                  <a:srgbClr val="0A1D3D"/>
                </a:solidFill>
                <a:latin typeface="Arial"/>
              </a:rPr>
              <a:t>Driver app</a:t>
            </a:r>
          </a:p>
          <a:p>
            <a:pPr algn="l">
              <a:spcBef>
                <a:spcPts val="400"/>
              </a:spcBef>
              <a:buNone/>
            </a:pPr>
            <a:r>
              <a:rPr sz="1100" b="0">
                <a:solidFill>
                  <a:srgbClr val="272727"/>
                </a:solidFill>
                <a:latin typeface="Arial"/>
              </a:rPr>
              <a:t>Start trip; GPS every 5–15 s; offline buffer</a:t>
            </a:r>
          </a:p>
          <a:p>
            <a:pPr algn="l">
              <a:spcBef>
                <a:spcPts val="600"/>
              </a:spcBef>
              <a:buNone/>
            </a:pPr>
            <a:r>
              <a:rPr sz="950" b="1">
                <a:solidFill>
                  <a:srgbClr val="12A150"/>
                </a:solidFill>
                <a:latin typeface="Arial"/>
              </a:rPr>
              <a:t>✓ Module 1</a:t>
            </a:r>
          </a:p>
        </p:txBody>
      </p:sp>
      <p:sp>
        <p:nvSpPr>
          <p:cNvPr id="31" name="Rounded Rectangle 30"/>
          <p:cNvSpPr/>
          <p:nvPr/>
        </p:nvSpPr>
        <p:spPr>
          <a:xfrm>
            <a:off x="6720840" y="1572768"/>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02</a:t>
            </a:r>
          </a:p>
          <a:p>
            <a:pPr algn="l">
              <a:spcBef>
                <a:spcPts val="200"/>
              </a:spcBef>
              <a:buNone/>
            </a:pPr>
            <a:r>
              <a:rPr sz="1300" b="1">
                <a:solidFill>
                  <a:srgbClr val="0A1D3D"/>
                </a:solidFill>
                <a:latin typeface="Arial"/>
              </a:rPr>
              <a:t>Validate &amp; store</a:t>
            </a:r>
          </a:p>
          <a:p>
            <a:pPr algn="l">
              <a:spcBef>
                <a:spcPts val="400"/>
              </a:spcBef>
              <a:buNone/>
            </a:pPr>
            <a:r>
              <a:rPr sz="1100" b="0">
                <a:solidFill>
                  <a:srgbClr val="272727"/>
                </a:solidFill>
                <a:latin typeface="Arial"/>
              </a:rPr>
              <a:t>11 rules; full history + latest per bus</a:t>
            </a:r>
          </a:p>
          <a:p>
            <a:pPr algn="l">
              <a:spcBef>
                <a:spcPts val="600"/>
              </a:spcBef>
              <a:buNone/>
            </a:pPr>
            <a:r>
              <a:rPr sz="950" b="1">
                <a:solidFill>
                  <a:srgbClr val="12A150"/>
                </a:solidFill>
                <a:latin typeface="Arial"/>
              </a:rPr>
              <a:t>✓ Module 1</a:t>
            </a:r>
          </a:p>
        </p:txBody>
      </p:sp>
      <p:sp>
        <p:nvSpPr>
          <p:cNvPr id="32" name="Rounded Rectangle 31"/>
          <p:cNvSpPr/>
          <p:nvPr/>
        </p:nvSpPr>
        <p:spPr>
          <a:xfrm>
            <a:off x="9281159" y="1572768"/>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03</a:t>
            </a:r>
          </a:p>
          <a:p>
            <a:pPr algn="l">
              <a:spcBef>
                <a:spcPts val="200"/>
              </a:spcBef>
              <a:buNone/>
            </a:pPr>
            <a:r>
              <a:rPr sz="1300" b="1">
                <a:solidFill>
                  <a:srgbClr val="0A1D3D"/>
                </a:solidFill>
                <a:latin typeface="Arial"/>
              </a:rPr>
              <a:t>Live map</a:t>
            </a:r>
          </a:p>
          <a:p>
            <a:pPr algn="l">
              <a:spcBef>
                <a:spcPts val="400"/>
              </a:spcBef>
              <a:buNone/>
            </a:pPr>
            <a:r>
              <a:rPr sz="1100" b="0">
                <a:solidFill>
                  <a:srgbClr val="272727"/>
                </a:solidFill>
                <a:latin typeface="Arial"/>
              </a:rPr>
              <a:t>Socket.IO push, freshness, nearest stop</a:t>
            </a:r>
          </a:p>
          <a:p>
            <a:pPr algn="l">
              <a:spcBef>
                <a:spcPts val="600"/>
              </a:spcBef>
              <a:buNone/>
            </a:pPr>
            <a:r>
              <a:rPr sz="950" b="1">
                <a:solidFill>
                  <a:srgbClr val="12A150"/>
                </a:solidFill>
                <a:latin typeface="Arial"/>
              </a:rPr>
              <a:t>✓ Module 1</a:t>
            </a:r>
          </a:p>
        </p:txBody>
      </p:sp>
      <p:sp>
        <p:nvSpPr>
          <p:cNvPr id="33" name="Rounded Rectangle 32"/>
          <p:cNvSpPr/>
          <p:nvPr/>
        </p:nvSpPr>
        <p:spPr>
          <a:xfrm>
            <a:off x="4160520" y="3429000"/>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04</a:t>
            </a:r>
          </a:p>
          <a:p>
            <a:pPr algn="l">
              <a:spcBef>
                <a:spcPts val="200"/>
              </a:spcBef>
              <a:buNone/>
            </a:pPr>
            <a:r>
              <a:rPr sz="1300" b="1">
                <a:solidFill>
                  <a:srgbClr val="0A1D3D"/>
                </a:solidFill>
                <a:latin typeface="Arial"/>
              </a:rPr>
              <a:t>ETA</a:t>
            </a:r>
          </a:p>
          <a:p>
            <a:pPr algn="l">
              <a:spcBef>
                <a:spcPts val="400"/>
              </a:spcBef>
              <a:buNone/>
            </a:pPr>
            <a:r>
              <a:rPr sz="1100" b="0">
                <a:solidFill>
                  <a:srgbClr val="272727"/>
                </a:solidFill>
                <a:latin typeface="Arial"/>
              </a:rPr>
              <a:t>Arrival at my stop, reported with MAE</a:t>
            </a:r>
          </a:p>
          <a:p>
            <a:pPr algn="l">
              <a:spcBef>
                <a:spcPts val="600"/>
              </a:spcBef>
              <a:buNone/>
            </a:pPr>
            <a:r>
              <a:rPr sz="950" b="1">
                <a:solidFill>
                  <a:srgbClr val="666666"/>
                </a:solidFill>
                <a:latin typeface="Arial"/>
              </a:rPr>
              <a:t>Phase 3</a:t>
            </a:r>
          </a:p>
        </p:txBody>
      </p:sp>
      <p:sp>
        <p:nvSpPr>
          <p:cNvPr id="34" name="Rounded Rectangle 33"/>
          <p:cNvSpPr/>
          <p:nvPr/>
        </p:nvSpPr>
        <p:spPr>
          <a:xfrm>
            <a:off x="6720840" y="3429000"/>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05</a:t>
            </a:r>
          </a:p>
          <a:p>
            <a:pPr algn="l">
              <a:spcBef>
                <a:spcPts val="200"/>
              </a:spcBef>
              <a:buNone/>
            </a:pPr>
            <a:r>
              <a:rPr sz="1300" b="1">
                <a:solidFill>
                  <a:srgbClr val="0A1D3D"/>
                </a:solidFill>
                <a:latin typeface="Arial"/>
              </a:rPr>
              <a:t>Alerts</a:t>
            </a:r>
          </a:p>
          <a:p>
            <a:pPr algn="l">
              <a:spcBef>
                <a:spcPts val="400"/>
              </a:spcBef>
              <a:buNone/>
            </a:pPr>
            <a:r>
              <a:rPr sz="1100" b="0">
                <a:solidFill>
                  <a:srgbClr val="272727"/>
                </a:solidFill>
                <a:latin typeface="Arial"/>
              </a:rPr>
              <a:t>“Bus 10 min from your stop”, delay notices</a:t>
            </a:r>
          </a:p>
          <a:p>
            <a:pPr algn="l">
              <a:spcBef>
                <a:spcPts val="600"/>
              </a:spcBef>
              <a:buNone/>
            </a:pPr>
            <a:r>
              <a:rPr sz="950" b="1">
                <a:solidFill>
                  <a:srgbClr val="666666"/>
                </a:solidFill>
                <a:latin typeface="Arial"/>
              </a:rPr>
              <a:t>Phase 3</a:t>
            </a:r>
          </a:p>
        </p:txBody>
      </p:sp>
      <p:sp>
        <p:nvSpPr>
          <p:cNvPr id="35" name="Rounded Rectangle 34"/>
          <p:cNvSpPr/>
          <p:nvPr/>
        </p:nvSpPr>
        <p:spPr>
          <a:xfrm>
            <a:off x="9281159" y="3429000"/>
            <a:ext cx="2377440" cy="1673352"/>
          </a:xfrm>
          <a:prstGeom prst="roundRect">
            <a:avLst>
              <a:gd name="adj" fmla="val 3825"/>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09728" bIns="73152">
            <a:noAutofit/>
          </a:bodyPr>
          <a:lstStyle/>
          <a:p>
            <a:pPr algn="l">
              <a:buNone/>
            </a:pPr>
            <a:r>
              <a:rPr sz="1600" b="1">
                <a:solidFill>
                  <a:srgbClr val="C70F2D"/>
                </a:solidFill>
                <a:latin typeface="Arial"/>
              </a:rPr>
              <a:t>06</a:t>
            </a:r>
          </a:p>
          <a:p>
            <a:pPr algn="l">
              <a:spcBef>
                <a:spcPts val="200"/>
              </a:spcBef>
              <a:buNone/>
            </a:pPr>
            <a:r>
              <a:rPr sz="1300" b="1">
                <a:solidFill>
                  <a:srgbClr val="0A1D3D"/>
                </a:solidFill>
                <a:latin typeface="Arial"/>
              </a:rPr>
              <a:t>Admin &amp; reports</a:t>
            </a:r>
          </a:p>
          <a:p>
            <a:pPr algn="l">
              <a:spcBef>
                <a:spcPts val="400"/>
              </a:spcBef>
              <a:buNone/>
            </a:pPr>
            <a:r>
              <a:rPr sz="1100" b="0">
                <a:solidFill>
                  <a:srgbClr val="272727"/>
                </a:solidFill>
                <a:latin typeface="Arial"/>
              </a:rPr>
              <a:t>Routes, stops, drivers, trip history export</a:t>
            </a:r>
          </a:p>
          <a:p>
            <a:pPr algn="l">
              <a:spcBef>
                <a:spcPts val="600"/>
              </a:spcBef>
              <a:buNone/>
            </a:pPr>
            <a:r>
              <a:rPr sz="950" b="1">
                <a:solidFill>
                  <a:srgbClr val="666666"/>
                </a:solidFill>
                <a:latin typeface="Arial"/>
              </a:rPr>
              <a:t>Phase 3</a:t>
            </a:r>
          </a:p>
        </p:txBody>
      </p:sp>
      <p:sp>
        <p:nvSpPr>
          <p:cNvPr id="36" name="Rounded Rectangle 35"/>
          <p:cNvSpPr/>
          <p:nvPr/>
        </p:nvSpPr>
        <p:spPr>
          <a:xfrm>
            <a:off x="411480" y="5349240"/>
            <a:ext cx="11365992" cy="685800"/>
          </a:xfrm>
          <a:prstGeom prst="roundRect">
            <a:avLst>
              <a:gd name="adj" fmla="val 9333"/>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200" b="1">
                <a:solidFill>
                  <a:srgbClr val="C70F2D"/>
                </a:solidFill>
                <a:latin typeface="Arial"/>
              </a:rPr>
              <a:t>EXPECTED OUTCOME  </a:t>
            </a:r>
            <a:r>
              <a:rPr sz="1200" b="1">
                <a:solidFill>
                  <a:srgbClr val="0A1D3D"/>
                </a:solidFill>
                <a:latin typeface="Arial"/>
              </a:rPr>
              <a:t>Students stop guessing and calling drivers; the transport office sees every bus at once; the university gets stored trip data to analyse delays.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PROJECT OBJECTIVES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Oval 28"/>
          <p:cNvSpPr/>
          <p:nvPr/>
        </p:nvSpPr>
        <p:spPr>
          <a:xfrm>
            <a:off x="457200" y="1700784"/>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1</a:t>
            </a:r>
          </a:p>
        </p:txBody>
      </p:sp>
      <p:sp>
        <p:nvSpPr>
          <p:cNvPr id="30" name="Rounded Rectangle 29"/>
          <p:cNvSpPr/>
          <p:nvPr/>
        </p:nvSpPr>
        <p:spPr>
          <a:xfrm>
            <a:off x="978408" y="157276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DEVELOP </a:t>
            </a:r>
            <a:r>
              <a:rPr sz="1250" b="0">
                <a:solidFill>
                  <a:srgbClr val="272727"/>
                </a:solidFill>
                <a:latin typeface="Arial"/>
              </a:rPr>
              <a:t>a driver client that sends a GPS fix every 5–15 s and buffers up to 200 fixes when offline.</a:t>
            </a:r>
          </a:p>
        </p:txBody>
      </p:sp>
      <p:sp>
        <p:nvSpPr>
          <p:cNvPr id="31" name="Rounded Rectangle 30"/>
          <p:cNvSpPr/>
          <p:nvPr/>
        </p:nvSpPr>
        <p:spPr>
          <a:xfrm>
            <a:off x="7726679" y="1572768"/>
            <a:ext cx="4050791" cy="603504"/>
          </a:xfrm>
          <a:prstGeom prst="roundRect">
            <a:avLst>
              <a:gd name="adj" fmla="val 10606"/>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0A1D3D"/>
                </a:solidFill>
                <a:latin typeface="Arial"/>
              </a:rPr>
              <a:t>≥ 95 % of fixes delivered in the pilot</a:t>
            </a:r>
          </a:p>
        </p:txBody>
      </p:sp>
      <p:sp>
        <p:nvSpPr>
          <p:cNvPr id="32" name="Oval 31"/>
          <p:cNvSpPr/>
          <p:nvPr/>
        </p:nvSpPr>
        <p:spPr>
          <a:xfrm>
            <a:off x="457200" y="2432304"/>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2</a:t>
            </a:r>
          </a:p>
        </p:txBody>
      </p:sp>
      <p:sp>
        <p:nvSpPr>
          <p:cNvPr id="33" name="Rounded Rectangle 32"/>
          <p:cNvSpPr/>
          <p:nvPr/>
        </p:nvSpPr>
        <p:spPr>
          <a:xfrm>
            <a:off x="978408" y="230428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VALIDATE </a:t>
            </a:r>
            <a:r>
              <a:rPr sz="1250" b="0">
                <a:solidFill>
                  <a:srgbClr val="272727"/>
                </a:solidFill>
                <a:latin typeface="Arial"/>
              </a:rPr>
              <a:t>every fix on the server before it is stored, using 11 defined rules.</a:t>
            </a:r>
          </a:p>
        </p:txBody>
      </p:sp>
      <p:sp>
        <p:nvSpPr>
          <p:cNvPr id="34" name="Rounded Rectangle 33"/>
          <p:cNvSpPr/>
          <p:nvPr/>
        </p:nvSpPr>
        <p:spPr>
          <a:xfrm>
            <a:off x="7726679" y="2304288"/>
            <a:ext cx="4050791" cy="603504"/>
          </a:xfrm>
          <a:prstGeom prst="roundRect">
            <a:avLst>
              <a:gd name="adj" fmla="val 10606"/>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12A150"/>
                </a:solidFill>
                <a:latin typeface="Arial"/>
              </a:rPr>
              <a:t>100 % of invalid test fixes rejected — met: 46 / 46</a:t>
            </a:r>
          </a:p>
        </p:txBody>
      </p:sp>
      <p:sp>
        <p:nvSpPr>
          <p:cNvPr id="35" name="Oval 34"/>
          <p:cNvSpPr/>
          <p:nvPr/>
        </p:nvSpPr>
        <p:spPr>
          <a:xfrm>
            <a:off x="457200" y="3163824"/>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3</a:t>
            </a:r>
          </a:p>
        </p:txBody>
      </p:sp>
      <p:sp>
        <p:nvSpPr>
          <p:cNvPr id="36" name="Rounded Rectangle 35"/>
          <p:cNvSpPr/>
          <p:nvPr/>
        </p:nvSpPr>
        <p:spPr>
          <a:xfrm>
            <a:off x="978408" y="303580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BROADCAST </a:t>
            </a:r>
            <a:r>
              <a:rPr sz="1250" b="0">
                <a:solidFill>
                  <a:srgbClr val="272727"/>
                </a:solidFill>
                <a:latin typeface="Arial"/>
              </a:rPr>
              <a:t>accepted positions to students in real time over WebSocket.</a:t>
            </a:r>
          </a:p>
        </p:txBody>
      </p:sp>
      <p:sp>
        <p:nvSpPr>
          <p:cNvPr id="37" name="Rounded Rectangle 36"/>
          <p:cNvSpPr/>
          <p:nvPr/>
        </p:nvSpPr>
        <p:spPr>
          <a:xfrm>
            <a:off x="7726679" y="3035808"/>
            <a:ext cx="4050791" cy="603504"/>
          </a:xfrm>
          <a:prstGeom prst="roundRect">
            <a:avLst>
              <a:gd name="adj" fmla="val 10606"/>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12A150"/>
                </a:solidFill>
                <a:latin typeface="Arial"/>
              </a:rPr>
              <a:t>&lt; 1 s fix-to-map — measured 19.5 ms median</a:t>
            </a:r>
          </a:p>
        </p:txBody>
      </p:sp>
      <p:sp>
        <p:nvSpPr>
          <p:cNvPr id="38" name="Oval 37"/>
          <p:cNvSpPr/>
          <p:nvPr/>
        </p:nvSpPr>
        <p:spPr>
          <a:xfrm>
            <a:off x="457200" y="3895344"/>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4</a:t>
            </a:r>
          </a:p>
        </p:txBody>
      </p:sp>
      <p:sp>
        <p:nvSpPr>
          <p:cNvPr id="39" name="Rounded Rectangle 38"/>
          <p:cNvSpPr/>
          <p:nvPr/>
        </p:nvSpPr>
        <p:spPr>
          <a:xfrm>
            <a:off x="978408" y="376732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DISPLAY </a:t>
            </a:r>
            <a:r>
              <a:rPr sz="1250" b="0">
                <a:solidFill>
                  <a:srgbClr val="272727"/>
                </a:solidFill>
                <a:latin typeface="Arial"/>
              </a:rPr>
              <a:t>every bus with a freshness state and its last-seen place.</a:t>
            </a:r>
          </a:p>
        </p:txBody>
      </p:sp>
      <p:sp>
        <p:nvSpPr>
          <p:cNvPr id="40" name="Rounded Rectangle 39"/>
          <p:cNvSpPr/>
          <p:nvPr/>
        </p:nvSpPr>
        <p:spPr>
          <a:xfrm>
            <a:off x="7726679" y="3767328"/>
            <a:ext cx="4050791" cy="603504"/>
          </a:xfrm>
          <a:prstGeom prst="roundRect">
            <a:avLst>
              <a:gd name="adj" fmla="val 10606"/>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12A150"/>
                </a:solidFill>
                <a:latin typeface="Arial"/>
              </a:rPr>
              <a:t>Live ≤ 30 s · Delayed ≤ 2 min · Offline — met</a:t>
            </a:r>
          </a:p>
        </p:txBody>
      </p:sp>
      <p:sp>
        <p:nvSpPr>
          <p:cNvPr id="41" name="Oval 40"/>
          <p:cNvSpPr/>
          <p:nvPr/>
        </p:nvSpPr>
        <p:spPr>
          <a:xfrm>
            <a:off x="457200" y="4626864"/>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5</a:t>
            </a:r>
          </a:p>
        </p:txBody>
      </p:sp>
      <p:sp>
        <p:nvSpPr>
          <p:cNvPr id="42" name="Rounded Rectangle 41"/>
          <p:cNvSpPr/>
          <p:nvPr/>
        </p:nvSpPr>
        <p:spPr>
          <a:xfrm>
            <a:off x="978408" y="449884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PREDICT </a:t>
            </a:r>
            <a:r>
              <a:rPr sz="1250" b="0">
                <a:solidFill>
                  <a:srgbClr val="272727"/>
                </a:solidFill>
                <a:latin typeface="Arial"/>
              </a:rPr>
              <a:t>arrival time at a chosen stop from stored trip history.</a:t>
            </a:r>
          </a:p>
        </p:txBody>
      </p:sp>
      <p:sp>
        <p:nvSpPr>
          <p:cNvPr id="43" name="Rounded Rectangle 42"/>
          <p:cNvSpPr/>
          <p:nvPr/>
        </p:nvSpPr>
        <p:spPr>
          <a:xfrm>
            <a:off x="7726679" y="4498848"/>
            <a:ext cx="4050791" cy="603504"/>
          </a:xfrm>
          <a:prstGeom prst="roundRect">
            <a:avLst>
              <a:gd name="adj" fmla="val 10606"/>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0A1D3D"/>
                </a:solidFill>
                <a:latin typeface="Arial"/>
              </a:rPr>
              <a:t>MAE ≤ 3 min per route on pilot data</a:t>
            </a:r>
          </a:p>
        </p:txBody>
      </p:sp>
      <p:sp>
        <p:nvSpPr>
          <p:cNvPr id="44" name="Oval 43"/>
          <p:cNvSpPr/>
          <p:nvPr/>
        </p:nvSpPr>
        <p:spPr>
          <a:xfrm>
            <a:off x="457200" y="5358383"/>
            <a:ext cx="384048" cy="384048"/>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6</a:t>
            </a:r>
          </a:p>
        </p:txBody>
      </p:sp>
      <p:sp>
        <p:nvSpPr>
          <p:cNvPr id="45" name="Rounded Rectangle 44"/>
          <p:cNvSpPr/>
          <p:nvPr/>
        </p:nvSpPr>
        <p:spPr>
          <a:xfrm>
            <a:off x="978408" y="5230368"/>
            <a:ext cx="6629400" cy="603504"/>
          </a:xfrm>
          <a:prstGeom prst="roundRect">
            <a:avLst>
              <a:gd name="adj" fmla="val 1060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250" b="1">
                <a:solidFill>
                  <a:srgbClr val="C70F2D"/>
                </a:solidFill>
                <a:latin typeface="Arial"/>
              </a:rPr>
              <a:t>MANAGE </a:t>
            </a:r>
            <a:r>
              <a:rPr sz="1250" b="0">
                <a:solidFill>
                  <a:srgbClr val="272727"/>
                </a:solidFill>
                <a:latin typeface="Arial"/>
              </a:rPr>
              <a:t>routes, stops, buses, drivers and trips, with exportable reports.</a:t>
            </a:r>
          </a:p>
        </p:txBody>
      </p:sp>
      <p:sp>
        <p:nvSpPr>
          <p:cNvPr id="46" name="Rounded Rectangle 45"/>
          <p:cNvSpPr/>
          <p:nvPr/>
        </p:nvSpPr>
        <p:spPr>
          <a:xfrm>
            <a:off x="7726679" y="5230368"/>
            <a:ext cx="4050791" cy="603504"/>
          </a:xfrm>
          <a:prstGeom prst="roundRect">
            <a:avLst>
              <a:gd name="adj" fmla="val 10606"/>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09728" bIns="36576">
            <a:noAutofit/>
          </a:bodyPr>
          <a:lstStyle/>
          <a:p>
            <a:pPr algn="l">
              <a:buNone/>
            </a:pPr>
            <a:r>
              <a:rPr sz="1150" b="1">
                <a:solidFill>
                  <a:srgbClr val="0A1D3D"/>
                </a:solidFill>
                <a:latin typeface="Arial"/>
              </a:rPr>
              <a:t>All 28 routes and 395 stops editable</a:t>
            </a:r>
          </a:p>
        </p:txBody>
      </p:sp>
      <p:sp>
        <p:nvSpPr>
          <p:cNvPr id="47" name="TextBox 46"/>
          <p:cNvSpPr txBox="1"/>
          <p:nvPr/>
        </p:nvSpPr>
        <p:spPr>
          <a:xfrm>
            <a:off x="7726679" y="6016752"/>
            <a:ext cx="4023360" cy="228600"/>
          </a:xfrm>
          <a:prstGeom prst="rect">
            <a:avLst/>
          </a:prstGeom>
          <a:noFill/>
        </p:spPr>
        <p:txBody>
          <a:bodyPr wrap="square" lIns="0" tIns="0" rIns="0" bIns="0" anchor="t">
            <a:noAutofit/>
          </a:bodyPr>
          <a:lstStyle/>
          <a:p>
            <a:pPr algn="l">
              <a:buNone/>
            </a:pPr>
            <a:r>
              <a:rPr sz="1000" b="1">
                <a:solidFill>
                  <a:srgbClr val="12A150"/>
                </a:solidFill>
                <a:latin typeface="Arial"/>
              </a:rPr>
              <a:t>Green = already measured in Module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PROJECT SCOPE</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72768"/>
            <a:ext cx="5577840" cy="4114800"/>
          </a:xfrm>
          <a:prstGeom prst="roundRect">
            <a:avLst>
              <a:gd name="adj" fmla="val 1555"/>
            </a:avLst>
          </a:prstGeom>
          <a:solidFill>
            <a:srgbClr val="E7F6EC"/>
          </a:solidFill>
          <a:ln w="12700">
            <a:solidFill>
              <a:srgbClr val="12A15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01168" tIns="146304" rIns="164592" bIns="91440">
            <a:noAutofit/>
          </a:bodyPr>
          <a:lstStyle/>
          <a:p>
            <a:pPr algn="l">
              <a:spcAft>
                <a:spcPts val="600"/>
              </a:spcAft>
              <a:buNone/>
            </a:pPr>
            <a:r>
              <a:rPr sz="1400" b="1">
                <a:solidFill>
                  <a:srgbClr val="12A150"/>
                </a:solidFill>
                <a:latin typeface="Arial"/>
              </a:rPr>
              <a:t>IN SCOPE</a:t>
            </a:r>
          </a:p>
          <a:p>
            <a:pPr algn="l" marL="155448" indent="-137160">
              <a:spcAft>
                <a:spcPts val="900"/>
              </a:spcAft>
              <a:buClr>
                <a:srgbClr val="C70F2D"/>
              </a:buClr>
              <a:buFont typeface="Arial"/>
              <a:buChar char="•"/>
            </a:pPr>
            <a:r>
              <a:rPr sz="1350" b="0">
                <a:solidFill>
                  <a:srgbClr val="272727"/>
                </a:solidFill>
                <a:latin typeface="Arial"/>
              </a:rPr>
              <a:t>Driver web app using the phone's GPS (Android wrapper later)</a:t>
            </a:r>
          </a:p>
          <a:p>
            <a:pPr algn="l" marL="155448" indent="-137160">
              <a:spcAft>
                <a:spcPts val="900"/>
              </a:spcAft>
              <a:buClr>
                <a:srgbClr val="C70F2D"/>
              </a:buClr>
              <a:buFont typeface="Arial"/>
              <a:buChar char="•"/>
            </a:pPr>
            <a:r>
              <a:rPr sz="1350" b="0">
                <a:solidFill>
                  <a:srgbClr val="272727"/>
                </a:solidFill>
                <a:latin typeface="Arial"/>
              </a:rPr>
              <a:t>Server validation, trips and full location history</a:t>
            </a:r>
          </a:p>
          <a:p>
            <a:pPr algn="l" marL="155448" indent="-137160">
              <a:spcAft>
                <a:spcPts val="900"/>
              </a:spcAft>
              <a:buClr>
                <a:srgbClr val="C70F2D"/>
              </a:buClr>
              <a:buFont typeface="Arial"/>
              <a:buChar char="•"/>
            </a:pPr>
            <a:r>
              <a:rPr sz="1350" b="0">
                <a:solidFill>
                  <a:srgbClr val="272727"/>
                </a:solidFill>
                <a:latin typeface="Arial"/>
              </a:rPr>
              <a:t>Student live map for 28 routes and 395 boarding points</a:t>
            </a:r>
          </a:p>
          <a:p>
            <a:pPr algn="l" marL="155448" indent="-137160">
              <a:spcAft>
                <a:spcPts val="900"/>
              </a:spcAft>
              <a:buClr>
                <a:srgbClr val="C70F2D"/>
              </a:buClr>
              <a:buFont typeface="Arial"/>
              <a:buChar char="•"/>
            </a:pPr>
            <a:r>
              <a:rPr sz="1350" b="0">
                <a:solidFill>
                  <a:srgbClr val="272727"/>
                </a:solidFill>
                <a:latin typeface="Arial"/>
              </a:rPr>
              <a:t>Freshness states, nearest stop and stop timeline</a:t>
            </a:r>
          </a:p>
          <a:p>
            <a:pPr algn="l" marL="155448" indent="-137160">
              <a:spcAft>
                <a:spcPts val="900"/>
              </a:spcAft>
              <a:buClr>
                <a:srgbClr val="C70F2D"/>
              </a:buClr>
              <a:buFont typeface="Arial"/>
              <a:buChar char="•"/>
            </a:pPr>
            <a:r>
              <a:rPr sz="1350" b="0">
                <a:solidFill>
                  <a:srgbClr val="272727"/>
                </a:solidFill>
                <a:latin typeface="Arial"/>
              </a:rPr>
              <a:t>ETA at a selected stop, evaluated with MAE</a:t>
            </a:r>
          </a:p>
          <a:p>
            <a:pPr algn="l" marL="155448" indent="-137160">
              <a:spcAft>
                <a:spcPts val="900"/>
              </a:spcAft>
              <a:buClr>
                <a:srgbClr val="C70F2D"/>
              </a:buClr>
              <a:buFont typeface="Arial"/>
              <a:buChar char="•"/>
            </a:pPr>
            <a:r>
              <a:rPr sz="1350" b="0">
                <a:solidFill>
                  <a:srgbClr val="272727"/>
                </a:solidFill>
                <a:latin typeface="Arial"/>
              </a:rPr>
              <a:t>Stop-approach and delay notifications (web push)</a:t>
            </a:r>
          </a:p>
          <a:p>
            <a:pPr algn="l" marL="155448" indent="-137160">
              <a:spcAft>
                <a:spcPts val="900"/>
              </a:spcAft>
              <a:buClr>
                <a:srgbClr val="C70F2D"/>
              </a:buClr>
              <a:buFont typeface="Arial"/>
              <a:buChar char="•"/>
            </a:pPr>
            <a:r>
              <a:rPr sz="1350" b="0">
                <a:solidFill>
                  <a:srgbClr val="272727"/>
                </a:solidFill>
                <a:latin typeface="Arial"/>
              </a:rPr>
              <a:t>Admin: routes, stops, buses, drivers and trips</a:t>
            </a:r>
          </a:p>
          <a:p>
            <a:pPr algn="l" marL="155448" indent="-137160">
              <a:spcAft>
                <a:spcPts val="900"/>
              </a:spcAft>
              <a:buClr>
                <a:srgbClr val="C70F2D"/>
              </a:buClr>
              <a:buFont typeface="Arial"/>
              <a:buChar char="•"/>
            </a:pPr>
            <a:r>
              <a:rPr sz="1350" b="0">
                <a:solidFill>
                  <a:srgbClr val="272727"/>
                </a:solidFill>
                <a:latin typeface="Arial"/>
              </a:rPr>
              <a:t>Trip reports (CSV) and a pilot on one route</a:t>
            </a:r>
          </a:p>
        </p:txBody>
      </p:sp>
      <p:sp>
        <p:nvSpPr>
          <p:cNvPr id="30" name="Rounded Rectangle 29"/>
          <p:cNvSpPr/>
          <p:nvPr/>
        </p:nvSpPr>
        <p:spPr>
          <a:xfrm>
            <a:off x="6199632" y="1572768"/>
            <a:ext cx="5577840" cy="4114800"/>
          </a:xfrm>
          <a:prstGeom prst="roundRect">
            <a:avLst>
              <a:gd name="adj" fmla="val 1555"/>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01168" tIns="146304" rIns="164592" bIns="91440">
            <a:noAutofit/>
          </a:bodyPr>
          <a:lstStyle/>
          <a:p>
            <a:pPr algn="l">
              <a:spcAft>
                <a:spcPts val="600"/>
              </a:spcAft>
              <a:buNone/>
            </a:pPr>
            <a:r>
              <a:rPr sz="1400" b="1">
                <a:solidFill>
                  <a:srgbClr val="C70F2D"/>
                </a:solidFill>
                <a:latin typeface="Arial"/>
              </a:rPr>
              <a:t>OUT OF SCOPE</a:t>
            </a:r>
          </a:p>
          <a:p>
            <a:pPr algn="l" marL="155448" indent="-137160">
              <a:spcAft>
                <a:spcPts val="900"/>
              </a:spcAft>
              <a:buClr>
                <a:srgbClr val="C70F2D"/>
              </a:buClr>
              <a:buFont typeface="Arial"/>
              <a:buChar char="•"/>
            </a:pPr>
            <a:r>
              <a:rPr sz="1350" b="1">
                <a:solidFill>
                  <a:srgbClr val="272727"/>
                </a:solidFill>
                <a:latin typeface="Arial"/>
              </a:rPr>
              <a:t>Ticketing, fees and payments</a:t>
            </a:r>
            <a:r>
              <a:rPr sz="1350" b="0">
                <a:solidFill>
                  <a:srgbClr val="666666"/>
                </a:solidFill>
                <a:latin typeface="Arial"/>
              </a:rPr>
              <a:t> — handled by the university office</a:t>
            </a:r>
          </a:p>
          <a:p>
            <a:pPr algn="l" marL="155448" indent="-137160">
              <a:spcAft>
                <a:spcPts val="900"/>
              </a:spcAft>
              <a:buClr>
                <a:srgbClr val="C70F2D"/>
              </a:buClr>
              <a:buFont typeface="Arial"/>
              <a:buChar char="•"/>
            </a:pPr>
            <a:r>
              <a:rPr sz="1350" b="1">
                <a:solidFill>
                  <a:srgbClr val="272727"/>
                </a:solidFill>
                <a:latin typeface="Arial"/>
              </a:rPr>
              <a:t>Dedicated GPS / IoT hardware</a:t>
            </a:r>
            <a:r>
              <a:rPr sz="1350" b="0">
                <a:solidFill>
                  <a:srgbClr val="666666"/>
                </a:solidFill>
                <a:latin typeface="Arial"/>
              </a:rPr>
              <a:t> — the phone is the tracker</a:t>
            </a:r>
          </a:p>
          <a:p>
            <a:pPr algn="l" marL="155448" indent="-137160">
              <a:spcAft>
                <a:spcPts val="900"/>
              </a:spcAft>
              <a:buClr>
                <a:srgbClr val="C70F2D"/>
              </a:buClr>
              <a:buFont typeface="Arial"/>
              <a:buChar char="•"/>
            </a:pPr>
            <a:r>
              <a:rPr sz="1350" b="1">
                <a:solidFill>
                  <a:srgbClr val="272727"/>
                </a:solidFill>
                <a:latin typeface="Arial"/>
              </a:rPr>
              <a:t>Seat-level occupancy sensors</a:t>
            </a:r>
            <a:r>
              <a:rPr sz="1350" b="0">
                <a:solidFill>
                  <a:srgbClr val="666666"/>
                </a:solidFill>
                <a:latin typeface="Arial"/>
              </a:rPr>
              <a:t> — needs hardware</a:t>
            </a:r>
          </a:p>
          <a:p>
            <a:pPr algn="l" marL="155448" indent="-137160">
              <a:spcAft>
                <a:spcPts val="900"/>
              </a:spcAft>
              <a:buClr>
                <a:srgbClr val="C70F2D"/>
              </a:buClr>
              <a:buFont typeface="Arial"/>
              <a:buChar char="•"/>
            </a:pPr>
            <a:r>
              <a:rPr sz="1350" b="1">
                <a:solidFill>
                  <a:srgbClr val="272727"/>
                </a:solidFill>
                <a:latin typeface="Arial"/>
              </a:rPr>
              <a:t>Route optimisation and re-planning</a:t>
            </a:r>
            <a:r>
              <a:rPr sz="1350" b="0">
                <a:solidFill>
                  <a:srgbClr val="666666"/>
                </a:solidFill>
                <a:latin typeface="Arial"/>
              </a:rPr>
              <a:t> — separate research problem</a:t>
            </a:r>
          </a:p>
          <a:p>
            <a:pPr algn="l" marL="155448" indent="-137160">
              <a:spcAft>
                <a:spcPts val="900"/>
              </a:spcAft>
              <a:buClr>
                <a:srgbClr val="C70F2D"/>
              </a:buClr>
              <a:buFont typeface="Arial"/>
              <a:buChar char="•"/>
            </a:pPr>
            <a:r>
              <a:rPr sz="1350" b="1">
                <a:solidFill>
                  <a:srgbClr val="272727"/>
                </a:solidFill>
                <a:latin typeface="Arial"/>
              </a:rPr>
              <a:t>Native iOS app</a:t>
            </a:r>
            <a:r>
              <a:rPr sz="1350" b="0">
                <a:solidFill>
                  <a:srgbClr val="666666"/>
                </a:solidFill>
                <a:latin typeface="Arial"/>
              </a:rPr>
              <a:t> — web app works on iPhone</a:t>
            </a:r>
          </a:p>
          <a:p>
            <a:pPr algn="l" marL="155448" indent="-137160">
              <a:spcAft>
                <a:spcPts val="900"/>
              </a:spcAft>
              <a:buClr>
                <a:srgbClr val="C70F2D"/>
              </a:buClr>
              <a:buFont typeface="Arial"/>
              <a:buChar char="•"/>
            </a:pPr>
            <a:r>
              <a:rPr sz="1350" b="1">
                <a:solidFill>
                  <a:srgbClr val="272727"/>
                </a:solidFill>
                <a:latin typeface="Arial"/>
              </a:rPr>
              <a:t>MTC / city bus integration</a:t>
            </a:r>
            <a:r>
              <a:rPr sz="1350" b="0">
                <a:solidFill>
                  <a:srgbClr val="666666"/>
                </a:solidFill>
                <a:latin typeface="Arial"/>
              </a:rPr>
              <a:t> — different operator</a:t>
            </a:r>
          </a:p>
          <a:p>
            <a:pPr algn="l" marL="155448" indent="-137160">
              <a:spcAft>
                <a:spcPts val="900"/>
              </a:spcAft>
              <a:buClr>
                <a:srgbClr val="C70F2D"/>
              </a:buClr>
              <a:buFont typeface="Arial"/>
              <a:buChar char="•"/>
            </a:pPr>
            <a:r>
              <a:rPr sz="1350" b="1">
                <a:solidFill>
                  <a:srgbClr val="272727"/>
                </a:solidFill>
                <a:latin typeface="Arial"/>
              </a:rPr>
              <a:t>SMS gateway for parents</a:t>
            </a:r>
            <a:r>
              <a:rPr sz="1350" b="0">
                <a:solidFill>
                  <a:srgbClr val="666666"/>
                </a:solidFill>
                <a:latin typeface="Arial"/>
              </a:rPr>
              <a:t> — needs a paid telecom API</a:t>
            </a:r>
          </a:p>
        </p:txBody>
      </p:sp>
      <p:sp>
        <p:nvSpPr>
          <p:cNvPr id="31" name="TextBox 30"/>
          <p:cNvSpPr txBox="1"/>
          <p:nvPr/>
        </p:nvSpPr>
        <p:spPr>
          <a:xfrm>
            <a:off x="530352" y="5833872"/>
            <a:ext cx="11155680" cy="274320"/>
          </a:xfrm>
          <a:prstGeom prst="rect">
            <a:avLst/>
          </a:prstGeom>
          <a:noFill/>
        </p:spPr>
        <p:txBody>
          <a:bodyPr wrap="square" lIns="0" tIns="0" rIns="0" bIns="0" anchor="t">
            <a:noAutofit/>
          </a:bodyPr>
          <a:lstStyle/>
          <a:p>
            <a:pPr algn="l">
              <a:buNone/>
            </a:pPr>
            <a:r>
              <a:rPr sz="1150" b="1">
                <a:solidFill>
                  <a:srgbClr val="0A1D3D"/>
                </a:solidFill>
                <a:latin typeface="Arial"/>
              </a:rPr>
              <a:t>Realistic for an MCA mini project: </a:t>
            </a:r>
            <a:r>
              <a:rPr sz="1150" b="0">
                <a:solidFill>
                  <a:srgbClr val="272727"/>
                </a:solidFill>
                <a:latin typeface="Arial"/>
              </a:rPr>
              <a:t>one developer, a web stack, no hardware purchase, pilot on a single route (118 Velachery).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INITIAL TECHNOLOGY IDENTIFICATION</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36192"/>
          <a:ext cx="11365992" cy="4315968"/>
        </p:xfrm>
        <a:graphic>
          <a:graphicData uri="http://schemas.openxmlformats.org/drawingml/2006/table">
            <a:tbl>
              <a:tblPr firstRow="0" bandRow="0">
                <a:tableStyleId>{5C22544A-7EE6-4342-B048-85BDC9FD1C3A}</a:tableStyleId>
              </a:tblPr>
              <a:tblGrid>
                <a:gridCol w="1463040"/>
                <a:gridCol w="3063240"/>
                <a:gridCol w="5148072"/>
                <a:gridCol w="1691640"/>
              </a:tblGrid>
              <a:tr h="384048">
                <a:tc>
                  <a:txBody>
                    <a:bodyPr wrap="square" lIns="73152" tIns="36576" rIns="73152" bIns="36576" anchor="t">
                      <a:noAutofit/>
                    </a:bodyPr>
                    <a:lstStyle/>
                    <a:p>
                      <a:pPr algn="l">
                        <a:buNone/>
                      </a:pPr>
                      <a:r>
                        <a:rPr sz="1100" b="1">
                          <a:solidFill>
                            <a:srgbClr val="FFFFFF"/>
                          </a:solidFill>
                          <a:latin typeface="Arial"/>
                        </a:rPr>
                        <a:t>Layer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Technology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Why it is suitable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Status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393192">
                <a:tc>
                  <a:txBody>
                    <a:bodyPr wrap="square" lIns="73152" tIns="36576" rIns="73152" bIns="36576" anchor="t">
                      <a:noAutofit/>
                    </a:bodyPr>
                    <a:lstStyle/>
                    <a:p>
                      <a:pPr algn="l">
                        <a:buNone/>
                      </a:pPr>
                      <a:r>
                        <a:rPr sz="1050" b="1">
                          <a:solidFill>
                            <a:srgbClr val="0A1D3D"/>
                          </a:solidFill>
                          <a:latin typeface="Arial"/>
                        </a:rPr>
                        <a:t>Frontend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React 19 + Vite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Component UI; one codebase for student and driver screens; fast builds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00" b="1">
                          <a:solidFill>
                            <a:srgbClr val="12A150"/>
                          </a:solidFill>
                          <a:latin typeface="Arial"/>
                        </a:rPr>
                        <a:t>Used in Module 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393192">
                <a:tc>
                  <a:txBody>
                    <a:bodyPr wrap="square" lIns="73152" tIns="36576" rIns="73152" bIns="36576" anchor="t">
                      <a:noAutofit/>
                    </a:bodyPr>
                    <a:lstStyle/>
                    <a:p>
                      <a:pPr algn="l">
                        <a:buNone/>
                      </a:pPr>
                      <a:r>
                        <a:rPr sz="1050" b="1">
                          <a:solidFill>
                            <a:srgbClr val="0A1D3D"/>
                          </a:solidFill>
                          <a:latin typeface="Arial"/>
                        </a:rPr>
                        <a:t>Maps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272727"/>
                          </a:solidFill>
                          <a:latin typeface="Arial"/>
                        </a:rPr>
                        <a:t>Leaflet + OpenStreetMap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Free map tiles with no API key or billing; markers and route lines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00" b="1">
                          <a:solidFill>
                            <a:srgbClr val="12A150"/>
                          </a:solidFill>
                          <a:latin typeface="Arial"/>
                        </a:rPr>
                        <a:t>Used in Module 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393192">
                <a:tc>
                  <a:txBody>
                    <a:bodyPr wrap="square" lIns="73152" tIns="36576" rIns="73152" bIns="36576" anchor="t">
                      <a:noAutofit/>
                    </a:bodyPr>
                    <a:lstStyle/>
                    <a:p>
                      <a:pPr algn="l">
                        <a:buNone/>
                      </a:pPr>
                      <a:r>
                        <a:rPr sz="1050" b="1">
                          <a:solidFill>
                            <a:srgbClr val="0A1D3D"/>
                          </a:solidFill>
                          <a:latin typeface="Arial"/>
                        </a:rPr>
                        <a:t>Backend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Node.js 24 + Express 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Non-blocking I/O suits many small GPS requests; same language as the UI</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00" b="1">
                          <a:solidFill>
                            <a:srgbClr val="12A150"/>
                          </a:solidFill>
                          <a:latin typeface="Arial"/>
                        </a:rPr>
                        <a:t>Used in Module 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393192">
                <a:tc>
                  <a:txBody>
                    <a:bodyPr wrap="square" lIns="73152" tIns="36576" rIns="73152" bIns="36576" anchor="t">
                      <a:noAutofit/>
                    </a:bodyPr>
                    <a:lstStyle/>
                    <a:p>
                      <a:pPr algn="l">
                        <a:buNone/>
                      </a:pPr>
                      <a:r>
                        <a:rPr sz="1050" b="1">
                          <a:solidFill>
                            <a:srgbClr val="0A1D3D"/>
                          </a:solidFill>
                          <a:latin typeface="Arial"/>
                        </a:rPr>
                        <a:t>Realtime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272727"/>
                          </a:solidFill>
                          <a:latin typeface="Arial"/>
                        </a:rPr>
                        <a:t>Socket.IO 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WebSocket with automatic reconnect and one room per route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00" b="1">
                          <a:solidFill>
                            <a:srgbClr val="12A150"/>
                          </a:solidFill>
                          <a:latin typeface="Arial"/>
                        </a:rPr>
                        <a:t>Used in Module 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393192">
                <a:tc>
                  <a:txBody>
                    <a:bodyPr wrap="square" lIns="73152" tIns="36576" rIns="73152" bIns="36576" anchor="t">
                      <a:noAutofit/>
                    </a:bodyPr>
                    <a:lstStyle/>
                    <a:p>
                      <a:pPr algn="l">
                        <a:buNone/>
                      </a:pPr>
                      <a:r>
                        <a:rPr sz="1050" b="1">
                          <a:solidFill>
                            <a:srgbClr val="0A1D3D"/>
                          </a:solidFill>
                          <a:latin typeface="Arial"/>
                        </a:rPr>
                        <a:t>Database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PostgreSQL (PGlite locally, Supabase hosted)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Transactions, partial unique indexes, upserts; PostGIS for spatial queries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00" b="1">
                          <a:solidFill>
                            <a:srgbClr val="12A150"/>
                          </a:solidFill>
                          <a:latin typeface="Arial"/>
                        </a:rPr>
                        <a:t>Used · PostGIS in M2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393192">
                <a:tc>
                  <a:txBody>
                    <a:bodyPr wrap="square" lIns="73152" tIns="36576" rIns="73152" bIns="36576" anchor="t">
                      <a:noAutofit/>
                    </a:bodyPr>
                    <a:lstStyle/>
                    <a:p>
                      <a:pPr algn="l">
                        <a:buNone/>
                      </a:pPr>
                      <a:r>
                        <a:rPr sz="1050" b="1">
                          <a:solidFill>
                            <a:srgbClr val="0A1D3D"/>
                          </a:solidFill>
                          <a:latin typeface="Arial"/>
                        </a:rPr>
                        <a:t>Security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272727"/>
                          </a:solidFill>
                          <a:latin typeface="Arial"/>
                        </a:rPr>
                        <a:t>JWT + bcrypt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Stateless role-based tokens; passwords stored only as hashes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00" b="1">
                          <a:solidFill>
                            <a:srgbClr val="12A150"/>
                          </a:solidFill>
                          <a:latin typeface="Arial"/>
                        </a:rPr>
                        <a:t>Used in Module 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393192">
                <a:tc>
                  <a:txBody>
                    <a:bodyPr wrap="square" lIns="73152" tIns="36576" rIns="73152" bIns="36576" anchor="t">
                      <a:noAutofit/>
                    </a:bodyPr>
                    <a:lstStyle/>
                    <a:p>
                      <a:pPr algn="l">
                        <a:buNone/>
                      </a:pPr>
                      <a:r>
                        <a:rPr sz="1050" b="1">
                          <a:solidFill>
                            <a:srgbClr val="0A1D3D"/>
                          </a:solidFill>
                          <a:latin typeface="Arial"/>
                        </a:rPr>
                        <a:t>GPS source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Browser Geolocation API → Android app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High-accuracy location from the driver's phone; no hardware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00" b="1">
                          <a:solidFill>
                            <a:srgbClr val="12A150"/>
                          </a:solidFill>
                          <a:latin typeface="Arial"/>
                        </a:rPr>
                        <a:t>Web in M1 · Android M6</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393192">
                <a:tc>
                  <a:txBody>
                    <a:bodyPr wrap="square" lIns="73152" tIns="36576" rIns="73152" bIns="36576" anchor="t">
                      <a:noAutofit/>
                    </a:bodyPr>
                    <a:lstStyle/>
                    <a:p>
                      <a:pPr algn="l">
                        <a:buNone/>
                      </a:pPr>
                      <a:r>
                        <a:rPr sz="1050" b="1">
                          <a:solidFill>
                            <a:srgbClr val="0A1D3D"/>
                          </a:solidFill>
                          <a:latin typeface="Arial"/>
                        </a:rPr>
                        <a:t>AI / ML (ETA)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272727"/>
                          </a:solidFill>
                          <a:latin typeface="Arial"/>
                        </a:rPr>
                        <a:t>Python, pandas, scikit-learn (Gradient Boosting)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Learns segment time by time band; compared with a historical-mean baseline by MAE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00" b="1">
                          <a:solidFill>
                            <a:srgbClr val="666666"/>
                          </a:solidFill>
                          <a:latin typeface="Arial"/>
                        </a:rPr>
                        <a:t>Module 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393192">
                <a:tc>
                  <a:txBody>
                    <a:bodyPr wrap="square" lIns="73152" tIns="36576" rIns="73152" bIns="36576" anchor="t">
                      <a:noAutofit/>
                    </a:bodyPr>
                    <a:lstStyle/>
                    <a:p>
                      <a:pPr algn="l">
                        <a:buNone/>
                      </a:pPr>
                      <a:r>
                        <a:rPr sz="1050" b="1">
                          <a:solidFill>
                            <a:srgbClr val="0A1D3D"/>
                          </a:solidFill>
                          <a:latin typeface="Arial"/>
                        </a:rPr>
                        <a:t>Notifications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Web Push API (service worker)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Free push notifications to phone browsers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00" b="1">
                          <a:solidFill>
                            <a:srgbClr val="666666"/>
                          </a:solidFill>
                          <a:latin typeface="Arial"/>
                        </a:rPr>
                        <a:t>Module 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393192">
                <a:tc>
                  <a:txBody>
                    <a:bodyPr wrap="square" lIns="73152" tIns="36576" rIns="73152" bIns="36576" anchor="t">
                      <a:noAutofit/>
                    </a:bodyPr>
                    <a:lstStyle/>
                    <a:p>
                      <a:pPr algn="l">
                        <a:buNone/>
                      </a:pPr>
                      <a:r>
                        <a:rPr sz="1050" b="1">
                          <a:solidFill>
                            <a:srgbClr val="0A1D3D"/>
                          </a:solidFill>
                          <a:latin typeface="Arial"/>
                        </a:rPr>
                        <a:t>Test &amp; hosting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272727"/>
                          </a:solidFill>
                          <a:latin typeface="Arial"/>
                        </a:rPr>
                        <a:t>node:test · Render + Supabase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Automated tests; free-tier https hosting (phone GPS requires https)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00" b="1">
                          <a:solidFill>
                            <a:srgbClr val="12A150"/>
                          </a:solidFill>
                          <a:latin typeface="Arial"/>
                        </a:rPr>
                        <a:t>Tests in M1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DATA / DATASET IDENTIFICATION</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72768"/>
            <a:ext cx="3703320" cy="4069080"/>
          </a:xfrm>
          <a:prstGeom prst="roundRect">
            <a:avLst>
              <a:gd name="adj" fmla="val 1728"/>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37160" bIns="73152">
            <a:noAutofit/>
          </a:bodyPr>
          <a:lstStyle/>
          <a:p>
            <a:pPr algn="l">
              <a:buNone/>
            </a:pPr>
            <a:r>
              <a:rPr sz="1350" b="1">
                <a:solidFill>
                  <a:srgbClr val="C70F2D"/>
                </a:solidFill>
                <a:latin typeface="Arial"/>
              </a:rPr>
              <a:t>1  </a:t>
            </a:r>
            <a:r>
              <a:rPr sz="1350" b="1">
                <a:solidFill>
                  <a:srgbClr val="0A1D3D"/>
                </a:solidFill>
                <a:latin typeface="Arial"/>
              </a:rPr>
              <a:t>BSACIST BUS ROUTE 2026-27</a:t>
            </a:r>
          </a:p>
          <a:p>
            <a:pPr algn="l">
              <a:spcAft>
                <a:spcPts val="600"/>
              </a:spcAft>
              <a:buNone/>
            </a:pPr>
            <a:r>
              <a:rPr sz="1000" b="1">
                <a:solidFill>
                  <a:srgbClr val="C70F2D"/>
                </a:solidFill>
                <a:latin typeface="Arial"/>
              </a:rPr>
              <a:t>Primary reference data</a:t>
            </a:r>
          </a:p>
          <a:p>
            <a:pPr algn="l">
              <a:spcAft>
                <a:spcPts val="1100"/>
              </a:spcAft>
              <a:buNone/>
            </a:pPr>
            <a:r>
              <a:rPr sz="1250" b="1">
                <a:solidFill>
                  <a:srgbClr val="0A1D3D"/>
                </a:solidFill>
                <a:latin typeface="Arial"/>
              </a:rPr>
              <a:t>Source: </a:t>
            </a:r>
            <a:r>
              <a:rPr sz="1250" b="0">
                <a:solidFill>
                  <a:srgbClr val="272727"/>
                </a:solidFill>
                <a:latin typeface="Arial"/>
              </a:rPr>
              <a:t>Estate Office – Transport Dept. circular for the academic year 2026-2027</a:t>
            </a:r>
          </a:p>
          <a:p>
            <a:pPr algn="l">
              <a:spcAft>
                <a:spcPts val="1100"/>
              </a:spcAft>
              <a:buNone/>
            </a:pPr>
            <a:r>
              <a:rPr sz="1250" b="1">
                <a:solidFill>
                  <a:srgbClr val="0A1D3D"/>
                </a:solidFill>
                <a:latin typeface="Arial"/>
              </a:rPr>
              <a:t>Size: </a:t>
            </a:r>
            <a:r>
              <a:rPr sz="1250" b="0">
                <a:solidFill>
                  <a:srgbClr val="272727"/>
                </a:solidFill>
                <a:latin typeface="Arial"/>
              </a:rPr>
              <a:t>28 routes · 28 buses · 395 boarding points</a:t>
            </a:r>
          </a:p>
          <a:p>
            <a:pPr algn="l">
              <a:spcAft>
                <a:spcPts val="1100"/>
              </a:spcAft>
              <a:buNone/>
            </a:pPr>
            <a:r>
              <a:rPr sz="1250" b="1">
                <a:solidFill>
                  <a:srgbClr val="0A1D3D"/>
                </a:solidFill>
                <a:latin typeface="Arial"/>
              </a:rPr>
              <a:t>Attributes: </a:t>
            </a:r>
            <a:r>
              <a:rPr sz="1250" b="0">
                <a:solidFill>
                  <a:srgbClr val="272727"/>
                </a:solidFill>
                <a:latin typeface="Arial"/>
              </a:rPr>
              <a:t>route code, name, start, end, departure; per stop: order, name, scheduled time, offset, fee; bus type, seats, AC</a:t>
            </a:r>
          </a:p>
          <a:p>
            <a:pPr algn="l">
              <a:spcAft>
                <a:spcPts val="1100"/>
              </a:spcAft>
              <a:buNone/>
            </a:pPr>
            <a:r>
              <a:rPr sz="1250" b="1">
                <a:solidFill>
                  <a:srgbClr val="0A1D3D"/>
                </a:solidFill>
                <a:latin typeface="Arial"/>
              </a:rPr>
              <a:t>Coordinates: </a:t>
            </a:r>
            <a:r>
              <a:rPr sz="1250" b="0">
                <a:solidFill>
                  <a:srgbClr val="272727"/>
                </a:solidFill>
                <a:latin typeface="Arial"/>
              </a:rPr>
              <a:t>285 stops geocoded to locality centroids; 110 interpolated between neighbours (shown “approx.”)</a:t>
            </a:r>
          </a:p>
        </p:txBody>
      </p:sp>
      <p:sp>
        <p:nvSpPr>
          <p:cNvPr id="30" name="Rounded Rectangle 29"/>
          <p:cNvSpPr/>
          <p:nvPr/>
        </p:nvSpPr>
        <p:spPr>
          <a:xfrm>
            <a:off x="4242816" y="1572768"/>
            <a:ext cx="3703320" cy="4069080"/>
          </a:xfrm>
          <a:prstGeom prst="roundRect">
            <a:avLst>
              <a:gd name="adj" fmla="val 1728"/>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37160" bIns="73152">
            <a:noAutofit/>
          </a:bodyPr>
          <a:lstStyle/>
          <a:p>
            <a:pPr algn="l">
              <a:buNone/>
            </a:pPr>
            <a:r>
              <a:rPr sz="1350" b="1">
                <a:solidFill>
                  <a:srgbClr val="C70F2D"/>
                </a:solidFill>
                <a:latin typeface="Arial"/>
              </a:rPr>
              <a:t>2  </a:t>
            </a:r>
            <a:r>
              <a:rPr sz="1350" b="1">
                <a:solidFill>
                  <a:srgbClr val="0A1D3D"/>
                </a:solidFill>
                <a:latin typeface="Arial"/>
              </a:rPr>
              <a:t>LIVE GPS STREAM</a:t>
            </a:r>
          </a:p>
          <a:p>
            <a:pPr algn="l">
              <a:spcAft>
                <a:spcPts val="600"/>
              </a:spcAft>
              <a:buNone/>
            </a:pPr>
            <a:r>
              <a:rPr sz="1000" b="1">
                <a:solidFill>
                  <a:srgbClr val="C70F2D"/>
                </a:solidFill>
                <a:latin typeface="Arial"/>
              </a:rPr>
              <a:t>Collected by this system</a:t>
            </a:r>
          </a:p>
          <a:p>
            <a:pPr algn="l">
              <a:spcAft>
                <a:spcPts val="1100"/>
              </a:spcAft>
              <a:buNone/>
            </a:pPr>
            <a:r>
              <a:rPr sz="1250" b="1">
                <a:solidFill>
                  <a:srgbClr val="0A1D3D"/>
                </a:solidFill>
                <a:latin typeface="Arial"/>
              </a:rPr>
              <a:t>Method: </a:t>
            </a:r>
            <a:r>
              <a:rPr sz="1250" b="0">
                <a:solidFill>
                  <a:srgbClr val="272727"/>
                </a:solidFill>
                <a:latin typeface="Arial"/>
              </a:rPr>
              <a:t>Driver phone, Geolocation API, one fix every 5–15 s</a:t>
            </a:r>
          </a:p>
          <a:p>
            <a:pPr algn="l">
              <a:spcAft>
                <a:spcPts val="1100"/>
              </a:spcAft>
              <a:buNone/>
            </a:pPr>
            <a:r>
              <a:rPr sz="1250" b="1">
                <a:solidFill>
                  <a:srgbClr val="0A1D3D"/>
                </a:solidFill>
                <a:latin typeface="Arial"/>
              </a:rPr>
              <a:t>Attributes: </a:t>
            </a:r>
            <a:r>
              <a:rPr sz="1250" b="0">
                <a:solidFill>
                  <a:srgbClr val="272727"/>
                </a:solidFill>
                <a:latin typeface="Arial"/>
              </a:rPr>
              <a:t>lat, lng, speed, heading, accuracy, recorded_at, received_at, trip, bus</a:t>
            </a:r>
          </a:p>
          <a:p>
            <a:pPr algn="l">
              <a:spcAft>
                <a:spcPts val="1100"/>
              </a:spcAft>
              <a:buNone/>
            </a:pPr>
            <a:r>
              <a:rPr sz="1250" b="1">
                <a:solidFill>
                  <a:srgbClr val="0A1D3D"/>
                </a:solidFill>
                <a:latin typeface="Arial"/>
              </a:rPr>
              <a:t>Size: </a:t>
            </a:r>
            <a:r>
              <a:rPr sz="1250" b="0">
                <a:solidFill>
                  <a:srgbClr val="272727"/>
                </a:solidFill>
                <a:latin typeface="Arial"/>
              </a:rPr>
              <a:t>28 buses × ~96 min each way × 2 × 1 fix / 5 s ≈ 65,000 fixes / day ≈ 1.4 M / month</a:t>
            </a:r>
          </a:p>
          <a:p>
            <a:pPr algn="l">
              <a:spcAft>
                <a:spcPts val="1100"/>
              </a:spcAft>
              <a:buNone/>
            </a:pPr>
            <a:r>
              <a:rPr sz="1250" b="1">
                <a:solidFill>
                  <a:srgbClr val="0A1D3D"/>
                </a:solidFill>
                <a:latin typeface="Arial"/>
              </a:rPr>
              <a:t>Quality: </a:t>
            </a:r>
            <a:r>
              <a:rPr sz="1250" b="0">
                <a:solidFill>
                  <a:srgbClr val="272727"/>
                </a:solidFill>
                <a:latin typeface="Arial"/>
              </a:rPr>
              <a:t>Rejected fixes stored with their reason</a:t>
            </a:r>
          </a:p>
        </p:txBody>
      </p:sp>
      <p:sp>
        <p:nvSpPr>
          <p:cNvPr id="31" name="Rounded Rectangle 30"/>
          <p:cNvSpPr/>
          <p:nvPr/>
        </p:nvSpPr>
        <p:spPr>
          <a:xfrm>
            <a:off x="8074152" y="1572768"/>
            <a:ext cx="3703320" cy="4069080"/>
          </a:xfrm>
          <a:prstGeom prst="roundRect">
            <a:avLst>
              <a:gd name="adj" fmla="val 1728"/>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37160" bIns="73152">
            <a:noAutofit/>
          </a:bodyPr>
          <a:lstStyle/>
          <a:p>
            <a:pPr algn="l">
              <a:buNone/>
            </a:pPr>
            <a:r>
              <a:rPr sz="1350" b="1">
                <a:solidFill>
                  <a:srgbClr val="C70F2D"/>
                </a:solidFill>
                <a:latin typeface="Arial"/>
              </a:rPr>
              <a:t>3  </a:t>
            </a:r>
            <a:r>
              <a:rPr sz="1350" b="1">
                <a:solidFill>
                  <a:srgbClr val="0A1D3D"/>
                </a:solidFill>
                <a:latin typeface="Arial"/>
              </a:rPr>
              <a:t>ETA TRAINING SET</a:t>
            </a:r>
          </a:p>
          <a:p>
            <a:pPr algn="l">
              <a:spcAft>
                <a:spcPts val="600"/>
              </a:spcAft>
              <a:buNone/>
            </a:pPr>
            <a:r>
              <a:rPr sz="1000" b="1">
                <a:solidFill>
                  <a:srgbClr val="C70F2D"/>
                </a:solidFill>
                <a:latin typeface="Arial"/>
              </a:rPr>
              <a:t>Derived from stream 2 · Module 2</a:t>
            </a:r>
          </a:p>
          <a:p>
            <a:pPr algn="l">
              <a:spcAft>
                <a:spcPts val="1100"/>
              </a:spcAft>
              <a:buNone/>
            </a:pPr>
            <a:r>
              <a:rPr sz="1250" b="1">
                <a:solidFill>
                  <a:srgbClr val="0A1D3D"/>
                </a:solidFill>
                <a:latin typeface="Arial"/>
              </a:rPr>
              <a:t>Events: </a:t>
            </a:r>
            <a:r>
              <a:rPr sz="1250" b="0">
                <a:solidFill>
                  <a:srgbClr val="272727"/>
                </a:solidFill>
                <a:latin typeface="Arial"/>
              </a:rPr>
              <a:t>Stop arrival = bus within 50 m of a stop</a:t>
            </a:r>
          </a:p>
          <a:p>
            <a:pPr algn="l">
              <a:spcAft>
                <a:spcPts val="1100"/>
              </a:spcAft>
              <a:buNone/>
            </a:pPr>
            <a:r>
              <a:rPr sz="1250" b="1">
                <a:solidFill>
                  <a:srgbClr val="0A1D3D"/>
                </a:solidFill>
                <a:latin typeface="Arial"/>
              </a:rPr>
              <a:t>Features: </a:t>
            </a:r>
            <a:r>
              <a:rPr sz="1250" b="0">
                <a:solidFill>
                  <a:srgbClr val="272727"/>
                </a:solidFill>
                <a:latin typeface="Arial"/>
              </a:rPr>
              <a:t>segment, time of day, weekday, previous-segment delay, speed</a:t>
            </a:r>
          </a:p>
          <a:p>
            <a:pPr algn="l">
              <a:spcAft>
                <a:spcPts val="1100"/>
              </a:spcAft>
              <a:buNone/>
            </a:pPr>
            <a:r>
              <a:rPr sz="1250" b="1">
                <a:solidFill>
                  <a:srgbClr val="0A1D3D"/>
                </a:solidFill>
                <a:latin typeface="Arial"/>
              </a:rPr>
              <a:t>Label: </a:t>
            </a:r>
            <a:r>
              <a:rPr sz="1250" b="0">
                <a:solidFill>
                  <a:srgbClr val="272727"/>
                </a:solidFill>
                <a:latin typeface="Arial"/>
              </a:rPr>
              <a:t>actual arrival time at each stop</a:t>
            </a:r>
          </a:p>
          <a:p>
            <a:pPr algn="l">
              <a:spcAft>
                <a:spcPts val="1100"/>
              </a:spcAft>
              <a:buNone/>
            </a:pPr>
            <a:r>
              <a:rPr sz="1250" b="1">
                <a:solidFill>
                  <a:srgbClr val="0A1D3D"/>
                </a:solidFill>
                <a:latin typeface="Arial"/>
              </a:rPr>
              <a:t>Evaluation: </a:t>
            </a:r>
            <a:r>
              <a:rPr sz="1250" b="0">
                <a:solidFill>
                  <a:srgbClr val="272727"/>
                </a:solidFill>
                <a:latin typeface="Arial"/>
              </a:rPr>
              <a:t>train on earlier weeks, test on later weeks; MAE per route and time band</a:t>
            </a:r>
          </a:p>
        </p:txBody>
      </p:sp>
      <p:sp>
        <p:nvSpPr>
          <p:cNvPr id="32" name="TextBox 31"/>
          <p:cNvSpPr txBox="1"/>
          <p:nvPr/>
        </p:nvSpPr>
        <p:spPr>
          <a:xfrm>
            <a:off x="530352" y="5806440"/>
            <a:ext cx="11155680" cy="320040"/>
          </a:xfrm>
          <a:prstGeom prst="rect">
            <a:avLst/>
          </a:prstGeom>
          <a:noFill/>
        </p:spPr>
        <p:txBody>
          <a:bodyPr wrap="square" lIns="0" tIns="0" rIns="0" bIns="0" anchor="t">
            <a:noAutofit/>
          </a:bodyPr>
          <a:lstStyle/>
          <a:p>
            <a:pPr algn="l">
              <a:buNone/>
            </a:pPr>
            <a:r>
              <a:rPr sz="1150" b="1">
                <a:solidFill>
                  <a:srgbClr val="C70F2D"/>
                </a:solidFill>
                <a:latin typeface="Arial"/>
              </a:rPr>
              <a:t>Pilot: </a:t>
            </a:r>
            <a:r>
              <a:rPr sz="1150" b="0">
                <a:solidFill>
                  <a:srgbClr val="272727"/>
                </a:solidFill>
                <a:latin typeface="Arial"/>
              </a:rPr>
              <a:t>route 118 Velachery (14 stops) — replace approximate stop coordinates with positions measured from real bus stops.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SYSTEM DESIGN — ARCHITECTURE</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54480"/>
            <a:ext cx="11365992" cy="960120"/>
          </a:xfrm>
          <a:prstGeom prst="roundRect">
            <a:avLst>
              <a:gd name="adj" fmla="val 666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buNone/>
            </a:pPr>
            <a:r>
              <a:rPr sz="1200" b="0">
                <a:solidFill>
                  <a:srgbClr val="272727"/>
                </a:solidFill>
                <a:latin typeface="Arial"/>
              </a:rPr>
              <a:t/>
            </a:r>
          </a:p>
        </p:txBody>
      </p:sp>
      <p:sp>
        <p:nvSpPr>
          <p:cNvPr id="30" name="TextBox 29"/>
          <p:cNvSpPr txBox="1"/>
          <p:nvPr/>
        </p:nvSpPr>
        <p:spPr>
          <a:xfrm>
            <a:off x="566928" y="1645920"/>
            <a:ext cx="1417320" cy="777240"/>
          </a:xfrm>
          <a:prstGeom prst="rect">
            <a:avLst/>
          </a:prstGeom>
          <a:noFill/>
        </p:spPr>
        <p:txBody>
          <a:bodyPr wrap="square" lIns="0" tIns="0" rIns="0" bIns="0" anchor="ctr">
            <a:noAutofit/>
          </a:bodyPr>
          <a:lstStyle/>
          <a:p>
            <a:pPr algn="l">
              <a:buNone/>
            </a:pPr>
            <a:r>
              <a:rPr sz="1300" b="1">
                <a:solidFill>
                  <a:srgbClr val="0A1D3D"/>
                </a:solidFill>
                <a:latin typeface="Arial"/>
              </a:rPr>
              <a:t>CLIENTS</a:t>
            </a:r>
          </a:p>
          <a:p>
            <a:pPr algn="l">
              <a:spcBef>
                <a:spcPts val="200"/>
              </a:spcBef>
              <a:buNone/>
            </a:pPr>
            <a:r>
              <a:rPr sz="1000" b="0">
                <a:solidFill>
                  <a:srgbClr val="666666"/>
                </a:solidFill>
                <a:latin typeface="Arial"/>
              </a:rPr>
              <a:t>React + Leaflet</a:t>
            </a:r>
          </a:p>
        </p:txBody>
      </p:sp>
      <p:sp>
        <p:nvSpPr>
          <p:cNvPr id="31" name="Rounded Rectangle 30"/>
          <p:cNvSpPr/>
          <p:nvPr/>
        </p:nvSpPr>
        <p:spPr>
          <a:xfrm>
            <a:off x="2103120" y="1682495"/>
            <a:ext cx="309371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Driver App</a:t>
            </a:r>
          </a:p>
          <a:p>
            <a:pPr algn="ctr">
              <a:buNone/>
            </a:pPr>
            <a:r>
              <a:rPr sz="900" b="0">
                <a:solidFill>
                  <a:srgbClr val="D5DCE8"/>
                </a:solidFill>
                <a:latin typeface="Arial"/>
              </a:rPr>
              <a:t>phone GPS, trip control</a:t>
            </a:r>
          </a:p>
        </p:txBody>
      </p:sp>
      <p:sp>
        <p:nvSpPr>
          <p:cNvPr id="32" name="Rounded Rectangle 31"/>
          <p:cNvSpPr/>
          <p:nvPr/>
        </p:nvSpPr>
        <p:spPr>
          <a:xfrm>
            <a:off x="5333999" y="1682495"/>
            <a:ext cx="309371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Student Live Map</a:t>
            </a:r>
          </a:p>
          <a:p>
            <a:pPr algn="ctr">
              <a:buNone/>
            </a:pPr>
            <a:r>
              <a:rPr sz="900" b="0">
                <a:solidFill>
                  <a:srgbClr val="D5DCE8"/>
                </a:solidFill>
                <a:latin typeface="Arial"/>
              </a:rPr>
              <a:t>freshness, nearest stop</a:t>
            </a:r>
          </a:p>
        </p:txBody>
      </p:sp>
      <p:sp>
        <p:nvSpPr>
          <p:cNvPr id="33" name="Rounded Rectangle 32"/>
          <p:cNvSpPr/>
          <p:nvPr/>
        </p:nvSpPr>
        <p:spPr>
          <a:xfrm>
            <a:off x="8564879" y="1682495"/>
            <a:ext cx="3093719" cy="704088"/>
          </a:xfrm>
          <a:prstGeom prst="roundRect">
            <a:avLst>
              <a:gd name="adj" fmla="val 9090"/>
            </a:avLst>
          </a:prstGeom>
          <a:solidFill>
            <a:srgbClr val="FFFFFF"/>
          </a:solidFill>
          <a:ln w="12700">
            <a:solidFill>
              <a:srgbClr val="8A94A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666666"/>
                </a:solidFill>
                <a:latin typeface="Arial"/>
              </a:rPr>
              <a:t>Admin Dashboard</a:t>
            </a:r>
          </a:p>
          <a:p>
            <a:pPr algn="ctr">
              <a:buNone/>
            </a:pPr>
            <a:r>
              <a:rPr sz="900" b="0">
                <a:solidFill>
                  <a:srgbClr val="666666"/>
                </a:solidFill>
                <a:latin typeface="Arial"/>
              </a:rPr>
              <a:t>fleet, routes, reports</a:t>
            </a:r>
          </a:p>
        </p:txBody>
      </p:sp>
      <p:sp>
        <p:nvSpPr>
          <p:cNvPr id="34" name="Rounded Rectangle 33"/>
          <p:cNvSpPr/>
          <p:nvPr/>
        </p:nvSpPr>
        <p:spPr>
          <a:xfrm>
            <a:off x="411480" y="2852928"/>
            <a:ext cx="11365992" cy="1207008"/>
          </a:xfrm>
          <a:prstGeom prst="roundRect">
            <a:avLst>
              <a:gd name="adj" fmla="val 5303"/>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buNone/>
            </a:pPr>
            <a:r>
              <a:rPr sz="1200" b="0">
                <a:solidFill>
                  <a:srgbClr val="272727"/>
                </a:solidFill>
                <a:latin typeface="Arial"/>
              </a:rPr>
              <a:t/>
            </a:r>
          </a:p>
        </p:txBody>
      </p:sp>
      <p:sp>
        <p:nvSpPr>
          <p:cNvPr id="35" name="TextBox 34"/>
          <p:cNvSpPr txBox="1"/>
          <p:nvPr/>
        </p:nvSpPr>
        <p:spPr>
          <a:xfrm>
            <a:off x="566928" y="2944368"/>
            <a:ext cx="1417320" cy="1024128"/>
          </a:xfrm>
          <a:prstGeom prst="rect">
            <a:avLst/>
          </a:prstGeom>
          <a:noFill/>
        </p:spPr>
        <p:txBody>
          <a:bodyPr wrap="square" lIns="0" tIns="0" rIns="0" bIns="0" anchor="ctr">
            <a:noAutofit/>
          </a:bodyPr>
          <a:lstStyle/>
          <a:p>
            <a:pPr algn="l">
              <a:buNone/>
            </a:pPr>
            <a:r>
              <a:rPr sz="1300" b="1">
                <a:solidFill>
                  <a:srgbClr val="0A1D3D"/>
                </a:solidFill>
                <a:latin typeface="Arial"/>
              </a:rPr>
              <a:t>SERVER</a:t>
            </a:r>
          </a:p>
          <a:p>
            <a:pPr algn="l">
              <a:spcBef>
                <a:spcPts val="200"/>
              </a:spcBef>
              <a:buNone/>
            </a:pPr>
            <a:r>
              <a:rPr sz="1000" b="0">
                <a:solidFill>
                  <a:srgbClr val="666666"/>
                </a:solidFill>
                <a:latin typeface="Arial"/>
              </a:rPr>
              <a:t>Node.js + Express</a:t>
            </a:r>
          </a:p>
        </p:txBody>
      </p:sp>
      <p:sp>
        <p:nvSpPr>
          <p:cNvPr id="36" name="Rounded Rectangle 35"/>
          <p:cNvSpPr/>
          <p:nvPr/>
        </p:nvSpPr>
        <p:spPr>
          <a:xfrm>
            <a:off x="2103120" y="2980944"/>
            <a:ext cx="1478279" cy="950976"/>
          </a:xfrm>
          <a:prstGeom prst="roundRect">
            <a:avLst>
              <a:gd name="adj" fmla="val 673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Auth</a:t>
            </a:r>
          </a:p>
          <a:p>
            <a:pPr algn="ctr">
              <a:buNone/>
            </a:pPr>
            <a:r>
              <a:rPr sz="900" b="0">
                <a:solidFill>
                  <a:srgbClr val="D5DCE8"/>
                </a:solidFill>
                <a:latin typeface="Arial"/>
              </a:rPr>
              <a:t>JWT · roles</a:t>
            </a:r>
          </a:p>
        </p:txBody>
      </p:sp>
      <p:sp>
        <p:nvSpPr>
          <p:cNvPr id="37" name="Rounded Rectangle 36"/>
          <p:cNvSpPr/>
          <p:nvPr/>
        </p:nvSpPr>
        <p:spPr>
          <a:xfrm>
            <a:off x="3718560" y="2980944"/>
            <a:ext cx="1478279" cy="950976"/>
          </a:xfrm>
          <a:prstGeom prst="roundRect">
            <a:avLst>
              <a:gd name="adj" fmla="val 673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Trip service</a:t>
            </a:r>
          </a:p>
          <a:p>
            <a:pPr algn="ctr">
              <a:buNone/>
            </a:pPr>
            <a:r>
              <a:rPr sz="900" b="0">
                <a:solidFill>
                  <a:srgbClr val="D5DCE8"/>
                </a:solidFill>
                <a:latin typeface="Arial"/>
              </a:rPr>
              <a:t>one active trip / bus</a:t>
            </a:r>
          </a:p>
        </p:txBody>
      </p:sp>
      <p:sp>
        <p:nvSpPr>
          <p:cNvPr id="38" name="Rounded Rectangle 37"/>
          <p:cNvSpPr/>
          <p:nvPr/>
        </p:nvSpPr>
        <p:spPr>
          <a:xfrm>
            <a:off x="5333999" y="2980944"/>
            <a:ext cx="1478279" cy="950976"/>
          </a:xfrm>
          <a:prstGeom prst="roundRect">
            <a:avLst>
              <a:gd name="adj" fmla="val 673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Ingest + Validation</a:t>
            </a:r>
          </a:p>
          <a:p>
            <a:pPr algn="ctr">
              <a:buNone/>
            </a:pPr>
            <a:r>
              <a:rPr sz="900" b="0">
                <a:solidFill>
                  <a:srgbClr val="D5DCE8"/>
                </a:solidFill>
                <a:latin typeface="Arial"/>
              </a:rPr>
              <a:t>11 rules</a:t>
            </a:r>
          </a:p>
        </p:txBody>
      </p:sp>
      <p:sp>
        <p:nvSpPr>
          <p:cNvPr id="39" name="Rounded Rectangle 38"/>
          <p:cNvSpPr/>
          <p:nvPr/>
        </p:nvSpPr>
        <p:spPr>
          <a:xfrm>
            <a:off x="6949439" y="2980944"/>
            <a:ext cx="1478279" cy="950976"/>
          </a:xfrm>
          <a:prstGeom prst="roundRect">
            <a:avLst>
              <a:gd name="adj" fmla="val 673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Live cache + Freshness</a:t>
            </a:r>
          </a:p>
          <a:p>
            <a:pPr algn="ctr">
              <a:buNone/>
            </a:pPr>
            <a:r>
              <a:rPr sz="900" b="0">
                <a:solidFill>
                  <a:srgbClr val="D5DCE8"/>
                </a:solidFill>
                <a:latin typeface="Arial"/>
              </a:rPr>
              <a:t>ticker every 5 s</a:t>
            </a:r>
          </a:p>
        </p:txBody>
      </p:sp>
      <p:sp>
        <p:nvSpPr>
          <p:cNvPr id="40" name="Rounded Rectangle 39"/>
          <p:cNvSpPr/>
          <p:nvPr/>
        </p:nvSpPr>
        <p:spPr>
          <a:xfrm>
            <a:off x="8564879" y="2980944"/>
            <a:ext cx="1478279" cy="950976"/>
          </a:xfrm>
          <a:prstGeom prst="roundRect">
            <a:avLst>
              <a:gd name="adj" fmla="val 673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Socket.IO gateway</a:t>
            </a:r>
          </a:p>
          <a:p>
            <a:pPr algn="ctr">
              <a:buNone/>
            </a:pPr>
            <a:r>
              <a:rPr sz="900" b="0">
                <a:solidFill>
                  <a:srgbClr val="D5DCE8"/>
                </a:solidFill>
                <a:latin typeface="Arial"/>
              </a:rPr>
              <a:t>room per route</a:t>
            </a:r>
          </a:p>
        </p:txBody>
      </p:sp>
      <p:sp>
        <p:nvSpPr>
          <p:cNvPr id="41" name="Rounded Rectangle 40"/>
          <p:cNvSpPr/>
          <p:nvPr/>
        </p:nvSpPr>
        <p:spPr>
          <a:xfrm>
            <a:off x="10180320" y="2980944"/>
            <a:ext cx="1478279" cy="950976"/>
          </a:xfrm>
          <a:prstGeom prst="roundRect">
            <a:avLst>
              <a:gd name="adj" fmla="val 6730"/>
            </a:avLst>
          </a:prstGeom>
          <a:solidFill>
            <a:srgbClr val="FFFFFF"/>
          </a:solidFill>
          <a:ln w="12700">
            <a:solidFill>
              <a:srgbClr val="8A94A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666666"/>
                </a:solidFill>
                <a:latin typeface="Arial"/>
              </a:rPr>
              <a:t>ETA · Notifier</a:t>
            </a:r>
          </a:p>
          <a:p>
            <a:pPr algn="ctr">
              <a:buNone/>
            </a:pPr>
            <a:r>
              <a:rPr sz="900" b="0">
                <a:solidFill>
                  <a:srgbClr val="666666"/>
                </a:solidFill>
                <a:latin typeface="Arial"/>
              </a:rPr>
              <a:t>Modules 2–3</a:t>
            </a:r>
          </a:p>
        </p:txBody>
      </p:sp>
      <p:sp>
        <p:nvSpPr>
          <p:cNvPr id="42" name="Rounded Rectangle 41"/>
          <p:cNvSpPr/>
          <p:nvPr/>
        </p:nvSpPr>
        <p:spPr>
          <a:xfrm>
            <a:off x="411480" y="4398264"/>
            <a:ext cx="11365992" cy="960120"/>
          </a:xfrm>
          <a:prstGeom prst="roundRect">
            <a:avLst>
              <a:gd name="adj" fmla="val 6666"/>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t" wrap="square" lIns="73152" rIns="73152">
            <a:noAutofit/>
          </a:bodyPr>
          <a:lstStyle/>
          <a:p>
            <a:pPr algn="l">
              <a:buNone/>
            </a:pPr>
            <a:r>
              <a:rPr sz="1200" b="0">
                <a:solidFill>
                  <a:srgbClr val="272727"/>
                </a:solidFill>
                <a:latin typeface="Arial"/>
              </a:rPr>
              <a:t/>
            </a:r>
          </a:p>
        </p:txBody>
      </p:sp>
      <p:sp>
        <p:nvSpPr>
          <p:cNvPr id="43" name="TextBox 42"/>
          <p:cNvSpPr txBox="1"/>
          <p:nvPr/>
        </p:nvSpPr>
        <p:spPr>
          <a:xfrm>
            <a:off x="566928" y="4489703"/>
            <a:ext cx="1417320" cy="777240"/>
          </a:xfrm>
          <a:prstGeom prst="rect">
            <a:avLst/>
          </a:prstGeom>
          <a:noFill/>
        </p:spPr>
        <p:txBody>
          <a:bodyPr wrap="square" lIns="0" tIns="0" rIns="0" bIns="0" anchor="ctr">
            <a:noAutofit/>
          </a:bodyPr>
          <a:lstStyle/>
          <a:p>
            <a:pPr algn="l">
              <a:buNone/>
            </a:pPr>
            <a:r>
              <a:rPr sz="1300" b="1">
                <a:solidFill>
                  <a:srgbClr val="0A1D3D"/>
                </a:solidFill>
                <a:latin typeface="Arial"/>
              </a:rPr>
              <a:t>DATA</a:t>
            </a:r>
          </a:p>
          <a:p>
            <a:pPr algn="l">
              <a:spcBef>
                <a:spcPts val="200"/>
              </a:spcBef>
              <a:buNone/>
            </a:pPr>
            <a:r>
              <a:rPr sz="1000" b="0">
                <a:solidFill>
                  <a:srgbClr val="666666"/>
                </a:solidFill>
                <a:latin typeface="Arial"/>
              </a:rPr>
              <a:t>PostgreSQL</a:t>
            </a:r>
          </a:p>
        </p:txBody>
      </p:sp>
      <p:sp>
        <p:nvSpPr>
          <p:cNvPr id="44" name="Rounded Rectangle 43"/>
          <p:cNvSpPr/>
          <p:nvPr/>
        </p:nvSpPr>
        <p:spPr>
          <a:xfrm>
            <a:off x="2103120"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Timetable</a:t>
            </a:r>
          </a:p>
          <a:p>
            <a:pPr algn="ctr">
              <a:buNone/>
            </a:pPr>
            <a:r>
              <a:rPr sz="900" b="0">
                <a:solidFill>
                  <a:srgbClr val="D5DCE8"/>
                </a:solidFill>
                <a:latin typeface="Arial"/>
              </a:rPr>
              <a:t>routes · stops · buses</a:t>
            </a:r>
          </a:p>
        </p:txBody>
      </p:sp>
      <p:sp>
        <p:nvSpPr>
          <p:cNvPr id="45" name="Rounded Rectangle 44"/>
          <p:cNvSpPr/>
          <p:nvPr/>
        </p:nvSpPr>
        <p:spPr>
          <a:xfrm>
            <a:off x="3718560"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users</a:t>
            </a:r>
          </a:p>
          <a:p>
            <a:pPr algn="ctr">
              <a:buNone/>
            </a:pPr>
            <a:r>
              <a:rPr sz="900" b="0">
                <a:solidFill>
                  <a:srgbClr val="D5DCE8"/>
                </a:solidFill>
                <a:latin typeface="Arial"/>
              </a:rPr>
              <a:t>bcrypt hashes</a:t>
            </a:r>
          </a:p>
        </p:txBody>
      </p:sp>
      <p:sp>
        <p:nvSpPr>
          <p:cNvPr id="46" name="Rounded Rectangle 45"/>
          <p:cNvSpPr/>
          <p:nvPr/>
        </p:nvSpPr>
        <p:spPr>
          <a:xfrm>
            <a:off x="5333999"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trips</a:t>
            </a:r>
          </a:p>
        </p:txBody>
      </p:sp>
      <p:sp>
        <p:nvSpPr>
          <p:cNvPr id="47" name="Rounded Rectangle 46"/>
          <p:cNvSpPr/>
          <p:nvPr/>
        </p:nvSpPr>
        <p:spPr>
          <a:xfrm>
            <a:off x="6949439"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location_pings</a:t>
            </a:r>
          </a:p>
          <a:p>
            <a:pPr algn="ctr">
              <a:buNone/>
            </a:pPr>
            <a:r>
              <a:rPr sz="900" b="0">
                <a:solidFill>
                  <a:srgbClr val="D5DCE8"/>
                </a:solidFill>
                <a:latin typeface="Arial"/>
              </a:rPr>
              <a:t>full history</a:t>
            </a:r>
          </a:p>
        </p:txBody>
      </p:sp>
      <p:sp>
        <p:nvSpPr>
          <p:cNvPr id="48" name="Rounded Rectangle 47"/>
          <p:cNvSpPr/>
          <p:nvPr/>
        </p:nvSpPr>
        <p:spPr>
          <a:xfrm>
            <a:off x="8564879"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bus_latest</a:t>
            </a:r>
          </a:p>
          <a:p>
            <a:pPr algn="ctr">
              <a:buNone/>
            </a:pPr>
            <a:r>
              <a:rPr sz="900" b="0">
                <a:solidFill>
                  <a:srgbClr val="D5DCE8"/>
                </a:solidFill>
                <a:latin typeface="Arial"/>
              </a:rPr>
              <a:t>live view</a:t>
            </a:r>
          </a:p>
        </p:txBody>
      </p:sp>
      <p:sp>
        <p:nvSpPr>
          <p:cNvPr id="49" name="Rounded Rectangle 48"/>
          <p:cNvSpPr/>
          <p:nvPr/>
        </p:nvSpPr>
        <p:spPr>
          <a:xfrm>
            <a:off x="10180320" y="4526279"/>
            <a:ext cx="1478279" cy="704088"/>
          </a:xfrm>
          <a:prstGeom prst="roundRect">
            <a:avLst>
              <a:gd name="adj" fmla="val 9090"/>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buNone/>
            </a:pPr>
            <a:r>
              <a:rPr sz="1100" b="1">
                <a:solidFill>
                  <a:srgbClr val="FFFFFF"/>
                </a:solidFill>
                <a:latin typeface="Arial"/>
              </a:rPr>
              <a:t>rejected_pings</a:t>
            </a:r>
          </a:p>
          <a:p>
            <a:pPr algn="ctr">
              <a:buNone/>
            </a:pPr>
            <a:r>
              <a:rPr sz="900" b="0">
                <a:solidFill>
                  <a:srgbClr val="D5DCE8"/>
                </a:solidFill>
                <a:latin typeface="Arial"/>
              </a:rPr>
              <a:t>with reason</a:t>
            </a:r>
          </a:p>
        </p:txBody>
      </p:sp>
      <p:cxnSp>
        <p:nvCxnSpPr>
          <p:cNvPr id="50" name="Connector 49"/>
          <p:cNvCxnSpPr/>
          <p:nvPr/>
        </p:nvCxnSpPr>
        <p:spPr>
          <a:xfrm>
            <a:off x="3657600" y="2532888"/>
            <a:ext cx="0" cy="301752"/>
          </a:xfrm>
          <a:prstGeom prst="line">
            <a:avLst/>
          </a:prstGeom>
          <a:ln w="25400">
            <a:solidFill>
              <a:srgbClr val="C70F2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767328" y="2587752"/>
            <a:ext cx="2286000" cy="201168"/>
          </a:xfrm>
          <a:prstGeom prst="rect">
            <a:avLst/>
          </a:prstGeom>
          <a:noFill/>
        </p:spPr>
        <p:txBody>
          <a:bodyPr wrap="square" lIns="0" tIns="0" rIns="0" bIns="0" anchor="t">
            <a:noAutofit/>
          </a:bodyPr>
          <a:lstStyle/>
          <a:p>
            <a:pPr algn="l">
              <a:buNone/>
            </a:pPr>
            <a:r>
              <a:rPr sz="950" b="1">
                <a:solidFill>
                  <a:srgbClr val="C70F2D"/>
                </a:solidFill>
                <a:latin typeface="Arial"/>
              </a:rPr>
              <a:t>HTTPS REST + JWT</a:t>
            </a:r>
          </a:p>
        </p:txBody>
      </p:sp>
      <p:cxnSp>
        <p:nvCxnSpPr>
          <p:cNvPr id="52" name="Connector 51"/>
          <p:cNvCxnSpPr/>
          <p:nvPr/>
        </p:nvCxnSpPr>
        <p:spPr>
          <a:xfrm>
            <a:off x="7863840" y="2532888"/>
            <a:ext cx="0" cy="301752"/>
          </a:xfrm>
          <a:prstGeom prst="line">
            <a:avLst/>
          </a:prstGeom>
          <a:ln w="25400">
            <a:solidFill>
              <a:srgbClr val="C70F2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973567" y="2587752"/>
            <a:ext cx="2286000" cy="201168"/>
          </a:xfrm>
          <a:prstGeom prst="rect">
            <a:avLst/>
          </a:prstGeom>
          <a:noFill/>
        </p:spPr>
        <p:txBody>
          <a:bodyPr wrap="square" lIns="0" tIns="0" rIns="0" bIns="0" anchor="t">
            <a:noAutofit/>
          </a:bodyPr>
          <a:lstStyle/>
          <a:p>
            <a:pPr algn="l">
              <a:buNone/>
            </a:pPr>
            <a:r>
              <a:rPr sz="950" b="1">
                <a:solidFill>
                  <a:srgbClr val="C70F2D"/>
                </a:solidFill>
                <a:latin typeface="Arial"/>
              </a:rPr>
              <a:t>WebSocket (Socket.IO)</a:t>
            </a:r>
          </a:p>
        </p:txBody>
      </p:sp>
      <p:cxnSp>
        <p:nvCxnSpPr>
          <p:cNvPr id="54" name="Connector 53"/>
          <p:cNvCxnSpPr/>
          <p:nvPr/>
        </p:nvCxnSpPr>
        <p:spPr>
          <a:xfrm>
            <a:off x="3657600" y="4078224"/>
            <a:ext cx="0" cy="301752"/>
          </a:xfrm>
          <a:prstGeom prst="line">
            <a:avLst/>
          </a:prstGeom>
          <a:ln w="25400">
            <a:solidFill>
              <a:srgbClr val="C70F2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863840" y="4078224"/>
            <a:ext cx="0" cy="301752"/>
          </a:xfrm>
          <a:prstGeom prst="line">
            <a:avLst/>
          </a:prstGeom>
          <a:ln w="25400">
            <a:solidFill>
              <a:srgbClr val="C70F2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767328" y="4133087"/>
            <a:ext cx="2743200" cy="201168"/>
          </a:xfrm>
          <a:prstGeom prst="rect">
            <a:avLst/>
          </a:prstGeom>
          <a:noFill/>
        </p:spPr>
        <p:txBody>
          <a:bodyPr wrap="square" lIns="0" tIns="0" rIns="0" bIns="0" anchor="t">
            <a:noAutofit/>
          </a:bodyPr>
          <a:lstStyle/>
          <a:p>
            <a:pPr algn="l">
              <a:buNone/>
            </a:pPr>
            <a:r>
              <a:rPr sz="950" b="1">
                <a:solidFill>
                  <a:srgbClr val="C70F2D"/>
                </a:solidFill>
                <a:latin typeface="Arial"/>
              </a:rPr>
              <a:t>SQL · transactions</a:t>
            </a:r>
          </a:p>
        </p:txBody>
      </p:sp>
      <p:sp>
        <p:nvSpPr>
          <p:cNvPr id="57" name="Rounded Rectangle 56"/>
          <p:cNvSpPr/>
          <p:nvPr/>
        </p:nvSpPr>
        <p:spPr>
          <a:xfrm>
            <a:off x="411480" y="5513832"/>
            <a:ext cx="11365992" cy="502920"/>
          </a:xfrm>
          <a:prstGeom prst="roundRect">
            <a:avLst>
              <a:gd name="adj" fmla="val 12727"/>
            </a:avLst>
          </a:prstGeom>
          <a:solidFill>
            <a:srgbClr val="FFFFFF"/>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 rIns="182880" bIns="27432">
            <a:noAutofit/>
          </a:bodyPr>
          <a:lstStyle/>
          <a:p>
            <a:pPr algn="l">
              <a:buNone/>
            </a:pPr>
            <a:r>
              <a:rPr sz="1100" b="0">
                <a:solidFill>
                  <a:srgbClr val="0A1D3D"/>
                </a:solidFill>
                <a:latin typeface="Arial"/>
              </a:rPr>
              <a:t>■ </a:t>
            </a:r>
            <a:r>
              <a:rPr sz="1100" b="1">
                <a:solidFill>
                  <a:srgbClr val="0A1D3D"/>
                </a:solidFill>
                <a:latin typeface="Arial"/>
              </a:rPr>
              <a:t>Built in Module 1     </a:t>
            </a:r>
            <a:r>
              <a:rPr sz="1100" b="0">
                <a:solidFill>
                  <a:srgbClr val="8A94A0"/>
                </a:solidFill>
                <a:latin typeface="Arial"/>
              </a:rPr>
              <a:t>□ </a:t>
            </a:r>
            <a:r>
              <a:rPr sz="1100" b="1">
                <a:solidFill>
                  <a:srgbClr val="666666"/>
                </a:solidFill>
                <a:latin typeface="Arial"/>
              </a:rPr>
              <a:t>Later modules     </a:t>
            </a:r>
            <a:r>
              <a:rPr sz="1100" b="1">
                <a:solidFill>
                  <a:srgbClr val="C70F2D"/>
                </a:solidFill>
                <a:latin typeface="Arial"/>
              </a:rPr>
              <a:t>Rule: </a:t>
            </a:r>
            <a:r>
              <a:rPr sz="1100" b="0">
                <a:solidFill>
                  <a:srgbClr val="272727"/>
                </a:solidFill>
                <a:latin typeface="Arial"/>
              </a:rPr>
              <a:t>the server is the only writer; only the newest valid fix per bus is pushed.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SYSTEM DESIGN — MODULES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72768"/>
          <a:ext cx="11365992" cy="4224528"/>
        </p:xfrm>
        <a:graphic>
          <a:graphicData uri="http://schemas.openxmlformats.org/drawingml/2006/table">
            <a:tbl>
              <a:tblPr firstRow="0" bandRow="0">
                <a:tableStyleId>{5C22544A-7EE6-4342-B048-85BDC9FD1C3A}</a:tableStyleId>
              </a:tblPr>
              <a:tblGrid>
                <a:gridCol w="2651760"/>
                <a:gridCol w="5513832"/>
                <a:gridCol w="1463040"/>
                <a:gridCol w="1737360"/>
              </a:tblGrid>
              <a:tr h="384048">
                <a:tc>
                  <a:txBody>
                    <a:bodyPr wrap="square" lIns="73152" tIns="36576" rIns="73152" bIns="36576" anchor="t">
                      <a:noAutofit/>
                    </a:bodyPr>
                    <a:lstStyle/>
                    <a:p>
                      <a:pPr algn="l">
                        <a:buNone/>
                      </a:pPr>
                      <a:r>
                        <a:rPr sz="1100" b="1">
                          <a:solidFill>
                            <a:srgbClr val="FFFFFF"/>
                          </a:solidFill>
                          <a:latin typeface="Arial"/>
                        </a:rPr>
                        <a:t>Module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Main functions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Users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Status / plan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640080">
                <a:tc>
                  <a:txBody>
                    <a:bodyPr wrap="square" lIns="73152" tIns="36576" rIns="73152" bIns="36576" anchor="t">
                      <a:noAutofit/>
                    </a:bodyPr>
                    <a:lstStyle/>
                    <a:p>
                      <a:pPr algn="l">
                        <a:buNone/>
                      </a:pPr>
                      <a:r>
                        <a:rPr sz="1100" b="1">
                          <a:solidFill>
                            <a:srgbClr val="C70F2D"/>
                          </a:solidFill>
                          <a:latin typeface="Arial"/>
                        </a:rPr>
                        <a:t>M1  Live Location Pipeline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Driver login, trips, GPS ingest, 11-rule validation, history + latest, Socket.IO push, live map, freshness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Driver, Student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12A150"/>
                          </a:solidFill>
                          <a:latin typeface="Arial"/>
                        </a:rPr>
                        <a:t>Completed — Phase 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640080">
                <a:tc>
                  <a:txBody>
                    <a:bodyPr wrap="square" lIns="73152" tIns="36576" rIns="73152" bIns="36576" anchor="t">
                      <a:noAutofit/>
                    </a:bodyPr>
                    <a:lstStyle/>
                    <a:p>
                      <a:pPr algn="l">
                        <a:buNone/>
                      </a:pPr>
                      <a:r>
                        <a:rPr sz="1100" b="1">
                          <a:solidFill>
                            <a:srgbClr val="0A1D3D"/>
                          </a:solidFill>
                          <a:latin typeface="Arial"/>
                        </a:rPr>
                        <a:t>M2  ETA Prediction</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Stop-arrival detection, segment travel times, historical-mean baseline vs. Gradient Boosting, MAE report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Student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666666"/>
                          </a:solidFill>
                          <a:latin typeface="Arial"/>
                        </a:rPr>
                        <a:t>Phase 3 · weeks 1–3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640080">
                <a:tc>
                  <a:txBody>
                    <a:bodyPr wrap="square" lIns="73152" tIns="36576" rIns="73152" bIns="36576" anchor="t">
                      <a:noAutofit/>
                    </a:bodyPr>
                    <a:lstStyle/>
                    <a:p>
                      <a:pPr algn="l">
                        <a:buNone/>
                      </a:pPr>
                      <a:r>
                        <a:rPr sz="1100" b="1">
                          <a:solidFill>
                            <a:srgbClr val="0A1D3D"/>
                          </a:solidFill>
                          <a:latin typeface="Arial"/>
                        </a:rPr>
                        <a:t>M3  Notifications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“Bus is 10 min from your stop”, delay and breakdown notices (web push)</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Student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666666"/>
                          </a:solidFill>
                          <a:latin typeface="Arial"/>
                        </a:rPr>
                        <a:t>Phase 3 · week 4</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640080">
                <a:tc>
                  <a:txBody>
                    <a:bodyPr wrap="square" lIns="73152" tIns="36576" rIns="73152" bIns="36576" anchor="t">
                      <a:noAutofit/>
                    </a:bodyPr>
                    <a:lstStyle/>
                    <a:p>
                      <a:pPr algn="l">
                        <a:buNone/>
                      </a:pPr>
                      <a:r>
                        <a:rPr sz="1100" b="1">
                          <a:solidFill>
                            <a:srgbClr val="0A1D3D"/>
                          </a:solidFill>
                          <a:latin typeface="Arial"/>
                        </a:rPr>
                        <a:t>M4  Admin Dashboard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Manage routes, stops, buses and drivers; live fleet view; alerts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Transport office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666666"/>
                          </a:solidFill>
                          <a:latin typeface="Arial"/>
                        </a:rPr>
                        <a:t>Phase 3 · weeks 4–5</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640080">
                <a:tc>
                  <a:txBody>
                    <a:bodyPr wrap="square" lIns="73152" tIns="36576" rIns="73152" bIns="36576" anchor="t">
                      <a:noAutofit/>
                    </a:bodyPr>
                    <a:lstStyle/>
                    <a:p>
                      <a:pPr algn="l">
                        <a:buNone/>
                      </a:pPr>
                      <a:r>
                        <a:rPr sz="1100" b="1">
                          <a:solidFill>
                            <a:srgbClr val="0A1D3D"/>
                          </a:solidFill>
                          <a:latin typeface="Arial"/>
                        </a:rPr>
                        <a:t>M5  Reports &amp; History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Trip replay, delay per stop and route, CSV export, GPS-quality report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100" b="0">
                          <a:solidFill>
                            <a:srgbClr val="272727"/>
                          </a:solidFill>
                          <a:latin typeface="Arial"/>
                        </a:rPr>
                        <a:t>Transport office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666666"/>
                          </a:solidFill>
                          <a:latin typeface="Arial"/>
                        </a:rPr>
                        <a:t>Phase 3 · week 6</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640080">
                <a:tc>
                  <a:txBody>
                    <a:bodyPr wrap="square" lIns="73152" tIns="36576" rIns="73152" bIns="36576" anchor="t">
                      <a:noAutofit/>
                    </a:bodyPr>
                    <a:lstStyle/>
                    <a:p>
                      <a:pPr algn="l">
                        <a:buNone/>
                      </a:pPr>
                      <a:r>
                        <a:rPr sz="1100" b="1">
                          <a:solidFill>
                            <a:srgbClr val="0A1D3D"/>
                          </a:solidFill>
                          <a:latin typeface="Arial"/>
                        </a:rPr>
                        <a:t>M6  Android App + Pilot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Background GPS; measure update delay, accuracy, battery and data on route 118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100" b="0">
                          <a:solidFill>
                            <a:srgbClr val="272727"/>
                          </a:solidFill>
                          <a:latin typeface="Arial"/>
                        </a:rPr>
                        <a:t>Driver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666666"/>
                          </a:solidFill>
                          <a:latin typeface="Arial"/>
                        </a:rPr>
                        <a:t>Phase 3 · weeks 7–8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SYSTEM DESIGN — DATABASE (PostgreSQL)</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ectangle 28"/>
          <p:cNvSpPr/>
          <p:nvPr/>
        </p:nvSpPr>
        <p:spPr>
          <a:xfrm>
            <a:off x="411480" y="1536192"/>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routes</a:t>
            </a:r>
          </a:p>
        </p:txBody>
      </p:sp>
      <p:sp>
        <p:nvSpPr>
          <p:cNvPr id="30" name="Rectangle 29"/>
          <p:cNvSpPr/>
          <p:nvPr/>
        </p:nvSpPr>
        <p:spPr>
          <a:xfrm>
            <a:off x="411480" y="1865376"/>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0">
                <a:solidFill>
                  <a:srgbClr val="272727"/>
                </a:solidFill>
                <a:latin typeface="Arial"/>
              </a:rPr>
              <a:t>code (unique)</a:t>
            </a:r>
          </a:p>
          <a:p>
            <a:pPr algn="l">
              <a:spcAft>
                <a:spcPts val="150"/>
              </a:spcAft>
              <a:buNone/>
            </a:pPr>
            <a:r>
              <a:rPr sz="950" b="0">
                <a:solidFill>
                  <a:srgbClr val="272727"/>
                </a:solidFill>
                <a:latin typeface="Arial"/>
              </a:rPr>
              <a:t>name</a:t>
            </a:r>
          </a:p>
          <a:p>
            <a:pPr algn="l">
              <a:spcAft>
                <a:spcPts val="150"/>
              </a:spcAft>
              <a:buNone/>
            </a:pPr>
            <a:r>
              <a:rPr sz="950" b="0">
                <a:solidFill>
                  <a:srgbClr val="272727"/>
                </a:solidFill>
                <a:latin typeface="Arial"/>
              </a:rPr>
              <a:t>start_point, end_point</a:t>
            </a:r>
          </a:p>
          <a:p>
            <a:pPr algn="l">
              <a:spcAft>
                <a:spcPts val="150"/>
              </a:spcAft>
              <a:buNone/>
            </a:pPr>
            <a:r>
              <a:rPr sz="950" b="0">
                <a:solidFill>
                  <a:srgbClr val="272727"/>
                </a:solidFill>
                <a:latin typeface="Arial"/>
              </a:rPr>
              <a:t>departure_time</a:t>
            </a:r>
          </a:p>
          <a:p>
            <a:pPr algn="l">
              <a:spcAft>
                <a:spcPts val="150"/>
              </a:spcAft>
              <a:buNone/>
            </a:pPr>
            <a:r>
              <a:rPr sz="950" b="0">
                <a:solidFill>
                  <a:srgbClr val="272727"/>
                </a:solidFill>
                <a:latin typeface="Arial"/>
              </a:rPr>
              <a:t>duration_minutes</a:t>
            </a:r>
          </a:p>
        </p:txBody>
      </p:sp>
      <p:sp>
        <p:nvSpPr>
          <p:cNvPr id="31" name="Rectangle 30"/>
          <p:cNvSpPr/>
          <p:nvPr/>
        </p:nvSpPr>
        <p:spPr>
          <a:xfrm>
            <a:off x="3362248" y="1536192"/>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stops</a:t>
            </a:r>
          </a:p>
        </p:txBody>
      </p:sp>
      <p:sp>
        <p:nvSpPr>
          <p:cNvPr id="32" name="Rectangle 31"/>
          <p:cNvSpPr/>
          <p:nvPr/>
        </p:nvSpPr>
        <p:spPr>
          <a:xfrm>
            <a:off x="3362248" y="1865376"/>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1">
                <a:solidFill>
                  <a:srgbClr val="C70F2D"/>
                </a:solidFill>
                <a:latin typeface="Arial"/>
              </a:rPr>
              <a:t>FK </a:t>
            </a:r>
            <a:r>
              <a:rPr sz="950" b="0">
                <a:solidFill>
                  <a:srgbClr val="272727"/>
                </a:solidFill>
                <a:latin typeface="Arial"/>
              </a:rPr>
              <a:t>route_id</a:t>
            </a:r>
          </a:p>
          <a:p>
            <a:pPr algn="l">
              <a:spcAft>
                <a:spcPts val="150"/>
              </a:spcAft>
              <a:buNone/>
            </a:pPr>
            <a:r>
              <a:rPr sz="950" b="0">
                <a:solidFill>
                  <a:srgbClr val="272727"/>
                </a:solidFill>
                <a:latin typeface="Arial"/>
              </a:rPr>
              <a:t>seq (unique per route)</a:t>
            </a:r>
          </a:p>
          <a:p>
            <a:pPr algn="l">
              <a:spcAft>
                <a:spcPts val="150"/>
              </a:spcAft>
              <a:buNone/>
            </a:pPr>
            <a:r>
              <a:rPr sz="950" b="0">
                <a:solidFill>
                  <a:srgbClr val="272727"/>
                </a:solidFill>
                <a:latin typeface="Arial"/>
              </a:rPr>
              <a:t>name</a:t>
            </a:r>
          </a:p>
          <a:p>
            <a:pPr algn="l">
              <a:spcAft>
                <a:spcPts val="150"/>
              </a:spcAft>
              <a:buNone/>
            </a:pPr>
            <a:r>
              <a:rPr sz="950" b="0">
                <a:solidFill>
                  <a:srgbClr val="272727"/>
                </a:solidFill>
                <a:latin typeface="Arial"/>
              </a:rPr>
              <a:t>lat, lng</a:t>
            </a:r>
          </a:p>
          <a:p>
            <a:pPr algn="l">
              <a:spcAft>
                <a:spcPts val="150"/>
              </a:spcAft>
              <a:buNone/>
            </a:pPr>
            <a:r>
              <a:rPr sz="950" b="0">
                <a:solidFill>
                  <a:srgbClr val="272727"/>
                </a:solidFill>
                <a:latin typeface="Arial"/>
              </a:rPr>
              <a:t>scheduled_time</a:t>
            </a:r>
          </a:p>
          <a:p>
            <a:pPr algn="l">
              <a:spcAft>
                <a:spcPts val="150"/>
              </a:spcAft>
              <a:buNone/>
            </a:pPr>
            <a:r>
              <a:rPr sz="950" b="0">
                <a:solidFill>
                  <a:srgbClr val="272727"/>
                </a:solidFill>
                <a:latin typeface="Arial"/>
              </a:rPr>
              <a:t>geo_source</a:t>
            </a:r>
          </a:p>
        </p:txBody>
      </p:sp>
      <p:sp>
        <p:nvSpPr>
          <p:cNvPr id="33" name="Rectangle 32"/>
          <p:cNvSpPr/>
          <p:nvPr/>
        </p:nvSpPr>
        <p:spPr>
          <a:xfrm>
            <a:off x="6313017" y="1536192"/>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buses</a:t>
            </a:r>
          </a:p>
        </p:txBody>
      </p:sp>
      <p:sp>
        <p:nvSpPr>
          <p:cNvPr id="34" name="Rectangle 33"/>
          <p:cNvSpPr/>
          <p:nvPr/>
        </p:nvSpPr>
        <p:spPr>
          <a:xfrm>
            <a:off x="6313017" y="1865376"/>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0">
                <a:solidFill>
                  <a:srgbClr val="272727"/>
                </a:solidFill>
                <a:latin typeface="Arial"/>
              </a:rPr>
              <a:t>fleet_code (unique)</a:t>
            </a:r>
          </a:p>
          <a:p>
            <a:pPr algn="l">
              <a:spcAft>
                <a:spcPts val="150"/>
              </a:spcAft>
              <a:buNone/>
            </a:pPr>
            <a:r>
              <a:rPr sz="950" b="1">
                <a:solidFill>
                  <a:srgbClr val="C70F2D"/>
                </a:solidFill>
                <a:latin typeface="Arial"/>
              </a:rPr>
              <a:t>FK </a:t>
            </a:r>
            <a:r>
              <a:rPr sz="950" b="0">
                <a:solidFill>
                  <a:srgbClr val="272727"/>
                </a:solidFill>
                <a:latin typeface="Arial"/>
              </a:rPr>
              <a:t>route_id</a:t>
            </a:r>
          </a:p>
          <a:p>
            <a:pPr algn="l">
              <a:spcAft>
                <a:spcPts val="150"/>
              </a:spcAft>
              <a:buNone/>
            </a:pPr>
            <a:r>
              <a:rPr sz="950" b="0">
                <a:solidFill>
                  <a:srgbClr val="272727"/>
                </a:solidFill>
                <a:latin typeface="Arial"/>
              </a:rPr>
              <a:t>bus_type, capacity</a:t>
            </a:r>
          </a:p>
          <a:p>
            <a:pPr algn="l">
              <a:spcAft>
                <a:spcPts val="150"/>
              </a:spcAft>
              <a:buNone/>
            </a:pPr>
            <a:r>
              <a:rPr sz="950" b="0">
                <a:solidFill>
                  <a:srgbClr val="272727"/>
                </a:solidFill>
                <a:latin typeface="Arial"/>
              </a:rPr>
              <a:t>is_ac</a:t>
            </a:r>
          </a:p>
        </p:txBody>
      </p:sp>
      <p:sp>
        <p:nvSpPr>
          <p:cNvPr id="35" name="Rectangle 34"/>
          <p:cNvSpPr/>
          <p:nvPr/>
        </p:nvSpPr>
        <p:spPr>
          <a:xfrm>
            <a:off x="9263786" y="1536192"/>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users</a:t>
            </a:r>
          </a:p>
        </p:txBody>
      </p:sp>
      <p:sp>
        <p:nvSpPr>
          <p:cNvPr id="36" name="Rectangle 35"/>
          <p:cNvSpPr/>
          <p:nvPr/>
        </p:nvSpPr>
        <p:spPr>
          <a:xfrm>
            <a:off x="9263786" y="1865376"/>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0">
                <a:solidFill>
                  <a:srgbClr val="272727"/>
                </a:solidFill>
                <a:latin typeface="Arial"/>
              </a:rPr>
              <a:t>username (unique)</a:t>
            </a:r>
          </a:p>
          <a:p>
            <a:pPr algn="l">
              <a:spcAft>
                <a:spcPts val="150"/>
              </a:spcAft>
              <a:buNone/>
            </a:pPr>
            <a:r>
              <a:rPr sz="950" b="0">
                <a:solidFill>
                  <a:srgbClr val="272727"/>
                </a:solidFill>
                <a:latin typeface="Arial"/>
              </a:rPr>
              <a:t>password_hash</a:t>
            </a:r>
          </a:p>
          <a:p>
            <a:pPr algn="l">
              <a:spcAft>
                <a:spcPts val="150"/>
              </a:spcAft>
              <a:buNone/>
            </a:pPr>
            <a:r>
              <a:rPr sz="950" b="0">
                <a:solidFill>
                  <a:srgbClr val="272727"/>
                </a:solidFill>
                <a:latin typeface="Arial"/>
              </a:rPr>
              <a:t>role: admin/driver/student</a:t>
            </a:r>
          </a:p>
          <a:p>
            <a:pPr algn="l">
              <a:spcAft>
                <a:spcPts val="150"/>
              </a:spcAft>
              <a:buNone/>
            </a:pPr>
            <a:r>
              <a:rPr sz="950" b="1">
                <a:solidFill>
                  <a:srgbClr val="C70F2D"/>
                </a:solidFill>
                <a:latin typeface="Arial"/>
              </a:rPr>
              <a:t>FK </a:t>
            </a:r>
            <a:r>
              <a:rPr sz="950" b="0">
                <a:solidFill>
                  <a:srgbClr val="272727"/>
                </a:solidFill>
                <a:latin typeface="Arial"/>
              </a:rPr>
              <a:t>bus_id (drivers)</a:t>
            </a:r>
          </a:p>
        </p:txBody>
      </p:sp>
      <p:sp>
        <p:nvSpPr>
          <p:cNvPr id="37" name="Rectangle 36"/>
          <p:cNvSpPr/>
          <p:nvPr/>
        </p:nvSpPr>
        <p:spPr>
          <a:xfrm>
            <a:off x="411480" y="3611880"/>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trips</a:t>
            </a:r>
          </a:p>
        </p:txBody>
      </p:sp>
      <p:sp>
        <p:nvSpPr>
          <p:cNvPr id="38" name="Rectangle 37"/>
          <p:cNvSpPr/>
          <p:nvPr/>
        </p:nvSpPr>
        <p:spPr>
          <a:xfrm>
            <a:off x="411480" y="3941064"/>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1">
                <a:solidFill>
                  <a:srgbClr val="C70F2D"/>
                </a:solidFill>
                <a:latin typeface="Arial"/>
              </a:rPr>
              <a:t>FK </a:t>
            </a:r>
            <a:r>
              <a:rPr sz="950" b="0">
                <a:solidFill>
                  <a:srgbClr val="272727"/>
                </a:solidFill>
                <a:latin typeface="Arial"/>
              </a:rPr>
              <a:t>bus_id, route_id</a:t>
            </a:r>
          </a:p>
          <a:p>
            <a:pPr algn="l">
              <a:spcAft>
                <a:spcPts val="150"/>
              </a:spcAft>
              <a:buNone/>
            </a:pPr>
            <a:r>
              <a:rPr sz="950" b="1">
                <a:solidFill>
                  <a:srgbClr val="C70F2D"/>
                </a:solidFill>
                <a:latin typeface="Arial"/>
              </a:rPr>
              <a:t>FK </a:t>
            </a:r>
            <a:r>
              <a:rPr sz="950" b="0">
                <a:solidFill>
                  <a:srgbClr val="272727"/>
                </a:solidFill>
                <a:latin typeface="Arial"/>
              </a:rPr>
              <a:t>driver_id</a:t>
            </a:r>
          </a:p>
          <a:p>
            <a:pPr algn="l">
              <a:spcAft>
                <a:spcPts val="150"/>
              </a:spcAft>
              <a:buNone/>
            </a:pPr>
            <a:r>
              <a:rPr sz="950" b="0">
                <a:solidFill>
                  <a:srgbClr val="272727"/>
                </a:solidFill>
                <a:latin typeface="Arial"/>
              </a:rPr>
              <a:t>status: active/completed</a:t>
            </a:r>
          </a:p>
          <a:p>
            <a:pPr algn="l">
              <a:spcAft>
                <a:spcPts val="150"/>
              </a:spcAft>
              <a:buNone/>
            </a:pPr>
            <a:r>
              <a:rPr sz="950" b="0">
                <a:solidFill>
                  <a:srgbClr val="272727"/>
                </a:solidFill>
                <a:latin typeface="Arial"/>
              </a:rPr>
              <a:t>started_at, ended_at</a:t>
            </a:r>
          </a:p>
          <a:p>
            <a:pPr algn="l">
              <a:spcAft>
                <a:spcPts val="150"/>
              </a:spcAft>
              <a:buNone/>
            </a:pPr>
            <a:r>
              <a:rPr sz="950" b="0">
                <a:solidFill>
                  <a:srgbClr val="272727"/>
                </a:solidFill>
                <a:latin typeface="Arial"/>
              </a:rPr>
              <a:t>unique active trip per bus</a:t>
            </a:r>
          </a:p>
        </p:txBody>
      </p:sp>
      <p:sp>
        <p:nvSpPr>
          <p:cNvPr id="39" name="Rectangle 38"/>
          <p:cNvSpPr/>
          <p:nvPr/>
        </p:nvSpPr>
        <p:spPr>
          <a:xfrm>
            <a:off x="3362248" y="3611880"/>
            <a:ext cx="2514600" cy="329184"/>
          </a:xfrm>
          <a:prstGeom prst="rect">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location_pings</a:t>
            </a:r>
          </a:p>
        </p:txBody>
      </p:sp>
      <p:sp>
        <p:nvSpPr>
          <p:cNvPr id="40" name="Rectangle 39"/>
          <p:cNvSpPr/>
          <p:nvPr/>
        </p:nvSpPr>
        <p:spPr>
          <a:xfrm>
            <a:off x="3362248" y="3941064"/>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1">
                <a:solidFill>
                  <a:srgbClr val="C70F2D"/>
                </a:solidFill>
                <a:latin typeface="Arial"/>
              </a:rPr>
              <a:t>FK </a:t>
            </a:r>
            <a:r>
              <a:rPr sz="950" b="0">
                <a:solidFill>
                  <a:srgbClr val="272727"/>
                </a:solidFill>
                <a:latin typeface="Arial"/>
              </a:rPr>
              <a:t>trip_id, bus_id</a:t>
            </a:r>
          </a:p>
          <a:p>
            <a:pPr algn="l">
              <a:spcAft>
                <a:spcPts val="150"/>
              </a:spcAft>
              <a:buNone/>
            </a:pPr>
            <a:r>
              <a:rPr sz="950" b="0">
                <a:solidFill>
                  <a:srgbClr val="272727"/>
                </a:solidFill>
                <a:latin typeface="Arial"/>
              </a:rPr>
              <a:t>lat, lng</a:t>
            </a:r>
          </a:p>
          <a:p>
            <a:pPr algn="l">
              <a:spcAft>
                <a:spcPts val="150"/>
              </a:spcAft>
              <a:buNone/>
            </a:pPr>
            <a:r>
              <a:rPr sz="950" b="0">
                <a:solidFill>
                  <a:srgbClr val="272727"/>
                </a:solidFill>
                <a:latin typeface="Arial"/>
              </a:rPr>
              <a:t>speed, heading, accuracy</a:t>
            </a:r>
          </a:p>
          <a:p>
            <a:pPr algn="l">
              <a:spcAft>
                <a:spcPts val="150"/>
              </a:spcAft>
              <a:buNone/>
            </a:pPr>
            <a:r>
              <a:rPr sz="950" b="0">
                <a:solidFill>
                  <a:srgbClr val="272727"/>
                </a:solidFill>
                <a:latin typeface="Arial"/>
              </a:rPr>
              <a:t>recorded_at (device)</a:t>
            </a:r>
          </a:p>
          <a:p>
            <a:pPr algn="l">
              <a:spcAft>
                <a:spcPts val="150"/>
              </a:spcAft>
              <a:buNone/>
            </a:pPr>
            <a:r>
              <a:rPr sz="950" b="0">
                <a:solidFill>
                  <a:srgbClr val="272727"/>
                </a:solidFill>
                <a:latin typeface="Arial"/>
              </a:rPr>
              <a:t>received_at (server)</a:t>
            </a:r>
          </a:p>
        </p:txBody>
      </p:sp>
      <p:sp>
        <p:nvSpPr>
          <p:cNvPr id="41" name="Rectangle 40"/>
          <p:cNvSpPr/>
          <p:nvPr/>
        </p:nvSpPr>
        <p:spPr>
          <a:xfrm>
            <a:off x="6313017" y="3611880"/>
            <a:ext cx="2514600" cy="329184"/>
          </a:xfrm>
          <a:prstGeom prst="rect">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bus_latest</a:t>
            </a:r>
          </a:p>
        </p:txBody>
      </p:sp>
      <p:sp>
        <p:nvSpPr>
          <p:cNvPr id="42" name="Rectangle 41"/>
          <p:cNvSpPr/>
          <p:nvPr/>
        </p:nvSpPr>
        <p:spPr>
          <a:xfrm>
            <a:off x="6313017" y="3941064"/>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FK bus_id</a:t>
            </a:r>
          </a:p>
          <a:p>
            <a:pPr algn="l">
              <a:spcAft>
                <a:spcPts val="150"/>
              </a:spcAft>
              <a:buNone/>
            </a:pPr>
            <a:r>
              <a:rPr sz="950" b="1">
                <a:solidFill>
                  <a:srgbClr val="C70F2D"/>
                </a:solidFill>
                <a:latin typeface="Arial"/>
              </a:rPr>
              <a:t>FK </a:t>
            </a:r>
            <a:r>
              <a:rPr sz="950" b="0">
                <a:solidFill>
                  <a:srgbClr val="272727"/>
                </a:solidFill>
                <a:latin typeface="Arial"/>
              </a:rPr>
              <a:t>trip_id</a:t>
            </a:r>
          </a:p>
          <a:p>
            <a:pPr algn="l">
              <a:spcAft>
                <a:spcPts val="150"/>
              </a:spcAft>
              <a:buNone/>
            </a:pPr>
            <a:r>
              <a:rPr sz="950" b="0">
                <a:solidFill>
                  <a:srgbClr val="272727"/>
                </a:solidFill>
                <a:latin typeface="Arial"/>
              </a:rPr>
              <a:t>lat, lng, speed, heading</a:t>
            </a:r>
          </a:p>
          <a:p>
            <a:pPr algn="l">
              <a:spcAft>
                <a:spcPts val="150"/>
              </a:spcAft>
              <a:buNone/>
            </a:pPr>
            <a:r>
              <a:rPr sz="950" b="0">
                <a:solidFill>
                  <a:srgbClr val="272727"/>
                </a:solidFill>
                <a:latin typeface="Arial"/>
              </a:rPr>
              <a:t>recorded_at</a:t>
            </a:r>
          </a:p>
          <a:p>
            <a:pPr algn="l">
              <a:spcAft>
                <a:spcPts val="150"/>
              </a:spcAft>
              <a:buNone/>
            </a:pPr>
            <a:r>
              <a:rPr sz="950" b="0">
                <a:solidFill>
                  <a:srgbClr val="272727"/>
                </a:solidFill>
                <a:latin typeface="Arial"/>
              </a:rPr>
              <a:t>one row per bus</a:t>
            </a:r>
          </a:p>
        </p:txBody>
      </p:sp>
      <p:sp>
        <p:nvSpPr>
          <p:cNvPr id="43" name="Rectangle 42"/>
          <p:cNvSpPr/>
          <p:nvPr/>
        </p:nvSpPr>
        <p:spPr>
          <a:xfrm>
            <a:off x="9263786" y="3611880"/>
            <a:ext cx="2514600" cy="329184"/>
          </a:xfrm>
          <a:prstGeom prst="rect">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rejected_pings</a:t>
            </a:r>
          </a:p>
        </p:txBody>
      </p:sp>
      <p:sp>
        <p:nvSpPr>
          <p:cNvPr id="44" name="Rectangle 43"/>
          <p:cNvSpPr/>
          <p:nvPr/>
        </p:nvSpPr>
        <p:spPr>
          <a:xfrm>
            <a:off x="9263786" y="3941064"/>
            <a:ext cx="2514600" cy="1517904"/>
          </a:xfrm>
          <a:prstGeom prst="rect">
            <a:avLst/>
          </a:prstGeom>
          <a:solidFill>
            <a:srgbClr val="FFFFFF"/>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t" wrap="square" lIns="109728" tIns="54864" rIns="73152" bIns="36576">
            <a:noAutofit/>
          </a:bodyPr>
          <a:lstStyle/>
          <a:p>
            <a:pPr algn="l">
              <a:spcAft>
                <a:spcPts val="150"/>
              </a:spcAft>
              <a:buNone/>
            </a:pPr>
            <a:r>
              <a:rPr sz="950" b="1">
                <a:solidFill>
                  <a:srgbClr val="C70F2D"/>
                </a:solidFill>
                <a:latin typeface="Arial"/>
              </a:rPr>
              <a:t>PK </a:t>
            </a:r>
            <a:r>
              <a:rPr sz="950" b="0">
                <a:solidFill>
                  <a:srgbClr val="272727"/>
                </a:solidFill>
                <a:latin typeface="Arial"/>
              </a:rPr>
              <a:t>id</a:t>
            </a:r>
          </a:p>
          <a:p>
            <a:pPr algn="l">
              <a:spcAft>
                <a:spcPts val="150"/>
              </a:spcAft>
              <a:buNone/>
            </a:pPr>
            <a:r>
              <a:rPr sz="950" b="1">
                <a:solidFill>
                  <a:srgbClr val="C70F2D"/>
                </a:solidFill>
                <a:latin typeface="Arial"/>
              </a:rPr>
              <a:t>FK </a:t>
            </a:r>
            <a:r>
              <a:rPr sz="950" b="0">
                <a:solidFill>
                  <a:srgbClr val="272727"/>
                </a:solidFill>
                <a:latin typeface="Arial"/>
              </a:rPr>
              <a:t>bus_id, trip_id</a:t>
            </a:r>
          </a:p>
          <a:p>
            <a:pPr algn="l">
              <a:spcAft>
                <a:spcPts val="150"/>
              </a:spcAft>
              <a:buNone/>
            </a:pPr>
            <a:r>
              <a:rPr sz="950" b="0">
                <a:solidFill>
                  <a:srgbClr val="272727"/>
                </a:solidFill>
                <a:latin typeface="Arial"/>
              </a:rPr>
              <a:t>reason</a:t>
            </a:r>
          </a:p>
          <a:p>
            <a:pPr algn="l">
              <a:spcAft>
                <a:spcPts val="150"/>
              </a:spcAft>
              <a:buNone/>
            </a:pPr>
            <a:r>
              <a:rPr sz="950" b="0">
                <a:solidFill>
                  <a:srgbClr val="272727"/>
                </a:solidFill>
                <a:latin typeface="Arial"/>
              </a:rPr>
              <a:t>payload (JSONB)</a:t>
            </a:r>
          </a:p>
          <a:p>
            <a:pPr algn="l">
              <a:spcAft>
                <a:spcPts val="150"/>
              </a:spcAft>
              <a:buNone/>
            </a:pPr>
            <a:r>
              <a:rPr sz="950" b="0">
                <a:solidFill>
                  <a:srgbClr val="272727"/>
                </a:solidFill>
                <a:latin typeface="Arial"/>
              </a:rPr>
              <a:t>received_at</a:t>
            </a:r>
          </a:p>
        </p:txBody>
      </p:sp>
      <p:cxnSp>
        <p:nvCxnSpPr>
          <p:cNvPr id="45" name="Connector 44"/>
          <p:cNvCxnSpPr/>
          <p:nvPr/>
        </p:nvCxnSpPr>
        <p:spPr>
          <a:xfrm>
            <a:off x="2926080" y="2450591"/>
            <a:ext cx="436168" cy="0"/>
          </a:xfrm>
          <a:prstGeom prst="line">
            <a:avLst/>
          </a:prstGeom>
          <a:ln w="19050">
            <a:solidFill>
              <a:srgbClr val="C70F2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944368" y="2221991"/>
            <a:ext cx="436168" cy="182880"/>
          </a:xfrm>
          <a:prstGeom prst="rect">
            <a:avLst/>
          </a:prstGeom>
          <a:noFill/>
        </p:spPr>
        <p:txBody>
          <a:bodyPr wrap="square" lIns="0" tIns="0" rIns="0" bIns="0" anchor="t">
            <a:noAutofit/>
          </a:bodyPr>
          <a:lstStyle/>
          <a:p>
            <a:pPr algn="ctr">
              <a:buNone/>
            </a:pPr>
            <a:r>
              <a:rPr sz="900" b="1">
                <a:solidFill>
                  <a:srgbClr val="C70F2D"/>
                </a:solidFill>
                <a:latin typeface="Arial"/>
              </a:rPr>
              <a:t>1 : N</a:t>
            </a:r>
          </a:p>
        </p:txBody>
      </p:sp>
      <p:cxnSp>
        <p:nvCxnSpPr>
          <p:cNvPr id="47" name="Connector 46"/>
          <p:cNvCxnSpPr/>
          <p:nvPr/>
        </p:nvCxnSpPr>
        <p:spPr>
          <a:xfrm>
            <a:off x="8827617" y="2450591"/>
            <a:ext cx="436169" cy="0"/>
          </a:xfrm>
          <a:prstGeom prst="line">
            <a:avLst/>
          </a:prstGeom>
          <a:ln w="19050">
            <a:solidFill>
              <a:srgbClr val="C70F2D"/>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845905" y="2221991"/>
            <a:ext cx="436168" cy="182880"/>
          </a:xfrm>
          <a:prstGeom prst="rect">
            <a:avLst/>
          </a:prstGeom>
          <a:noFill/>
        </p:spPr>
        <p:txBody>
          <a:bodyPr wrap="square" lIns="0" tIns="0" rIns="0" bIns="0" anchor="t">
            <a:noAutofit/>
          </a:bodyPr>
          <a:lstStyle/>
          <a:p>
            <a:pPr algn="ctr">
              <a:buNone/>
            </a:pPr>
            <a:r>
              <a:rPr sz="900" b="1">
                <a:solidFill>
                  <a:srgbClr val="C70F2D"/>
                </a:solidFill>
                <a:latin typeface="Arial"/>
              </a:rPr>
              <a:t>1 : 1</a:t>
            </a:r>
          </a:p>
        </p:txBody>
      </p:sp>
      <p:cxnSp>
        <p:nvCxnSpPr>
          <p:cNvPr id="49" name="Connector 48"/>
          <p:cNvCxnSpPr/>
          <p:nvPr/>
        </p:nvCxnSpPr>
        <p:spPr>
          <a:xfrm>
            <a:off x="2926080" y="4526280"/>
            <a:ext cx="436168" cy="0"/>
          </a:xfrm>
          <a:prstGeom prst="line">
            <a:avLst/>
          </a:prstGeom>
          <a:ln w="19050">
            <a:solidFill>
              <a:srgbClr val="C70F2D"/>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944368" y="4297680"/>
            <a:ext cx="436168" cy="182880"/>
          </a:xfrm>
          <a:prstGeom prst="rect">
            <a:avLst/>
          </a:prstGeom>
          <a:noFill/>
        </p:spPr>
        <p:txBody>
          <a:bodyPr wrap="square" lIns="0" tIns="0" rIns="0" bIns="0" anchor="t">
            <a:noAutofit/>
          </a:bodyPr>
          <a:lstStyle/>
          <a:p>
            <a:pPr algn="ctr">
              <a:buNone/>
            </a:pPr>
            <a:r>
              <a:rPr sz="900" b="1">
                <a:solidFill>
                  <a:srgbClr val="C70F2D"/>
                </a:solidFill>
                <a:latin typeface="Arial"/>
              </a:rPr>
              <a:t>1 : N</a:t>
            </a:r>
          </a:p>
        </p:txBody>
      </p:sp>
      <p:cxnSp>
        <p:nvCxnSpPr>
          <p:cNvPr id="51" name="Connector 50"/>
          <p:cNvCxnSpPr/>
          <p:nvPr/>
        </p:nvCxnSpPr>
        <p:spPr>
          <a:xfrm>
            <a:off x="1668780" y="3383280"/>
            <a:ext cx="0" cy="228600"/>
          </a:xfrm>
          <a:prstGeom prst="line">
            <a:avLst/>
          </a:prstGeom>
          <a:ln w="19050">
            <a:solidFill>
              <a:srgbClr val="C70F2D"/>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741932" y="3401568"/>
            <a:ext cx="1645920" cy="182880"/>
          </a:xfrm>
          <a:prstGeom prst="rect">
            <a:avLst/>
          </a:prstGeom>
          <a:noFill/>
        </p:spPr>
        <p:txBody>
          <a:bodyPr wrap="square" lIns="0" tIns="0" rIns="0" bIns="0" anchor="t">
            <a:noAutofit/>
          </a:bodyPr>
          <a:lstStyle/>
          <a:p>
            <a:pPr algn="l">
              <a:buNone/>
            </a:pPr>
            <a:r>
              <a:rPr sz="900" b="1">
                <a:solidFill>
                  <a:srgbClr val="C70F2D"/>
                </a:solidFill>
                <a:latin typeface="Arial"/>
              </a:rPr>
              <a:t>1 : N  trips</a:t>
            </a:r>
          </a:p>
        </p:txBody>
      </p:sp>
      <p:cxnSp>
        <p:nvCxnSpPr>
          <p:cNvPr id="53" name="Connector 52"/>
          <p:cNvCxnSpPr/>
          <p:nvPr/>
        </p:nvCxnSpPr>
        <p:spPr>
          <a:xfrm>
            <a:off x="7570317" y="3383280"/>
            <a:ext cx="0" cy="228600"/>
          </a:xfrm>
          <a:prstGeom prst="line">
            <a:avLst/>
          </a:prstGeom>
          <a:ln w="19050">
            <a:solidFill>
              <a:srgbClr val="C70F2D"/>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43469" y="3401568"/>
            <a:ext cx="1645920" cy="182880"/>
          </a:xfrm>
          <a:prstGeom prst="rect">
            <a:avLst/>
          </a:prstGeom>
          <a:noFill/>
        </p:spPr>
        <p:txBody>
          <a:bodyPr wrap="square" lIns="0" tIns="0" rIns="0" bIns="0" anchor="t">
            <a:noAutofit/>
          </a:bodyPr>
          <a:lstStyle/>
          <a:p>
            <a:pPr algn="l">
              <a:buNone/>
            </a:pPr>
            <a:r>
              <a:rPr sz="900" b="1">
                <a:solidFill>
                  <a:srgbClr val="C70F2D"/>
                </a:solidFill>
                <a:latin typeface="Arial"/>
              </a:rPr>
              <a:t>1 : 1  bus_latest</a:t>
            </a:r>
          </a:p>
        </p:txBody>
      </p:sp>
      <p:sp>
        <p:nvSpPr>
          <p:cNvPr id="55" name="TextBox 54"/>
          <p:cNvSpPr txBox="1"/>
          <p:nvPr/>
        </p:nvSpPr>
        <p:spPr>
          <a:xfrm>
            <a:off x="411480" y="5577840"/>
            <a:ext cx="11365992" cy="457200"/>
          </a:xfrm>
          <a:prstGeom prst="rect">
            <a:avLst/>
          </a:prstGeom>
          <a:noFill/>
        </p:spPr>
        <p:txBody>
          <a:bodyPr wrap="square" lIns="0" tIns="0" rIns="0" bIns="0" anchor="t">
            <a:noAutofit/>
          </a:bodyPr>
          <a:lstStyle/>
          <a:p>
            <a:pPr algn="l">
              <a:buNone/>
            </a:pPr>
            <a:r>
              <a:rPr sz="1050" b="1">
                <a:solidFill>
                  <a:srgbClr val="0A1D3D"/>
                </a:solidFill>
                <a:latin typeface="Arial"/>
              </a:rPr>
              <a:t>Also: </a:t>
            </a:r>
            <a:r>
              <a:rPr sz="1050" b="0">
                <a:solidFill>
                  <a:srgbClr val="272727"/>
                </a:solidFill>
                <a:latin typeface="Arial"/>
              </a:rPr>
              <a:t>routes 1:N buses · buses 1:N trips · users(driver) 1:N trips · trips 1:N rejected_pings.   </a:t>
            </a:r>
            <a:r>
              <a:rPr sz="1050" b="1">
                <a:solidFill>
                  <a:srgbClr val="C70F2D"/>
                </a:solidFill>
                <a:latin typeface="Arial"/>
              </a:rPr>
              <a:t>Red tables </a:t>
            </a:r>
            <a:r>
              <a:rPr sz="1050" b="0">
                <a:solidFill>
                  <a:srgbClr val="272727"/>
                </a:solidFill>
                <a:latin typeface="Arial"/>
              </a:rPr>
              <a:t>are written on every GPS fix, inside one transaction.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SYSTEM DESIGN — WORKFLOW OF ONE GPS FIX</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Driver App</a:t>
            </a:r>
          </a:p>
        </p:txBody>
      </p:sp>
      <p:cxnSp>
        <p:nvCxnSpPr>
          <p:cNvPr id="30" name="Connector 29"/>
          <p:cNvCxnSpPr/>
          <p:nvPr/>
        </p:nvCxnSpPr>
        <p:spPr>
          <a:xfrm>
            <a:off x="1234440"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359152"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Express API</a:t>
            </a:r>
          </a:p>
        </p:txBody>
      </p:sp>
      <p:cxnSp>
        <p:nvCxnSpPr>
          <p:cNvPr id="32" name="Connector 31"/>
          <p:cNvCxnSpPr/>
          <p:nvPr/>
        </p:nvCxnSpPr>
        <p:spPr>
          <a:xfrm>
            <a:off x="3182112"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306823"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Validation</a:t>
            </a:r>
          </a:p>
        </p:txBody>
      </p:sp>
      <p:cxnSp>
        <p:nvCxnSpPr>
          <p:cNvPr id="34" name="Connector 33"/>
          <p:cNvCxnSpPr/>
          <p:nvPr/>
        </p:nvCxnSpPr>
        <p:spPr>
          <a:xfrm>
            <a:off x="5129783"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54496"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PostgreSQL</a:t>
            </a:r>
          </a:p>
        </p:txBody>
      </p:sp>
      <p:cxnSp>
        <p:nvCxnSpPr>
          <p:cNvPr id="36" name="Connector 35"/>
          <p:cNvCxnSpPr/>
          <p:nvPr/>
        </p:nvCxnSpPr>
        <p:spPr>
          <a:xfrm>
            <a:off x="7077456"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202167"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Socket.IO</a:t>
            </a:r>
          </a:p>
        </p:txBody>
      </p:sp>
      <p:cxnSp>
        <p:nvCxnSpPr>
          <p:cNvPr id="38" name="Connector 37"/>
          <p:cNvCxnSpPr/>
          <p:nvPr/>
        </p:nvCxnSpPr>
        <p:spPr>
          <a:xfrm>
            <a:off x="9025128"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149839" y="1517904"/>
            <a:ext cx="1645920" cy="402336"/>
          </a:xfrm>
          <a:prstGeom prst="roundRect">
            <a:avLst>
              <a:gd name="adj" fmla="val 15909"/>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buNone/>
            </a:pPr>
            <a:r>
              <a:rPr sz="1150" b="1">
                <a:solidFill>
                  <a:srgbClr val="FFFFFF"/>
                </a:solidFill>
                <a:latin typeface="Arial"/>
              </a:rPr>
              <a:t>Student Map</a:t>
            </a:r>
          </a:p>
        </p:txBody>
      </p:sp>
      <p:cxnSp>
        <p:nvCxnSpPr>
          <p:cNvPr id="40" name="Connector 39"/>
          <p:cNvCxnSpPr/>
          <p:nvPr/>
        </p:nvCxnSpPr>
        <p:spPr>
          <a:xfrm>
            <a:off x="10972799" y="1920240"/>
            <a:ext cx="0" cy="3886200"/>
          </a:xfrm>
          <a:prstGeom prst="line">
            <a:avLst/>
          </a:prstGeom>
          <a:ln w="12700">
            <a:solidFill>
              <a:srgbClr val="8A94A0"/>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34440" y="2331720"/>
            <a:ext cx="1947672" cy="0"/>
          </a:xfrm>
          <a:prstGeom prst="line">
            <a:avLst/>
          </a:prstGeom>
          <a:ln w="22225">
            <a:solidFill>
              <a:srgbClr val="0A1D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07592" y="2112263"/>
            <a:ext cx="3044952" cy="182880"/>
          </a:xfrm>
          <a:prstGeom prst="rect">
            <a:avLst/>
          </a:prstGeom>
          <a:noFill/>
        </p:spPr>
        <p:txBody>
          <a:bodyPr wrap="square" lIns="0" tIns="0" rIns="0" bIns="0" anchor="t">
            <a:noAutofit/>
          </a:bodyPr>
          <a:lstStyle/>
          <a:p>
            <a:pPr algn="l">
              <a:buNone/>
            </a:pPr>
            <a:r>
              <a:rPr sz="1000" b="1">
                <a:solidFill>
                  <a:srgbClr val="0A1D3D"/>
                </a:solidFill>
                <a:latin typeface="Arial"/>
              </a:rPr>
              <a:t>1  POST /api/driver/locations  + JWT</a:t>
            </a:r>
          </a:p>
        </p:txBody>
      </p:sp>
      <p:cxnSp>
        <p:nvCxnSpPr>
          <p:cNvPr id="43" name="Connector 42"/>
          <p:cNvCxnSpPr/>
          <p:nvPr/>
        </p:nvCxnSpPr>
        <p:spPr>
          <a:xfrm>
            <a:off x="3182112" y="2788920"/>
            <a:ext cx="1947671" cy="0"/>
          </a:xfrm>
          <a:prstGeom prst="line">
            <a:avLst/>
          </a:prstGeom>
          <a:ln w="22225">
            <a:solidFill>
              <a:srgbClr val="0A1D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255264" y="2569463"/>
            <a:ext cx="3044951" cy="182880"/>
          </a:xfrm>
          <a:prstGeom prst="rect">
            <a:avLst/>
          </a:prstGeom>
          <a:noFill/>
        </p:spPr>
        <p:txBody>
          <a:bodyPr wrap="square" lIns="0" tIns="0" rIns="0" bIns="0" anchor="t">
            <a:noAutofit/>
          </a:bodyPr>
          <a:lstStyle/>
          <a:p>
            <a:pPr algn="l">
              <a:buNone/>
            </a:pPr>
            <a:r>
              <a:rPr sz="1000" b="1">
                <a:solidFill>
                  <a:srgbClr val="0A1D3D"/>
                </a:solidFill>
                <a:latin typeface="Arial"/>
              </a:rPr>
              <a:t>2  validateFix(fix, previous)</a:t>
            </a:r>
          </a:p>
        </p:txBody>
      </p:sp>
      <p:cxnSp>
        <p:nvCxnSpPr>
          <p:cNvPr id="45" name="Connector 44"/>
          <p:cNvCxnSpPr/>
          <p:nvPr/>
        </p:nvCxnSpPr>
        <p:spPr>
          <a:xfrm flipH="1">
            <a:off x="3182112" y="3246120"/>
            <a:ext cx="1947671" cy="0"/>
          </a:xfrm>
          <a:prstGeom prst="line">
            <a:avLst/>
          </a:prstGeom>
          <a:ln w="22225">
            <a:solidFill>
              <a:srgbClr val="0A1D3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255264" y="3026663"/>
            <a:ext cx="3044951" cy="182880"/>
          </a:xfrm>
          <a:prstGeom prst="rect">
            <a:avLst/>
          </a:prstGeom>
          <a:noFill/>
        </p:spPr>
        <p:txBody>
          <a:bodyPr wrap="square" lIns="0" tIns="0" rIns="0" bIns="0" anchor="t">
            <a:noAutofit/>
          </a:bodyPr>
          <a:lstStyle/>
          <a:p>
            <a:pPr algn="l">
              <a:buNone/>
            </a:pPr>
            <a:r>
              <a:rPr sz="1000" b="1">
                <a:solidFill>
                  <a:srgbClr val="0A1D3D"/>
                </a:solidFill>
                <a:latin typeface="Arial"/>
              </a:rPr>
              <a:t>3  ok  |  reason (e.g. IMPOSSIBLE_JUMP)</a:t>
            </a:r>
          </a:p>
        </p:txBody>
      </p:sp>
      <p:cxnSp>
        <p:nvCxnSpPr>
          <p:cNvPr id="47" name="Connector 46"/>
          <p:cNvCxnSpPr/>
          <p:nvPr/>
        </p:nvCxnSpPr>
        <p:spPr>
          <a:xfrm>
            <a:off x="3182112" y="3703320"/>
            <a:ext cx="3895344" cy="0"/>
          </a:xfrm>
          <a:prstGeom prst="line">
            <a:avLst/>
          </a:prstGeom>
          <a:ln w="22225">
            <a:solidFill>
              <a:srgbClr val="0A1D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255264" y="3483863"/>
            <a:ext cx="4992624" cy="182880"/>
          </a:xfrm>
          <a:prstGeom prst="rect">
            <a:avLst/>
          </a:prstGeom>
          <a:noFill/>
        </p:spPr>
        <p:txBody>
          <a:bodyPr wrap="square" lIns="0" tIns="0" rIns="0" bIns="0" anchor="t">
            <a:noAutofit/>
          </a:bodyPr>
          <a:lstStyle/>
          <a:p>
            <a:pPr algn="l">
              <a:buNone/>
            </a:pPr>
            <a:r>
              <a:rPr sz="1000" b="1">
                <a:solidFill>
                  <a:srgbClr val="0A1D3D"/>
                </a:solidFill>
                <a:latin typeface="Arial"/>
              </a:rPr>
              <a:t>4  INSERT location_pings + UPSERT bus_latest</a:t>
            </a:r>
          </a:p>
        </p:txBody>
      </p:sp>
      <p:cxnSp>
        <p:nvCxnSpPr>
          <p:cNvPr id="49" name="Connector 48"/>
          <p:cNvCxnSpPr/>
          <p:nvPr/>
        </p:nvCxnSpPr>
        <p:spPr>
          <a:xfrm>
            <a:off x="3182112" y="4160520"/>
            <a:ext cx="5843016" cy="0"/>
          </a:xfrm>
          <a:prstGeom prst="line">
            <a:avLst/>
          </a:prstGeom>
          <a:ln w="22225">
            <a:solidFill>
              <a:srgbClr val="0A1D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255264" y="3941063"/>
            <a:ext cx="6940295" cy="182880"/>
          </a:xfrm>
          <a:prstGeom prst="rect">
            <a:avLst/>
          </a:prstGeom>
          <a:noFill/>
        </p:spPr>
        <p:txBody>
          <a:bodyPr wrap="square" lIns="0" tIns="0" rIns="0" bIns="0" anchor="t">
            <a:noAutofit/>
          </a:bodyPr>
          <a:lstStyle/>
          <a:p>
            <a:pPr algn="l">
              <a:buNone/>
            </a:pPr>
            <a:r>
              <a:rPr sz="1000" b="1">
                <a:solidFill>
                  <a:srgbClr val="0A1D3D"/>
                </a:solidFill>
                <a:latin typeface="Arial"/>
              </a:rPr>
              <a:t>5  emit bus:location → route room</a:t>
            </a:r>
          </a:p>
        </p:txBody>
      </p:sp>
      <p:cxnSp>
        <p:nvCxnSpPr>
          <p:cNvPr id="51" name="Connector 50"/>
          <p:cNvCxnSpPr/>
          <p:nvPr/>
        </p:nvCxnSpPr>
        <p:spPr>
          <a:xfrm>
            <a:off x="9025128" y="4617720"/>
            <a:ext cx="1947671" cy="0"/>
          </a:xfrm>
          <a:prstGeom prst="line">
            <a:avLst/>
          </a:prstGeom>
          <a:ln w="22225">
            <a:solidFill>
              <a:srgbClr val="12A1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098280" y="4398264"/>
            <a:ext cx="3044951" cy="182880"/>
          </a:xfrm>
          <a:prstGeom prst="rect">
            <a:avLst/>
          </a:prstGeom>
          <a:noFill/>
        </p:spPr>
        <p:txBody>
          <a:bodyPr wrap="square" lIns="0" tIns="0" rIns="0" bIns="0" anchor="t">
            <a:noAutofit/>
          </a:bodyPr>
          <a:lstStyle/>
          <a:p>
            <a:pPr algn="l">
              <a:buNone/>
            </a:pPr>
            <a:r>
              <a:rPr sz="1000" b="1">
                <a:solidFill>
                  <a:srgbClr val="12A150"/>
                </a:solidFill>
                <a:latin typeface="Arial"/>
              </a:rPr>
              <a:t>6  push newest position</a:t>
            </a:r>
          </a:p>
        </p:txBody>
      </p:sp>
      <p:cxnSp>
        <p:nvCxnSpPr>
          <p:cNvPr id="53" name="Connector 52"/>
          <p:cNvCxnSpPr/>
          <p:nvPr/>
        </p:nvCxnSpPr>
        <p:spPr>
          <a:xfrm flipH="1">
            <a:off x="1234440" y="5074920"/>
            <a:ext cx="1947672" cy="0"/>
          </a:xfrm>
          <a:prstGeom prst="line">
            <a:avLst/>
          </a:prstGeom>
          <a:ln w="22225">
            <a:solidFill>
              <a:srgbClr val="0A1D3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307592" y="4855464"/>
            <a:ext cx="3044952" cy="182880"/>
          </a:xfrm>
          <a:prstGeom prst="rect">
            <a:avLst/>
          </a:prstGeom>
          <a:noFill/>
        </p:spPr>
        <p:txBody>
          <a:bodyPr wrap="square" lIns="0" tIns="0" rIns="0" bIns="0" anchor="t">
            <a:noAutofit/>
          </a:bodyPr>
          <a:lstStyle/>
          <a:p>
            <a:pPr algn="l">
              <a:buNone/>
            </a:pPr>
            <a:r>
              <a:rPr sz="1000" b="1">
                <a:solidFill>
                  <a:srgbClr val="0A1D3D"/>
                </a:solidFill>
                <a:latin typeface="Arial"/>
              </a:rPr>
              <a:t>7  202 accepted  |  422 + reasons</a:t>
            </a:r>
          </a:p>
        </p:txBody>
      </p:sp>
      <p:sp>
        <p:nvSpPr>
          <p:cNvPr id="55" name="Rounded Rectangle 54"/>
          <p:cNvSpPr/>
          <p:nvPr/>
        </p:nvSpPr>
        <p:spPr>
          <a:xfrm>
            <a:off x="6117336" y="5504688"/>
            <a:ext cx="1920240" cy="457200"/>
          </a:xfrm>
          <a:prstGeom prst="roundRect">
            <a:avLst>
              <a:gd name="adj" fmla="val 14000"/>
            </a:avLst>
          </a:prstGeom>
          <a:solidFill>
            <a:srgbClr val="FBEAEC"/>
          </a:solidFill>
          <a:ln w="12700">
            <a:solidFill>
              <a:srgbClr val="C70F2D"/>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buNone/>
            </a:pPr>
            <a:r>
              <a:rPr sz="900" b="1">
                <a:solidFill>
                  <a:srgbClr val="C70F2D"/>
                </a:solidFill>
                <a:latin typeface="Arial"/>
              </a:rPr>
              <a:t>rejected → INSERT rejected_pings (not broadcast)</a:t>
            </a:r>
          </a:p>
        </p:txBody>
      </p:sp>
      <p:sp>
        <p:nvSpPr>
          <p:cNvPr id="56" name="Rounded Rectangle 55"/>
          <p:cNvSpPr/>
          <p:nvPr/>
        </p:nvSpPr>
        <p:spPr>
          <a:xfrm>
            <a:off x="9765792" y="5504688"/>
            <a:ext cx="2011680" cy="457200"/>
          </a:xfrm>
          <a:prstGeom prst="roundRect">
            <a:avLst>
              <a:gd name="adj" fmla="val 14000"/>
            </a:avLst>
          </a:prstGeom>
          <a:solidFill>
            <a:srgbClr val="E8EDF5"/>
          </a:solidFill>
          <a:ln w="12700">
            <a:solidFill>
              <a:srgbClr val="0A1D3D"/>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buNone/>
            </a:pPr>
            <a:r>
              <a:rPr sz="900" b="1">
                <a:solidFill>
                  <a:srgbClr val="0A1D3D"/>
                </a:solidFill>
                <a:latin typeface="Arial"/>
              </a:rPr>
              <a:t>every 1 s: Live → Delayed → Offline</a:t>
            </a:r>
          </a:p>
        </p:txBody>
      </p:sp>
      <p:sp>
        <p:nvSpPr>
          <p:cNvPr id="57" name="Rounded Rectangle 56"/>
          <p:cNvSpPr/>
          <p:nvPr/>
        </p:nvSpPr>
        <p:spPr>
          <a:xfrm>
            <a:off x="411480" y="5504688"/>
            <a:ext cx="3291840" cy="457200"/>
          </a:xfrm>
          <a:prstGeom prst="roundRect">
            <a:avLst>
              <a:gd name="adj" fmla="val 14000"/>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buNone/>
            </a:pPr>
            <a:r>
              <a:rPr sz="900" b="1">
                <a:solidFill>
                  <a:srgbClr val="0A1D3D"/>
                </a:solidFill>
                <a:latin typeface="Arial"/>
              </a:rPr>
              <a:t>No network → fixes buffered, sent as one batch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INITIAL IMPLEMENTATION — MODULE 1 STATUS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72768"/>
            <a:ext cx="6309360" cy="4480560"/>
          </a:xfrm>
          <a:prstGeom prst="roundRect">
            <a:avLst>
              <a:gd name="adj" fmla="val 1428"/>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01168" tIns="164592" rIns="164592" bIns="91440">
            <a:noAutofit/>
          </a:bodyPr>
          <a:lstStyle/>
          <a:p>
            <a:pPr algn="l">
              <a:spcAft>
                <a:spcPts val="800"/>
              </a:spcAft>
              <a:buNone/>
            </a:pPr>
            <a:r>
              <a:rPr sz="1250" b="1">
                <a:solidFill>
                  <a:srgbClr val="0A1D3D"/>
                </a:solidFill>
                <a:latin typeface="Arial"/>
              </a:rPr>
              <a:t>COMPLETED — MODULE 1: LIVE LOCATION PIPELINE</a:t>
            </a:r>
          </a:p>
          <a:p>
            <a:pPr algn="l">
              <a:spcAft>
                <a:spcPts val="850"/>
              </a:spcAft>
              <a:buNone/>
            </a:pPr>
            <a:r>
              <a:rPr sz="1250" b="1">
                <a:solidFill>
                  <a:srgbClr val="12A150"/>
                </a:solidFill>
                <a:latin typeface="Arial"/>
              </a:rPr>
              <a:t>✓  </a:t>
            </a:r>
            <a:r>
              <a:rPr sz="1250" b="0">
                <a:solidFill>
                  <a:srgbClr val="272727"/>
                </a:solidFill>
                <a:latin typeface="Arial"/>
              </a:rPr>
              <a:t>Driver login with JWT; role checked on every driver call</a:t>
            </a:r>
          </a:p>
          <a:p>
            <a:pPr algn="l">
              <a:spcAft>
                <a:spcPts val="850"/>
              </a:spcAft>
              <a:buNone/>
            </a:pPr>
            <a:r>
              <a:rPr sz="1250" b="1">
                <a:solidFill>
                  <a:srgbClr val="12A150"/>
                </a:solidFill>
                <a:latin typeface="Arial"/>
              </a:rPr>
              <a:t>✓  </a:t>
            </a:r>
            <a:r>
              <a:rPr sz="1250" b="0">
                <a:solidFill>
                  <a:srgbClr val="272727"/>
                </a:solidFill>
                <a:latin typeface="Arial"/>
              </a:rPr>
              <a:t>Trip start / end; one active trip per bus (database constraint)</a:t>
            </a:r>
          </a:p>
          <a:p>
            <a:pPr algn="l">
              <a:spcAft>
                <a:spcPts val="850"/>
              </a:spcAft>
              <a:buNone/>
            </a:pPr>
            <a:r>
              <a:rPr sz="1250" b="1">
                <a:solidFill>
                  <a:srgbClr val="12A150"/>
                </a:solidFill>
                <a:latin typeface="Arial"/>
              </a:rPr>
              <a:t>✓  </a:t>
            </a:r>
            <a:r>
              <a:rPr sz="1250" b="0">
                <a:solidFill>
                  <a:srgbClr val="272727"/>
                </a:solidFill>
                <a:latin typeface="Arial"/>
              </a:rPr>
              <a:t>GPS from the phone or route simulation, every 5 / 10 / 15 s</a:t>
            </a:r>
          </a:p>
          <a:p>
            <a:pPr algn="l">
              <a:spcAft>
                <a:spcPts val="850"/>
              </a:spcAft>
              <a:buNone/>
            </a:pPr>
            <a:r>
              <a:rPr sz="1250" b="1">
                <a:solidFill>
                  <a:srgbClr val="12A150"/>
                </a:solidFill>
                <a:latin typeface="Arial"/>
              </a:rPr>
              <a:t>✓  </a:t>
            </a:r>
            <a:r>
              <a:rPr sz="1250" b="0">
                <a:solidFill>
                  <a:srgbClr val="272727"/>
                </a:solidFill>
                <a:latin typeface="Arial"/>
              </a:rPr>
              <a:t>Offline buffer (up to 200 fixes) uploaded as one batch</a:t>
            </a:r>
          </a:p>
          <a:p>
            <a:pPr algn="l">
              <a:spcAft>
                <a:spcPts val="850"/>
              </a:spcAft>
              <a:buNone/>
            </a:pPr>
            <a:r>
              <a:rPr sz="1250" b="1">
                <a:solidFill>
                  <a:srgbClr val="12A150"/>
                </a:solidFill>
                <a:latin typeface="Arial"/>
              </a:rPr>
              <a:t>✓  </a:t>
            </a:r>
            <a:r>
              <a:rPr sz="1250" b="0">
                <a:solidFill>
                  <a:srgbClr val="272727"/>
                </a:solidFill>
                <a:latin typeface="Arial"/>
              </a:rPr>
              <a:t>11-rule server validation + re-anchoring after GPS glitches</a:t>
            </a:r>
          </a:p>
          <a:p>
            <a:pPr algn="l">
              <a:spcAft>
                <a:spcPts val="850"/>
              </a:spcAft>
              <a:buNone/>
            </a:pPr>
            <a:r>
              <a:rPr sz="1250" b="1">
                <a:solidFill>
                  <a:srgbClr val="12A150"/>
                </a:solidFill>
                <a:latin typeface="Arial"/>
              </a:rPr>
              <a:t>✓  </a:t>
            </a:r>
            <a:r>
              <a:rPr sz="1250" b="0">
                <a:solidFill>
                  <a:srgbClr val="272727"/>
                </a:solidFill>
                <a:latin typeface="Arial"/>
              </a:rPr>
              <a:t>PostgreSQL history (location_pings) + live table (bus_latest)</a:t>
            </a:r>
          </a:p>
          <a:p>
            <a:pPr algn="l">
              <a:spcAft>
                <a:spcPts val="850"/>
              </a:spcAft>
              <a:buNone/>
            </a:pPr>
            <a:r>
              <a:rPr sz="1250" b="1">
                <a:solidFill>
                  <a:srgbClr val="12A150"/>
                </a:solidFill>
                <a:latin typeface="Arial"/>
              </a:rPr>
              <a:t>✓  </a:t>
            </a:r>
            <a:r>
              <a:rPr sz="1250" b="0">
                <a:solidFill>
                  <a:srgbClr val="272727"/>
                </a:solidFill>
                <a:latin typeface="Arial"/>
              </a:rPr>
              <a:t>Socket.IO push with one room per route</a:t>
            </a:r>
          </a:p>
          <a:p>
            <a:pPr algn="l">
              <a:spcAft>
                <a:spcPts val="850"/>
              </a:spcAft>
              <a:buNone/>
            </a:pPr>
            <a:r>
              <a:rPr sz="1250" b="1">
                <a:solidFill>
                  <a:srgbClr val="12A150"/>
                </a:solidFill>
                <a:latin typeface="Arial"/>
              </a:rPr>
              <a:t>✓  </a:t>
            </a:r>
            <a:r>
              <a:rPr sz="1250" b="0">
                <a:solidFill>
                  <a:srgbClr val="272727"/>
                </a:solidFill>
                <a:latin typeface="Arial"/>
              </a:rPr>
              <a:t>Live map: gliding markers, Live / Delayed / Offline, nearest stop</a:t>
            </a:r>
          </a:p>
          <a:p>
            <a:pPr algn="l">
              <a:spcAft>
                <a:spcPts val="850"/>
              </a:spcAft>
              <a:buNone/>
            </a:pPr>
            <a:r>
              <a:rPr sz="1250" b="1">
                <a:solidFill>
                  <a:srgbClr val="12A150"/>
                </a:solidFill>
                <a:latin typeface="Arial"/>
              </a:rPr>
              <a:t>✓  </a:t>
            </a:r>
            <a:r>
              <a:rPr sz="1250" b="0">
                <a:solidFill>
                  <a:srgbClr val="272727"/>
                </a:solidFill>
                <a:latin typeface="Arial"/>
              </a:rPr>
              <a:t>Real BSACIST data seeded: 28 routes, 395 boarding points</a:t>
            </a:r>
          </a:p>
          <a:p>
            <a:pPr algn="l">
              <a:spcAft>
                <a:spcPts val="850"/>
              </a:spcAft>
              <a:buNone/>
            </a:pPr>
            <a:r>
              <a:rPr sz="1250" b="1">
                <a:solidFill>
                  <a:srgbClr val="12A150"/>
                </a:solidFill>
                <a:latin typeface="Arial"/>
              </a:rPr>
              <a:t>✓  </a:t>
            </a:r>
            <a:r>
              <a:rPr sz="1250" b="0">
                <a:solidFill>
                  <a:srgbClr val="272727"/>
                </a:solidFill>
                <a:latin typeface="Arial"/>
              </a:rPr>
              <a:t>29 automated tests · bus simulator · latency script</a:t>
            </a:r>
          </a:p>
        </p:txBody>
      </p:sp>
      <p:sp>
        <p:nvSpPr>
          <p:cNvPr id="30" name="Rounded Rectangle 29"/>
          <p:cNvSpPr/>
          <p:nvPr/>
        </p:nvSpPr>
        <p:spPr>
          <a:xfrm>
            <a:off x="6903720" y="1572768"/>
            <a:ext cx="2359152" cy="2148840"/>
          </a:xfrm>
          <a:prstGeom prst="roundRect">
            <a:avLst>
              <a:gd name="adj" fmla="val 2978"/>
            </a:avLst>
          </a:prstGeom>
          <a:solidFill>
            <a:srgbClr val="FFFFFF"/>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a:buNone/>
            </a:pPr>
            <a:r>
              <a:rPr sz="3000" b="1">
                <a:solidFill>
                  <a:srgbClr val="12A150"/>
                </a:solidFill>
                <a:latin typeface="Arial"/>
              </a:rPr>
              <a:t>29 / 29</a:t>
            </a:r>
          </a:p>
          <a:p>
            <a:pPr algn="ctr">
              <a:spcBef>
                <a:spcPts val="600"/>
              </a:spcBef>
              <a:buNone/>
            </a:pPr>
            <a:r>
              <a:rPr sz="1050" b="0">
                <a:solidFill>
                  <a:srgbClr val="272727"/>
                </a:solidFill>
                <a:latin typeface="Arial"/>
              </a:rPr>
              <a:t>automated tests passing</a:t>
            </a:r>
          </a:p>
        </p:txBody>
      </p:sp>
      <p:sp>
        <p:nvSpPr>
          <p:cNvPr id="31" name="Rounded Rectangle 30"/>
          <p:cNvSpPr/>
          <p:nvPr/>
        </p:nvSpPr>
        <p:spPr>
          <a:xfrm>
            <a:off x="9390888" y="1572768"/>
            <a:ext cx="2359152" cy="2148840"/>
          </a:xfrm>
          <a:prstGeom prst="roundRect">
            <a:avLst>
              <a:gd name="adj" fmla="val 2978"/>
            </a:avLst>
          </a:prstGeom>
          <a:solidFill>
            <a:srgbClr val="FFFFFF"/>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a:buNone/>
            </a:pPr>
            <a:r>
              <a:rPr sz="3000" b="1">
                <a:solidFill>
                  <a:srgbClr val="12A150"/>
                </a:solidFill>
                <a:latin typeface="Arial"/>
              </a:rPr>
              <a:t>46 / 46</a:t>
            </a:r>
          </a:p>
          <a:p>
            <a:pPr algn="ctr">
              <a:spcBef>
                <a:spcPts val="600"/>
              </a:spcBef>
              <a:buNone/>
            </a:pPr>
            <a:r>
              <a:rPr sz="1050" b="0">
                <a:solidFill>
                  <a:srgbClr val="272727"/>
                </a:solidFill>
                <a:latin typeface="Arial"/>
              </a:rPr>
              <a:t>injected bad fixes rejected
with the correct reason</a:t>
            </a:r>
          </a:p>
        </p:txBody>
      </p:sp>
      <p:sp>
        <p:nvSpPr>
          <p:cNvPr id="32" name="Rounded Rectangle 31"/>
          <p:cNvSpPr/>
          <p:nvPr/>
        </p:nvSpPr>
        <p:spPr>
          <a:xfrm>
            <a:off x="6903720" y="3858768"/>
            <a:ext cx="2359152" cy="2148840"/>
          </a:xfrm>
          <a:prstGeom prst="roundRect">
            <a:avLst>
              <a:gd name="adj" fmla="val 2978"/>
            </a:avLst>
          </a:prstGeom>
          <a:solidFill>
            <a:srgbClr val="FFFFFF"/>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a:buNone/>
            </a:pPr>
            <a:r>
              <a:rPr sz="3000" b="1">
                <a:solidFill>
                  <a:srgbClr val="0A1D3D"/>
                </a:solidFill>
                <a:latin typeface="Arial"/>
              </a:rPr>
              <a:t>19.5 ms</a:t>
            </a:r>
          </a:p>
          <a:p>
            <a:pPr algn="ctr">
              <a:spcBef>
                <a:spcPts val="600"/>
              </a:spcBef>
              <a:buNone/>
            </a:pPr>
            <a:r>
              <a:rPr sz="1050" b="0">
                <a:solidFill>
                  <a:srgbClr val="272727"/>
                </a:solidFill>
                <a:latin typeface="Arial"/>
              </a:rPr>
              <a:t>median driver → map
(p95 43 ms, localhost)</a:t>
            </a:r>
          </a:p>
        </p:txBody>
      </p:sp>
      <p:sp>
        <p:nvSpPr>
          <p:cNvPr id="33" name="Rounded Rectangle 32"/>
          <p:cNvSpPr/>
          <p:nvPr/>
        </p:nvSpPr>
        <p:spPr>
          <a:xfrm>
            <a:off x="9390888" y="3858768"/>
            <a:ext cx="2359152" cy="2148840"/>
          </a:xfrm>
          <a:prstGeom prst="roundRect">
            <a:avLst>
              <a:gd name="adj" fmla="val 2978"/>
            </a:avLst>
          </a:prstGeom>
          <a:solidFill>
            <a:srgbClr val="FFFFFF"/>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a:buNone/>
            </a:pPr>
            <a:r>
              <a:rPr sz="3000" b="1">
                <a:solidFill>
                  <a:srgbClr val="0A1D3D"/>
                </a:solidFill>
                <a:latin typeface="Arial"/>
              </a:rPr>
              <a:t>2,342</a:t>
            </a:r>
          </a:p>
          <a:p>
            <a:pPr algn="ctr">
              <a:spcBef>
                <a:spcPts val="600"/>
              </a:spcBef>
              <a:buNone/>
            </a:pPr>
            <a:r>
              <a:rPr sz="1050" b="0">
                <a:solidFill>
                  <a:srgbClr val="272727"/>
                </a:solidFill>
                <a:latin typeface="Arial"/>
              </a:rPr>
              <a:t>lines of code
server 928 · client 911 · tests 503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MODULE 1 — SCREENS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pic>
        <p:nvPicPr>
          <p:cNvPr id="29" name="Picture 28" descr="map_route.png"/>
          <p:cNvPicPr>
            <a:picLocks noChangeAspect="1"/>
          </p:cNvPicPr>
          <p:nvPr/>
        </p:nvPicPr>
        <p:blipFill>
          <a:blip r:embed="rId3"/>
          <a:stretch>
            <a:fillRect/>
          </a:stretch>
        </p:blipFill>
        <p:spPr>
          <a:xfrm>
            <a:off x="411480" y="1572768"/>
            <a:ext cx="4754880" cy="2674620"/>
          </a:xfrm>
          <a:prstGeom prst="rect">
            <a:avLst/>
          </a:prstGeom>
          <a:ln w="9144">
            <a:solidFill>
              <a:srgbClr val="C8D2E0"/>
            </a:solidFill>
          </a:ln>
        </p:spPr>
      </p:pic>
      <p:pic>
        <p:nvPicPr>
          <p:cNvPr id="30" name="Picture 29" descr="driver.png"/>
          <p:cNvPicPr>
            <a:picLocks noChangeAspect="1"/>
          </p:cNvPicPr>
          <p:nvPr/>
        </p:nvPicPr>
        <p:blipFill>
          <a:blip r:embed="rId4"/>
          <a:stretch>
            <a:fillRect/>
          </a:stretch>
        </p:blipFill>
        <p:spPr>
          <a:xfrm>
            <a:off x="5349240" y="1572768"/>
            <a:ext cx="4754880" cy="2674620"/>
          </a:xfrm>
          <a:prstGeom prst="rect">
            <a:avLst/>
          </a:prstGeom>
          <a:ln w="9144">
            <a:solidFill>
              <a:srgbClr val="C8D2E0"/>
            </a:solidFill>
          </a:ln>
        </p:spPr>
      </p:pic>
      <p:pic>
        <p:nvPicPr>
          <p:cNvPr id="31" name="Picture 30" descr="map_mobile.png"/>
          <p:cNvPicPr>
            <a:picLocks noChangeAspect="1"/>
          </p:cNvPicPr>
          <p:nvPr/>
        </p:nvPicPr>
        <p:blipFill>
          <a:blip r:embed="rId5"/>
          <a:stretch>
            <a:fillRect/>
          </a:stretch>
        </p:blipFill>
        <p:spPr>
          <a:xfrm>
            <a:off x="10287000" y="1572768"/>
            <a:ext cx="1478858" cy="3200400"/>
          </a:xfrm>
          <a:prstGeom prst="rect">
            <a:avLst/>
          </a:prstGeom>
          <a:ln w="9144">
            <a:solidFill>
              <a:srgbClr val="C8D2E0"/>
            </a:solidFill>
          </a:ln>
        </p:spPr>
      </p:pic>
      <p:sp>
        <p:nvSpPr>
          <p:cNvPr id="32" name="TextBox 31"/>
          <p:cNvSpPr txBox="1"/>
          <p:nvPr/>
        </p:nvSpPr>
        <p:spPr>
          <a:xfrm>
            <a:off x="411480" y="4343400"/>
            <a:ext cx="4754880" cy="457200"/>
          </a:xfrm>
          <a:prstGeom prst="rect">
            <a:avLst/>
          </a:prstGeom>
          <a:noFill/>
        </p:spPr>
        <p:txBody>
          <a:bodyPr wrap="square" lIns="0" tIns="0" rIns="0" bIns="0" anchor="t">
            <a:noAutofit/>
          </a:bodyPr>
          <a:lstStyle/>
          <a:p>
            <a:pPr algn="l">
              <a:buNone/>
            </a:pPr>
            <a:r>
              <a:rPr sz="1200" b="1">
                <a:solidFill>
                  <a:srgbClr val="0A1D3D"/>
                </a:solidFill>
                <a:latin typeface="Arial"/>
              </a:rPr>
              <a:t>Student live map</a:t>
            </a:r>
          </a:p>
          <a:p>
            <a:pPr algn="l">
              <a:buNone/>
            </a:pPr>
            <a:r>
              <a:rPr sz="1000" b="0">
                <a:solidFill>
                  <a:srgbClr val="666666"/>
                </a:solidFill>
                <a:latin typeface="Arial"/>
              </a:rPr>
              <a:t>Route 118 selected: stops, timeline, nearest stop highlighted</a:t>
            </a:r>
          </a:p>
        </p:txBody>
      </p:sp>
      <p:sp>
        <p:nvSpPr>
          <p:cNvPr id="33" name="TextBox 32"/>
          <p:cNvSpPr txBox="1"/>
          <p:nvPr/>
        </p:nvSpPr>
        <p:spPr>
          <a:xfrm>
            <a:off x="5349240" y="4343400"/>
            <a:ext cx="4754880" cy="457200"/>
          </a:xfrm>
          <a:prstGeom prst="rect">
            <a:avLst/>
          </a:prstGeom>
          <a:noFill/>
        </p:spPr>
        <p:txBody>
          <a:bodyPr wrap="square" lIns="0" tIns="0" rIns="0" bIns="0" anchor="t">
            <a:noAutofit/>
          </a:bodyPr>
          <a:lstStyle/>
          <a:p>
            <a:pPr algn="l">
              <a:buNone/>
            </a:pPr>
            <a:r>
              <a:rPr sz="1200" b="1">
                <a:solidFill>
                  <a:srgbClr val="0A1D3D"/>
                </a:solidFill>
                <a:latin typeface="Arial"/>
              </a:rPr>
              <a:t>Driver app</a:t>
            </a:r>
          </a:p>
          <a:p>
            <a:pPr algn="l">
              <a:buNone/>
            </a:pPr>
            <a:r>
              <a:rPr sz="1000" b="0">
                <a:solidFill>
                  <a:srgbClr val="666666"/>
                </a:solidFill>
                <a:latin typeface="Arial"/>
              </a:rPr>
              <a:t>Trip running; test fixes rejected with their reasons</a:t>
            </a:r>
          </a:p>
        </p:txBody>
      </p:sp>
      <p:sp>
        <p:nvSpPr>
          <p:cNvPr id="34" name="TextBox 33"/>
          <p:cNvSpPr txBox="1"/>
          <p:nvPr/>
        </p:nvSpPr>
        <p:spPr>
          <a:xfrm>
            <a:off x="10149840" y="4864608"/>
            <a:ext cx="1737360" cy="457200"/>
          </a:xfrm>
          <a:prstGeom prst="rect">
            <a:avLst/>
          </a:prstGeom>
          <a:noFill/>
        </p:spPr>
        <p:txBody>
          <a:bodyPr wrap="square" lIns="0" tIns="0" rIns="0" bIns="0" anchor="t">
            <a:noAutofit/>
          </a:bodyPr>
          <a:lstStyle/>
          <a:p>
            <a:pPr algn="l">
              <a:buNone/>
            </a:pPr>
            <a:r>
              <a:rPr sz="1200" b="1">
                <a:solidFill>
                  <a:srgbClr val="0A1D3D"/>
                </a:solidFill>
                <a:latin typeface="Arial"/>
              </a:rPr>
              <a:t>Phone width</a:t>
            </a:r>
          </a:p>
        </p:txBody>
      </p:sp>
      <p:sp>
        <p:nvSpPr>
          <p:cNvPr id="35" name="Rounded Rectangle 34"/>
          <p:cNvSpPr/>
          <p:nvPr/>
        </p:nvSpPr>
        <p:spPr>
          <a:xfrm>
            <a:off x="411480" y="5349240"/>
            <a:ext cx="11365992" cy="658368"/>
          </a:xfrm>
          <a:prstGeom prst="roundRect">
            <a:avLst>
              <a:gd name="adj" fmla="val 9722"/>
            </a:avLst>
          </a:prstGeom>
          <a:solidFill>
            <a:srgbClr val="F4F4F4"/>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150" b="1">
                <a:solidFill>
                  <a:srgbClr val="C70F2D"/>
                </a:solidFill>
                <a:latin typeface="Arial"/>
              </a:rPr>
              <a:t>LIVE DEMO  </a:t>
            </a:r>
            <a:r>
              <a:rPr sz="1150" b="1">
                <a:solidFill>
                  <a:srgbClr val="0A1D3D"/>
                </a:solidFill>
                <a:latin typeface="Arial"/>
              </a:rPr>
              <a:t>Driver signs in ➜ Start trip ➜ bus appears on the student map ➜ send a bad fix ➜ rejected, bus unchanged ➜ a bus goes silent ➜ Delayed after 30 s, Offline after 2 min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MODULE 1 — SOURCE CODE EXPLAINED</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Rounded Rectangle 28"/>
          <p:cNvSpPr/>
          <p:nvPr/>
        </p:nvSpPr>
        <p:spPr>
          <a:xfrm>
            <a:off x="411480" y="1572768"/>
            <a:ext cx="6720840" cy="2542032"/>
          </a:xfrm>
          <a:prstGeom prst="roundRect">
            <a:avLst>
              <a:gd name="adj" fmla="val 2517"/>
            </a:avLst>
          </a:prstGeom>
          <a:solidFill>
            <a:srgbClr val="101B33"/>
          </a:solidFill>
          <a:ln>
            <a:noFill/>
          </a:ln>
        </p:spPr>
        <p:style>
          <a:lnRef idx="1">
            <a:schemeClr val="accent1"/>
          </a:lnRef>
          <a:fillRef idx="3">
            <a:schemeClr val="accent1"/>
          </a:fillRef>
          <a:effectRef idx="2">
            <a:schemeClr val="accent1"/>
          </a:effectRef>
          <a:fontRef idx="minor">
            <a:schemeClr val="lt1"/>
          </a:fontRef>
        </p:style>
        <p:txBody>
          <a:bodyPr rtlCol="0" anchor="t" wrap="square" lIns="182880" tIns="109728" rIns="137160" bIns="73152">
            <a:noAutofit/>
          </a:bodyPr>
          <a:lstStyle/>
          <a:p>
            <a:pPr algn="l">
              <a:spcAft>
                <a:spcPts val="50"/>
              </a:spcAft>
              <a:buNone/>
            </a:pPr>
            <a:r>
              <a:rPr sz="950" b="0">
                <a:solidFill>
                  <a:srgbClr val="8FA3C7"/>
                </a:solidFill>
                <a:latin typeface="Courier New"/>
              </a:rPr>
              <a:t>// server/validation.js  (simplified excerpt)</a:t>
            </a:r>
          </a:p>
          <a:p>
            <a:pPr algn="l">
              <a:spcAft>
                <a:spcPts val="50"/>
              </a:spcAft>
              <a:buNone/>
            </a:pPr>
            <a:r>
              <a:rPr sz="950" b="0">
                <a:solidFill>
                  <a:srgbClr val="F2F4F8"/>
                </a:solidFill>
                <a:latin typeface="Courier New"/>
              </a:rPr>
              <a:t>export function validateFix(fix, previous, limits, area, now) {</a:t>
            </a:r>
          </a:p>
          <a:p>
            <a:pPr algn="l">
              <a:spcAft>
                <a:spcPts val="50"/>
              </a:spcAft>
              <a:buNone/>
            </a:pPr>
            <a:r>
              <a:rPr sz="950" b="0">
                <a:solidFill>
                  <a:srgbClr val="F2F4F8"/>
                </a:solidFill>
                <a:latin typeface="Courier New"/>
              </a:rPr>
              <a:t>  if (!isFiniteNumber(lat) || Math.abs(lat) &gt; 90 ...)</a:t>
            </a:r>
          </a:p>
          <a:p>
            <a:pPr algn="l">
              <a:spcAft>
                <a:spcPts val="50"/>
              </a:spcAft>
              <a:buNone/>
            </a:pPr>
            <a:r>
              <a:rPr sz="950" b="0">
                <a:solidFill>
                  <a:srgbClr val="F2F4F8"/>
                </a:solidFill>
                <a:latin typeface="Courier New"/>
              </a:rPr>
              <a:t>    return fail(REJECT.INVALID_COORDINATES);</a:t>
            </a:r>
          </a:p>
          <a:p>
            <a:pPr algn="l">
              <a:spcAft>
                <a:spcPts val="50"/>
              </a:spcAft>
              <a:buNone/>
            </a:pPr>
            <a:r>
              <a:rPr sz="950" b="0">
                <a:solidFill>
                  <a:srgbClr val="F2F4F8"/>
                </a:solidFill>
                <a:latin typeface="Courier New"/>
              </a:rPr>
              <a:t>  if (lat ≈ 0 &amp;&amp; lng ≈ 0)  return fail(REJECT.NULL_ISLAND);</a:t>
            </a:r>
          </a:p>
          <a:p>
            <a:pPr algn="l">
              <a:spcAft>
                <a:spcPts val="50"/>
              </a:spcAft>
              <a:buNone/>
            </a:pPr>
            <a:r>
              <a:rPr sz="950" b="0">
                <a:solidFill>
                  <a:srgbClr val="F2F4F8"/>
                </a:solidFill>
                <a:latin typeface="Courier New"/>
              </a:rPr>
              <a:t>  if (outside(area))        return fail(REJECT.OUTSIDE_SERVICE_AREA);</a:t>
            </a:r>
          </a:p>
          <a:p>
            <a:pPr algn="l">
              <a:spcAft>
                <a:spcPts val="50"/>
              </a:spcAft>
              <a:buNone/>
            </a:pPr>
            <a:r>
              <a:rPr sz="950" b="0">
                <a:solidFill>
                  <a:srgbClr val="F2F4F8"/>
                </a:solidFill>
                <a:latin typeface="Courier New"/>
              </a:rPr>
              <a:t>  if (accuracyM &gt; 100)      return fail(REJECT.LOW_ACCURACY);</a:t>
            </a:r>
          </a:p>
          <a:p>
            <a:pPr algn="l">
              <a:spcAft>
                <a:spcPts val="50"/>
              </a:spcAft>
              <a:buNone/>
            </a:pPr>
            <a:r>
              <a:rPr sz="950" b="0">
                <a:solidFill>
                  <a:srgbClr val="8FA3C7"/>
                </a:solidFill>
                <a:latin typeface="Courier New"/>
              </a:rPr>
              <a:t>  // ... speed, heading, future / stale timestamp</a:t>
            </a:r>
          </a:p>
          <a:p>
            <a:pPr algn="l">
              <a:spcAft>
                <a:spcPts val="50"/>
              </a:spcAft>
              <a:buNone/>
            </a:pPr>
            <a:r>
              <a:rPr sz="950" b="0">
                <a:solidFill>
                  <a:srgbClr val="F2F4F8"/>
                </a:solidFill>
                <a:latin typeface="Courier New"/>
              </a:rPr>
              <a:t>  if (previous) {</a:t>
            </a:r>
          </a:p>
          <a:p>
            <a:pPr algn="l">
              <a:spcAft>
                <a:spcPts val="50"/>
              </a:spcAft>
              <a:buNone/>
            </a:pPr>
            <a:r>
              <a:rPr sz="950" b="0">
                <a:solidFill>
                  <a:srgbClr val="F2F4F8"/>
                </a:solidFill>
                <a:latin typeface="Courier New"/>
              </a:rPr>
              <a:t>    if (dtS &lt;= 0) return fail(REJECT.OUT_OF_ORDER);</a:t>
            </a:r>
          </a:p>
          <a:p>
            <a:pPr algn="l">
              <a:spcAft>
                <a:spcPts val="50"/>
              </a:spcAft>
              <a:buNone/>
            </a:pPr>
            <a:r>
              <a:rPr sz="950" b="0">
                <a:solidFill>
                  <a:srgbClr val="F2F4F8"/>
                </a:solidFill>
                <a:latin typeface="Courier New"/>
              </a:rPr>
              <a:t>    const kmh = haversine(previous, fix) / dtS * 3.6;</a:t>
            </a:r>
          </a:p>
          <a:p>
            <a:pPr algn="l">
              <a:spcAft>
                <a:spcPts val="50"/>
              </a:spcAft>
              <a:buNone/>
            </a:pPr>
            <a:r>
              <a:rPr sz="950" b="0">
                <a:solidFill>
                  <a:srgbClr val="F2F4F8"/>
                </a:solidFill>
                <a:latin typeface="Courier New"/>
              </a:rPr>
              <a:t>    if (metres &gt; 50 &amp;&amp; kmh &gt; 150) return fail(REJECT.IMPOSSIBLE_JUMP);</a:t>
            </a:r>
          </a:p>
          <a:p>
            <a:pPr algn="l">
              <a:spcAft>
                <a:spcPts val="50"/>
              </a:spcAft>
              <a:buNone/>
            </a:pPr>
            <a:r>
              <a:rPr sz="950" b="0">
                <a:solidFill>
                  <a:srgbClr val="F2F4F8"/>
                </a:solidFill>
                <a:latin typeface="Courier New"/>
              </a:rPr>
              <a:t>  }</a:t>
            </a:r>
          </a:p>
          <a:p>
            <a:pPr algn="l">
              <a:spcAft>
                <a:spcPts val="50"/>
              </a:spcAft>
              <a:buNone/>
            </a:pPr>
            <a:r>
              <a:rPr sz="950" b="0">
                <a:solidFill>
                  <a:srgbClr val="F2F4F8"/>
                </a:solidFill>
                <a:latin typeface="Courier New"/>
              </a:rPr>
              <a:t>  return { ok: true, fix };</a:t>
            </a:r>
          </a:p>
          <a:p>
            <a:pPr algn="l">
              <a:spcAft>
                <a:spcPts val="50"/>
              </a:spcAft>
              <a:buNone/>
            </a:pPr>
            <a:r>
              <a:rPr sz="950" b="0">
                <a:solidFill>
                  <a:srgbClr val="F2F4F8"/>
                </a:solidFill>
                <a:latin typeface="Courier New"/>
              </a:rPr>
              <a:t>}</a:t>
            </a:r>
          </a:p>
        </p:txBody>
      </p:sp>
      <p:sp>
        <p:nvSpPr>
          <p:cNvPr id="30" name="Rounded Rectangle 29"/>
          <p:cNvSpPr/>
          <p:nvPr/>
        </p:nvSpPr>
        <p:spPr>
          <a:xfrm>
            <a:off x="411480" y="4224528"/>
            <a:ext cx="6720840" cy="1810512"/>
          </a:xfrm>
          <a:prstGeom prst="roundRect">
            <a:avLst>
              <a:gd name="adj" fmla="val 3535"/>
            </a:avLst>
          </a:prstGeom>
          <a:solidFill>
            <a:srgbClr val="101B33"/>
          </a:solidFill>
          <a:ln>
            <a:noFill/>
          </a:ln>
        </p:spPr>
        <p:style>
          <a:lnRef idx="1">
            <a:schemeClr val="accent1"/>
          </a:lnRef>
          <a:fillRef idx="3">
            <a:schemeClr val="accent1"/>
          </a:fillRef>
          <a:effectRef idx="2">
            <a:schemeClr val="accent1"/>
          </a:effectRef>
          <a:fontRef idx="minor">
            <a:schemeClr val="lt1"/>
          </a:fontRef>
        </p:style>
        <p:txBody>
          <a:bodyPr rtlCol="0" anchor="t" wrap="square" lIns="182880" tIns="109728" rIns="137160" bIns="73152">
            <a:noAutofit/>
          </a:bodyPr>
          <a:lstStyle/>
          <a:p>
            <a:pPr algn="l">
              <a:spcAft>
                <a:spcPts val="50"/>
              </a:spcAft>
              <a:buNone/>
            </a:pPr>
            <a:r>
              <a:rPr sz="950" b="0">
                <a:solidFill>
                  <a:srgbClr val="8FA3C7"/>
                </a:solidFill>
                <a:latin typeface="Courier New"/>
              </a:rPr>
              <a:t>// server/tracking.js  ingestNow()</a:t>
            </a:r>
          </a:p>
          <a:p>
            <a:pPr algn="l">
              <a:spcAft>
                <a:spcPts val="50"/>
              </a:spcAft>
              <a:buNone/>
            </a:pPr>
            <a:r>
              <a:rPr sz="950" b="0">
                <a:solidFill>
                  <a:srgbClr val="F2F4F8"/>
                </a:solidFill>
                <a:latin typeface="Courier New"/>
              </a:rPr>
              <a:t>for (const fix of oldestFirst(batch)) {</a:t>
            </a:r>
          </a:p>
          <a:p>
            <a:pPr algn="l">
              <a:spcAft>
                <a:spcPts val="50"/>
              </a:spcAft>
              <a:buNone/>
            </a:pPr>
            <a:r>
              <a:rPr sz="950" b="0">
                <a:solidFill>
                  <a:srgbClr val="F2F4F8"/>
                </a:solidFill>
                <a:latin typeface="Courier New"/>
              </a:rPr>
              <a:t>  const verdict = validateFix(fix, previous, ...);</a:t>
            </a:r>
          </a:p>
          <a:p>
            <a:pPr algn="l">
              <a:spcAft>
                <a:spcPts val="50"/>
              </a:spcAft>
              <a:buNone/>
            </a:pPr>
            <a:r>
              <a:rPr sz="950" b="0">
                <a:solidFill>
                  <a:srgbClr val="F2F4F8"/>
                </a:solidFill>
                <a:latin typeface="Courier New"/>
              </a:rPr>
              <a:t>  if (!verdict.ok) { INSERT rejected_pings; continue; }</a:t>
            </a:r>
          </a:p>
          <a:p>
            <a:pPr algn="l">
              <a:spcAft>
                <a:spcPts val="50"/>
              </a:spcAft>
              <a:buNone/>
            </a:pPr>
            <a:r>
              <a:rPr sz="950" b="0">
                <a:solidFill>
                  <a:srgbClr val="F2F4F8"/>
                </a:solidFill>
                <a:latin typeface="Courier New"/>
              </a:rPr>
              <a:t>  await db.transaction(tx =&gt; {</a:t>
            </a:r>
          </a:p>
          <a:p>
            <a:pPr algn="l">
              <a:spcAft>
                <a:spcPts val="50"/>
              </a:spcAft>
              <a:buNone/>
            </a:pPr>
            <a:r>
              <a:rPr sz="950" b="0">
                <a:solidFill>
                  <a:srgbClr val="F2F4F8"/>
                </a:solidFill>
                <a:latin typeface="Courier New"/>
              </a:rPr>
              <a:t>    INSERT location_pings ...;</a:t>
            </a:r>
          </a:p>
          <a:p>
            <a:pPr algn="l">
              <a:spcAft>
                <a:spcPts val="50"/>
              </a:spcAft>
              <a:buNone/>
            </a:pPr>
            <a:r>
              <a:rPr sz="950" b="0">
                <a:solidFill>
                  <a:srgbClr val="F2F4F8"/>
                </a:solidFill>
                <a:latin typeface="Courier New"/>
              </a:rPr>
              <a:t>    UPSERT bus_latest ... ON CONFLICT (bus_id) DO UPDATE;</a:t>
            </a:r>
          </a:p>
          <a:p>
            <a:pPr algn="l">
              <a:spcAft>
                <a:spcPts val="50"/>
              </a:spcAft>
              <a:buNone/>
            </a:pPr>
            <a:r>
              <a:rPr sz="950" b="0">
                <a:solidFill>
                  <a:srgbClr val="F2F4F8"/>
                </a:solidFill>
                <a:latin typeface="Courier New"/>
              </a:rPr>
              <a:t>  });</a:t>
            </a:r>
          </a:p>
          <a:p>
            <a:pPr algn="l">
              <a:spcAft>
                <a:spcPts val="50"/>
              </a:spcAft>
              <a:buNone/>
            </a:pPr>
            <a:r>
              <a:rPr sz="950" b="0">
                <a:solidFill>
                  <a:srgbClr val="F2F4F8"/>
                </a:solidFill>
                <a:latin typeface="Courier New"/>
              </a:rPr>
              <a:t>  previous = verdict.fix;</a:t>
            </a:r>
          </a:p>
          <a:p>
            <a:pPr algn="l">
              <a:spcAft>
                <a:spcPts val="50"/>
              </a:spcAft>
              <a:buNone/>
            </a:pPr>
            <a:r>
              <a:rPr sz="950" b="0">
                <a:solidFill>
                  <a:srgbClr val="F2F4F8"/>
                </a:solidFill>
                <a:latin typeface="Courier New"/>
              </a:rPr>
              <a:t>}</a:t>
            </a:r>
          </a:p>
          <a:p>
            <a:pPr algn="l">
              <a:spcAft>
                <a:spcPts val="50"/>
              </a:spcAft>
              <a:buNone/>
            </a:pPr>
            <a:r>
              <a:rPr sz="950" b="0">
                <a:solidFill>
                  <a:srgbClr val="F2F4F8"/>
                </a:solidFill>
                <a:latin typeface="Courier New"/>
              </a:rPr>
              <a:t>emit('route:' + code, 'bus:location', newest);</a:t>
            </a:r>
          </a:p>
        </p:txBody>
      </p:sp>
      <p:sp>
        <p:nvSpPr>
          <p:cNvPr id="31" name="Rounded Rectangle 30"/>
          <p:cNvSpPr/>
          <p:nvPr/>
        </p:nvSpPr>
        <p:spPr>
          <a:xfrm>
            <a:off x="7315200" y="1572768"/>
            <a:ext cx="4462272" cy="804672"/>
          </a:xfrm>
          <a:prstGeom prst="roundRect">
            <a:avLst>
              <a:gd name="adj" fmla="val 7954"/>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buNone/>
            </a:pPr>
            <a:r>
              <a:rPr sz="1100" b="1">
                <a:solidFill>
                  <a:srgbClr val="C70F2D"/>
                </a:solidFill>
                <a:latin typeface="Courier New"/>
              </a:rPr>
              <a:t>auth.js</a:t>
            </a:r>
          </a:p>
          <a:p>
            <a:pPr algn="l">
              <a:spcBef>
                <a:spcPts val="100"/>
              </a:spcBef>
              <a:buNone/>
            </a:pPr>
            <a:r>
              <a:rPr sz="1000" b="0">
                <a:solidFill>
                  <a:srgbClr val="272727"/>
                </a:solidFill>
                <a:latin typeface="Arial"/>
              </a:rPr>
              <a:t>bcrypt check, JWT with role and bus. The bus id comes from the token — a driver can only move their own bus.</a:t>
            </a:r>
          </a:p>
        </p:txBody>
      </p:sp>
      <p:sp>
        <p:nvSpPr>
          <p:cNvPr id="32" name="Rounded Rectangle 31"/>
          <p:cNvSpPr/>
          <p:nvPr/>
        </p:nvSpPr>
        <p:spPr>
          <a:xfrm>
            <a:off x="7315200" y="2468880"/>
            <a:ext cx="4462272" cy="804672"/>
          </a:xfrm>
          <a:prstGeom prst="roundRect">
            <a:avLst>
              <a:gd name="adj" fmla="val 7954"/>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buNone/>
            </a:pPr>
            <a:r>
              <a:rPr sz="1100" b="1">
                <a:solidFill>
                  <a:srgbClr val="C70F2D"/>
                </a:solidFill>
                <a:latin typeface="Courier New"/>
              </a:rPr>
              <a:t>validation.js</a:t>
            </a:r>
          </a:p>
          <a:p>
            <a:pPr algn="l">
              <a:spcBef>
                <a:spcPts val="100"/>
              </a:spcBef>
              <a:buNone/>
            </a:pPr>
            <a:r>
              <a:rPr sz="1000" b="0">
                <a:solidFill>
                  <a:srgbClr val="272727"/>
                </a:solidFill>
                <a:latin typeface="Arial"/>
              </a:rPr>
              <a:t>Pure function, 11 rules, unit-tested. Jitter under 50 m is never called a jump.</a:t>
            </a:r>
          </a:p>
        </p:txBody>
      </p:sp>
      <p:sp>
        <p:nvSpPr>
          <p:cNvPr id="33" name="Rounded Rectangle 32"/>
          <p:cNvSpPr/>
          <p:nvPr/>
        </p:nvSpPr>
        <p:spPr>
          <a:xfrm>
            <a:off x="7315200" y="3364991"/>
            <a:ext cx="4462272" cy="804672"/>
          </a:xfrm>
          <a:prstGeom prst="roundRect">
            <a:avLst>
              <a:gd name="adj" fmla="val 7954"/>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buNone/>
            </a:pPr>
            <a:r>
              <a:rPr sz="1100" b="1">
                <a:solidFill>
                  <a:srgbClr val="C70F2D"/>
                </a:solidFill>
                <a:latin typeface="Courier New"/>
              </a:rPr>
              <a:t>tracking.js</a:t>
            </a:r>
          </a:p>
          <a:p>
            <a:pPr algn="l">
              <a:spcBef>
                <a:spcPts val="100"/>
              </a:spcBef>
              <a:buNone/>
            </a:pPr>
            <a:r>
              <a:rPr sz="1000" b="0">
                <a:solidFill>
                  <a:srgbClr val="272727"/>
                </a:solidFill>
                <a:latin typeface="Arial"/>
              </a:rPr>
              <a:t>Per-bus queue, batch sorted oldest first, one transaction per fix, re-anchor after 3 consistent jumps.</a:t>
            </a:r>
          </a:p>
        </p:txBody>
      </p:sp>
      <p:sp>
        <p:nvSpPr>
          <p:cNvPr id="34" name="Rounded Rectangle 33"/>
          <p:cNvSpPr/>
          <p:nvPr/>
        </p:nvSpPr>
        <p:spPr>
          <a:xfrm>
            <a:off x="7315200" y="4261104"/>
            <a:ext cx="4462272" cy="804672"/>
          </a:xfrm>
          <a:prstGeom prst="roundRect">
            <a:avLst>
              <a:gd name="adj" fmla="val 7954"/>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buNone/>
            </a:pPr>
            <a:r>
              <a:rPr sz="1100" b="1">
                <a:solidFill>
                  <a:srgbClr val="C70F2D"/>
                </a:solidFill>
                <a:latin typeface="Courier New"/>
              </a:rPr>
              <a:t>app.js</a:t>
            </a:r>
          </a:p>
          <a:p>
            <a:pPr algn="l">
              <a:spcBef>
                <a:spcPts val="100"/>
              </a:spcBef>
              <a:buNone/>
            </a:pPr>
            <a:r>
              <a:rPr sz="1000" b="0">
                <a:solidFill>
                  <a:srgbClr val="272727"/>
                </a:solidFill>
                <a:latin typeface="Arial"/>
              </a:rPr>
              <a:t>REST routes; 202 / 422 per batch; Socket.IO rooms so a student only receives their route.</a:t>
            </a:r>
          </a:p>
        </p:txBody>
      </p:sp>
      <p:sp>
        <p:nvSpPr>
          <p:cNvPr id="35" name="Rounded Rectangle 34"/>
          <p:cNvSpPr/>
          <p:nvPr/>
        </p:nvSpPr>
        <p:spPr>
          <a:xfrm>
            <a:off x="7315200" y="5157216"/>
            <a:ext cx="4462272" cy="804672"/>
          </a:xfrm>
          <a:prstGeom prst="roundRect">
            <a:avLst>
              <a:gd name="adj" fmla="val 7954"/>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bIns="36576">
            <a:noAutofit/>
          </a:bodyPr>
          <a:lstStyle/>
          <a:p>
            <a:pPr algn="l">
              <a:buNone/>
            </a:pPr>
            <a:r>
              <a:rPr sz="1100" b="1">
                <a:solidFill>
                  <a:srgbClr val="C70F2D"/>
                </a:solidFill>
                <a:latin typeface="Courier New"/>
              </a:rPr>
              <a:t>LiveMap.jsx</a:t>
            </a:r>
          </a:p>
          <a:p>
            <a:pPr algn="l">
              <a:spcBef>
                <a:spcPts val="100"/>
              </a:spcBef>
              <a:buNone/>
            </a:pPr>
            <a:r>
              <a:rPr sz="1000" b="0">
                <a:solidFill>
                  <a:srgbClr val="272727"/>
                </a:solidFill>
                <a:latin typeface="Arial"/>
              </a:rPr>
              <a:t>Snapshot + events; freshness recomputed each second; markers glide between fixes.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MODULE 1 — TESTING AND MEASURED RESULTS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graphicFrame>
        <p:nvGraphicFramePr>
          <p:cNvPr id="29" name="Table 28"/>
          <p:cNvGraphicFramePr>
            <a:graphicFrameLocks noGrp="1"/>
          </p:cNvGraphicFramePr>
          <p:nvPr/>
        </p:nvGraphicFramePr>
        <p:xfrm>
          <a:off x="411480" y="1572768"/>
          <a:ext cx="6492240" cy="3218688"/>
        </p:xfrm>
        <a:graphic>
          <a:graphicData uri="http://schemas.openxmlformats.org/drawingml/2006/table">
            <a:tbl>
              <a:tblPr firstRow="0" bandRow="0">
                <a:tableStyleId>{5C22544A-7EE6-4342-B048-85BDC9FD1C3A}</a:tableStyleId>
              </a:tblPr>
              <a:tblGrid>
                <a:gridCol w="1508760"/>
                <a:gridCol w="3566160"/>
                <a:gridCol w="594360"/>
                <a:gridCol w="822960"/>
              </a:tblGrid>
              <a:tr h="384048">
                <a:tc>
                  <a:txBody>
                    <a:bodyPr wrap="square" lIns="73152" tIns="36576" rIns="73152" bIns="36576" anchor="t">
                      <a:noAutofit/>
                    </a:bodyPr>
                    <a:lstStyle/>
                    <a:p>
                      <a:pPr algn="l">
                        <a:buNone/>
                      </a:pPr>
                      <a:r>
                        <a:rPr sz="1100" b="1">
                          <a:solidFill>
                            <a:srgbClr val="FFFFFF"/>
                          </a:solidFill>
                          <a:latin typeface="Arial"/>
                        </a:rPr>
                        <a:t>Test suite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What is checked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Cases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c>
                  <a:txBody>
                    <a:bodyPr wrap="square" lIns="73152" tIns="36576" rIns="73152" bIns="36576" anchor="t">
                      <a:noAutofit/>
                    </a:bodyPr>
                    <a:lstStyle/>
                    <a:p>
                      <a:pPr algn="l">
                        <a:buNone/>
                      </a:pPr>
                      <a:r>
                        <a:rPr sz="1100" b="1">
                          <a:solidFill>
                            <a:srgbClr val="FFFFFF"/>
                          </a:solidFill>
                          <a:latin typeface="Arial"/>
                        </a:rPr>
                        <a:t>Result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A1D3D"/>
                    </a:solidFill>
                  </a:tcPr>
                </a:tc>
              </a:tr>
              <a:tr h="566928">
                <a:tc>
                  <a:txBody>
                    <a:bodyPr wrap="square" lIns="73152" tIns="36576" rIns="73152" bIns="36576" anchor="t">
                      <a:noAutofit/>
                    </a:bodyPr>
                    <a:lstStyle/>
                    <a:p>
                      <a:pPr algn="l">
                        <a:buNone/>
                      </a:pPr>
                      <a:r>
                        <a:rPr sz="1050" b="1">
                          <a:solidFill>
                            <a:srgbClr val="0A1D3D"/>
                          </a:solidFill>
                          <a:latin typeface="Arial"/>
                        </a:rPr>
                        <a:t>Validation rules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each rejection rule, clock skew, jitter, out-of-order, jump</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18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12A150"/>
                          </a:solidFill>
                          <a:latin typeface="Arial"/>
                        </a:rPr>
                        <a:t>Pass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566928">
                <a:tc>
                  <a:txBody>
                    <a:bodyPr wrap="square" lIns="73152" tIns="36576" rIns="73152" bIns="36576" anchor="t">
                      <a:noAutofit/>
                    </a:bodyPr>
                    <a:lstStyle/>
                    <a:p>
                      <a:pPr algn="l">
                        <a:buNone/>
                      </a:pPr>
                      <a:r>
                        <a:rPr sz="1050" b="1">
                          <a:solidFill>
                            <a:srgbClr val="0A1D3D"/>
                          </a:solidFill>
                          <a:latin typeface="Arial"/>
                        </a:rPr>
                        <a:t>Freshness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boundaries 30 s / 31 s / 120 s / 121 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1</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12A150"/>
                          </a:solidFill>
                          <a:latin typeface="Arial"/>
                        </a:rPr>
                        <a:t>Pass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566928">
                <a:tc>
                  <a:txBody>
                    <a:bodyPr wrap="square" lIns="73152" tIns="36576" rIns="73152" bIns="36576" anchor="t">
                      <a:noAutofit/>
                    </a:bodyPr>
                    <a:lstStyle/>
                    <a:p>
                      <a:pPr algn="l">
                        <a:buNone/>
                      </a:pPr>
                      <a:r>
                        <a:rPr sz="1050" b="1">
                          <a:solidFill>
                            <a:srgbClr val="0A1D3D"/>
                          </a:solidFill>
                          <a:latin typeface="Arial"/>
                        </a:rPr>
                        <a:t>Geometry</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haversine distance, path walking</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Arial"/>
                        </a:rPr>
                        <a:t>2</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12A150"/>
                          </a:solidFill>
                          <a:latin typeface="Arial"/>
                        </a:rPr>
                        <a:t>Pass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r h="566928">
                <a:tc>
                  <a:txBody>
                    <a:bodyPr wrap="square" lIns="73152" tIns="36576" rIns="73152" bIns="36576" anchor="t">
                      <a:noAutofit/>
                    </a:bodyPr>
                    <a:lstStyle/>
                    <a:p>
                      <a:pPr algn="l">
                        <a:buNone/>
                      </a:pPr>
                      <a:r>
                        <a:rPr sz="1050" b="1">
                          <a:solidFill>
                            <a:srgbClr val="0A1D3D"/>
                          </a:solidFill>
                          <a:latin typeface="Arial"/>
                        </a:rPr>
                        <a:t>API end-to-end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real PostgreSQL: seed, login, 401 / 403 / 409, store + push, batch order, re-anchor, trip end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0">
                          <a:solidFill>
                            <a:srgbClr val="272727"/>
                          </a:solidFill>
                          <a:latin typeface="Arial"/>
                        </a:rPr>
                        <a:t>8</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lIns="73152" tIns="36576" rIns="73152" bIns="36576" anchor="t">
                      <a:noAutofit/>
                    </a:bodyPr>
                    <a:lstStyle/>
                    <a:p>
                      <a:pPr algn="l">
                        <a:buNone/>
                      </a:pPr>
                      <a:r>
                        <a:rPr sz="1050" b="1">
                          <a:solidFill>
                            <a:srgbClr val="12A150"/>
                          </a:solidFill>
                          <a:latin typeface="Arial"/>
                        </a:rPr>
                        <a:t>Pass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566928">
                <a:tc>
                  <a:txBody>
                    <a:bodyPr wrap="square" lIns="73152" tIns="36576" rIns="73152" bIns="36576" anchor="t">
                      <a:noAutofit/>
                    </a:bodyPr>
                    <a:lstStyle/>
                    <a:p>
                      <a:pPr algn="l">
                        <a:buNone/>
                      </a:pPr>
                      <a:r>
                        <a:rPr sz="1050" b="1">
                          <a:solidFill>
                            <a:srgbClr val="0A1D3D"/>
                          </a:solidFill>
                          <a:latin typeface="Arial"/>
                        </a:rPr>
                        <a:t>Total</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0">
                          <a:solidFill>
                            <a:srgbClr val="272727"/>
                          </a:solidFill>
                          <a:latin typeface="Courier New"/>
                        </a:rPr>
                        <a:t>npm test</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272727"/>
                          </a:solidFill>
                          <a:latin typeface="Arial"/>
                        </a:rPr>
                        <a:t>29</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c>
                  <a:txBody>
                    <a:bodyPr wrap="square" lIns="73152" tIns="36576" rIns="73152" bIns="36576" anchor="t">
                      <a:noAutofit/>
                    </a:bodyPr>
                    <a:lstStyle/>
                    <a:p>
                      <a:pPr algn="l">
                        <a:buNone/>
                      </a:pPr>
                      <a:r>
                        <a:rPr sz="1050" b="1">
                          <a:solidFill>
                            <a:srgbClr val="12A150"/>
                          </a:solidFill>
                          <a:latin typeface="Arial"/>
                        </a:rPr>
                        <a:t>29 / 29</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F4F4F4"/>
                    </a:solidFill>
                  </a:tcPr>
                </a:tc>
              </a:tr>
            </a:tbl>
          </a:graphicData>
        </a:graphic>
      </p:graphicFrame>
      <p:sp>
        <p:nvSpPr>
          <p:cNvPr id="30" name="Rounded Rectangle 29"/>
          <p:cNvSpPr/>
          <p:nvPr/>
        </p:nvSpPr>
        <p:spPr>
          <a:xfrm>
            <a:off x="7086600" y="1572768"/>
            <a:ext cx="4690872" cy="3383280"/>
          </a:xfrm>
          <a:prstGeom prst="roundRect">
            <a:avLst>
              <a:gd name="adj" fmla="val 1891"/>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tIns="146304" rIns="137160" bIns="91440">
            <a:noAutofit/>
          </a:bodyPr>
          <a:lstStyle/>
          <a:p>
            <a:pPr algn="l">
              <a:spcAft>
                <a:spcPts val="800"/>
              </a:spcAft>
              <a:buNone/>
            </a:pPr>
            <a:r>
              <a:rPr sz="1200" b="1">
                <a:solidFill>
                  <a:srgbClr val="0A1D3D"/>
                </a:solidFill>
                <a:latin typeface="Arial"/>
              </a:rPr>
              <a:t>MEASURED ON THE RUNNING SYSTEM</a:t>
            </a:r>
          </a:p>
          <a:p>
            <a:pPr algn="l">
              <a:spcBef>
                <a:spcPts val="400"/>
              </a:spcBef>
              <a:buNone/>
            </a:pPr>
            <a:r>
              <a:rPr sz="1100" b="1">
                <a:solidFill>
                  <a:srgbClr val="C70F2D"/>
                </a:solidFill>
                <a:latin typeface="Arial"/>
              </a:rPr>
              <a:t>Driver POST → student map</a:t>
            </a:r>
          </a:p>
          <a:p>
            <a:pPr algn="l">
              <a:spcAft>
                <a:spcPts val="400"/>
              </a:spcAft>
              <a:buNone/>
            </a:pPr>
            <a:r>
              <a:rPr sz="1100" b="0">
                <a:solidFill>
                  <a:srgbClr val="272727"/>
                </a:solidFill>
                <a:latin typeface="Arial"/>
              </a:rPr>
              <a:t>median 19.5 ms · p95 43.1 ms · max 73.5 ms (100 fixes)</a:t>
            </a:r>
          </a:p>
          <a:p>
            <a:pPr algn="l">
              <a:spcBef>
                <a:spcPts val="400"/>
              </a:spcBef>
              <a:buNone/>
            </a:pPr>
            <a:r>
              <a:rPr sz="1100" b="1">
                <a:solidFill>
                  <a:srgbClr val="C70F2D"/>
                </a:solidFill>
                <a:latin typeface="Arial"/>
              </a:rPr>
              <a:t>HTTP response to the driver</a:t>
            </a:r>
          </a:p>
          <a:p>
            <a:pPr algn="l">
              <a:spcAft>
                <a:spcPts val="400"/>
              </a:spcAft>
              <a:buNone/>
            </a:pPr>
            <a:r>
              <a:rPr sz="1100" b="0">
                <a:solidFill>
                  <a:srgbClr val="272727"/>
                </a:solidFill>
                <a:latin typeface="Arial"/>
              </a:rPr>
              <a:t>median 20.9 ms · p95 46.8 ms</a:t>
            </a:r>
          </a:p>
          <a:p>
            <a:pPr algn="l">
              <a:spcBef>
                <a:spcPts val="400"/>
              </a:spcBef>
              <a:buNone/>
            </a:pPr>
            <a:r>
              <a:rPr sz="1100" b="1">
                <a:solidFill>
                  <a:srgbClr val="C70F2D"/>
                </a:solidFill>
                <a:latin typeface="Arial"/>
              </a:rPr>
              <a:t>Invalid fixes injected (4 kinds)</a:t>
            </a:r>
          </a:p>
          <a:p>
            <a:pPr algn="l">
              <a:spcAft>
                <a:spcPts val="400"/>
              </a:spcAft>
              <a:buNone/>
            </a:pPr>
            <a:r>
              <a:rPr sz="1100" b="0">
                <a:solidFill>
                  <a:srgbClr val="272727"/>
                </a:solidFill>
                <a:latin typeface="Arial"/>
              </a:rPr>
              <a:t>46 / 46 rejected with the correct reason</a:t>
            </a:r>
          </a:p>
          <a:p>
            <a:pPr algn="l">
              <a:spcBef>
                <a:spcPts val="400"/>
              </a:spcBef>
              <a:buNone/>
            </a:pPr>
            <a:r>
              <a:rPr sz="1100" b="1">
                <a:solidFill>
                  <a:srgbClr val="C70F2D"/>
                </a:solidFill>
                <a:latin typeface="Arial"/>
              </a:rPr>
              <a:t>Freshness</a:t>
            </a:r>
          </a:p>
          <a:p>
            <a:pPr algn="l">
              <a:spcAft>
                <a:spcPts val="400"/>
              </a:spcAft>
              <a:buNone/>
            </a:pPr>
            <a:r>
              <a:rPr sz="1100" b="0">
                <a:solidFill>
                  <a:srgbClr val="272727"/>
                </a:solidFill>
                <a:latin typeface="Arial"/>
              </a:rPr>
              <a:t>silent bus: Delayed after 30 s, Offline after 2 min, last-seen stop shown</a:t>
            </a:r>
          </a:p>
        </p:txBody>
      </p:sp>
      <p:sp>
        <p:nvSpPr>
          <p:cNvPr id="31" name="Rounded Rectangle 30"/>
          <p:cNvSpPr/>
          <p:nvPr/>
        </p:nvSpPr>
        <p:spPr>
          <a:xfrm>
            <a:off x="411480" y="5120640"/>
            <a:ext cx="11365992" cy="868680"/>
          </a:xfrm>
          <a:prstGeom prst="roundRect">
            <a:avLst>
              <a:gd name="adj" fmla="val 7368"/>
            </a:avLst>
          </a:prstGeom>
          <a:solidFill>
            <a:srgbClr val="FFFFFF"/>
          </a:solidFill>
          <a:ln w="12700">
            <a:solidFill>
              <a:srgbClr val="C8D2E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noAutofit/>
          </a:bodyPr>
          <a:lstStyle/>
          <a:p>
            <a:pPr algn="l">
              <a:buNone/>
            </a:pPr>
            <a:r>
              <a:rPr sz="1150" b="1">
                <a:solidFill>
                  <a:srgbClr val="C70F2D"/>
                </a:solidFill>
                <a:latin typeface="Arial"/>
              </a:rPr>
              <a:t>Honest limits: </a:t>
            </a:r>
            <a:r>
              <a:rPr sz="1150" b="0">
                <a:solidFill>
                  <a:srgbClr val="272727"/>
                </a:solidFill>
                <a:latin typeface="Arial"/>
              </a:rPr>
              <a:t>latency is measured on localhost with 4 simulated buses, so it excludes the mobile network. The route-118 pilot will measure real network delay, GPS accuracy, battery and data use.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STATUS AND NEXT STEPS (PHASE 3)</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Pentagon 28"/>
          <p:cNvSpPr/>
          <p:nvPr/>
        </p:nvSpPr>
        <p:spPr>
          <a:xfrm>
            <a:off x="411480" y="1691640"/>
            <a:ext cx="2331720" cy="685800"/>
          </a:xfrm>
          <a:prstGeom prst="homePlate">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noAutofit/>
          </a:bodyPr>
          <a:lstStyle/>
          <a:p>
            <a:pPr algn="ctr">
              <a:buNone/>
            </a:pPr>
            <a:r>
              <a:rPr sz="1200" b="1">
                <a:solidFill>
                  <a:srgbClr val="FFFFFF"/>
                </a:solidFill>
                <a:latin typeface="Arial"/>
              </a:rPr>
              <a:t>Weeks 1–3</a:t>
            </a:r>
          </a:p>
        </p:txBody>
      </p:sp>
      <p:sp>
        <p:nvSpPr>
          <p:cNvPr id="30" name="Rounded Rectangle 29"/>
          <p:cNvSpPr/>
          <p:nvPr/>
        </p:nvSpPr>
        <p:spPr>
          <a:xfrm>
            <a:off x="457200" y="2560320"/>
            <a:ext cx="2121408" cy="1737360"/>
          </a:xfrm>
          <a:prstGeom prst="roundRect">
            <a:avLst>
              <a:gd name="adj" fmla="val 368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tIns="128016" rIns="109728" bIns="73152">
            <a:noAutofit/>
          </a:bodyPr>
          <a:lstStyle/>
          <a:p>
            <a:pPr algn="l">
              <a:spcAft>
                <a:spcPts val="600"/>
              </a:spcAft>
              <a:buNone/>
            </a:pPr>
            <a:r>
              <a:rPr sz="1400" b="1">
                <a:solidFill>
                  <a:srgbClr val="C70F2D"/>
                </a:solidFill>
                <a:latin typeface="Arial"/>
              </a:rPr>
              <a:t>M2 ETA</a:t>
            </a:r>
          </a:p>
          <a:p>
            <a:pPr algn="l">
              <a:buNone/>
            </a:pPr>
            <a:r>
              <a:rPr sz="1250" b="0">
                <a:solidFill>
                  <a:srgbClr val="272727"/>
                </a:solidFill>
                <a:latin typeface="Arial"/>
              </a:rPr>
              <a:t>Stop-arrival detection; baseline vs. Gradient Boosting; MAE per route</a:t>
            </a:r>
          </a:p>
        </p:txBody>
      </p:sp>
      <p:sp>
        <p:nvSpPr>
          <p:cNvPr id="31" name="Chevron 30"/>
          <p:cNvSpPr/>
          <p:nvPr/>
        </p:nvSpPr>
        <p:spPr>
          <a:xfrm>
            <a:off x="2697480" y="1691640"/>
            <a:ext cx="2331720" cy="685800"/>
          </a:xfrm>
          <a:prstGeom prst="chevron">
            <a:avLst/>
          </a:prstGeom>
          <a:solidFill>
            <a:srgbClr val="1F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noAutofit/>
          </a:bodyPr>
          <a:lstStyle/>
          <a:p>
            <a:pPr algn="ctr">
              <a:buNone/>
            </a:pPr>
            <a:r>
              <a:rPr sz="1200" b="1">
                <a:solidFill>
                  <a:srgbClr val="FFFFFF"/>
                </a:solidFill>
                <a:latin typeface="Arial"/>
              </a:rPr>
              <a:t>Week 4</a:t>
            </a:r>
          </a:p>
        </p:txBody>
      </p:sp>
      <p:sp>
        <p:nvSpPr>
          <p:cNvPr id="32" name="Rounded Rectangle 31"/>
          <p:cNvSpPr/>
          <p:nvPr/>
        </p:nvSpPr>
        <p:spPr>
          <a:xfrm>
            <a:off x="2743200" y="2560320"/>
            <a:ext cx="2121408" cy="1737360"/>
          </a:xfrm>
          <a:prstGeom prst="roundRect">
            <a:avLst>
              <a:gd name="adj" fmla="val 368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tIns="128016" rIns="109728" bIns="73152">
            <a:noAutofit/>
          </a:bodyPr>
          <a:lstStyle/>
          <a:p>
            <a:pPr algn="l">
              <a:spcAft>
                <a:spcPts val="600"/>
              </a:spcAft>
              <a:buNone/>
            </a:pPr>
            <a:r>
              <a:rPr sz="1400" b="1">
                <a:solidFill>
                  <a:srgbClr val="C70F2D"/>
                </a:solidFill>
                <a:latin typeface="Arial"/>
              </a:rPr>
              <a:t>M3 Alerts</a:t>
            </a:r>
          </a:p>
          <a:p>
            <a:pPr algn="l">
              <a:buNone/>
            </a:pPr>
            <a:r>
              <a:rPr sz="1250" b="0">
                <a:solidFill>
                  <a:srgbClr val="272727"/>
                </a:solidFill>
                <a:latin typeface="Arial"/>
              </a:rPr>
              <a:t>Web push: bus 10 min away, delay and breakdown notices</a:t>
            </a:r>
          </a:p>
        </p:txBody>
      </p:sp>
      <p:sp>
        <p:nvSpPr>
          <p:cNvPr id="33" name="Chevron 32"/>
          <p:cNvSpPr/>
          <p:nvPr/>
        </p:nvSpPr>
        <p:spPr>
          <a:xfrm>
            <a:off x="4983480" y="1691640"/>
            <a:ext cx="2331720" cy="685800"/>
          </a:xfrm>
          <a:prstGeom prst="chevron">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noAutofit/>
          </a:bodyPr>
          <a:lstStyle/>
          <a:p>
            <a:pPr algn="ctr">
              <a:buNone/>
            </a:pPr>
            <a:r>
              <a:rPr sz="1200" b="1">
                <a:solidFill>
                  <a:srgbClr val="FFFFFF"/>
                </a:solidFill>
                <a:latin typeface="Arial"/>
              </a:rPr>
              <a:t>Weeks 4–5</a:t>
            </a:r>
          </a:p>
        </p:txBody>
      </p:sp>
      <p:sp>
        <p:nvSpPr>
          <p:cNvPr id="34" name="Rounded Rectangle 33"/>
          <p:cNvSpPr/>
          <p:nvPr/>
        </p:nvSpPr>
        <p:spPr>
          <a:xfrm>
            <a:off x="5029200" y="2560320"/>
            <a:ext cx="2121408" cy="1737360"/>
          </a:xfrm>
          <a:prstGeom prst="roundRect">
            <a:avLst>
              <a:gd name="adj" fmla="val 368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tIns="128016" rIns="109728" bIns="73152">
            <a:noAutofit/>
          </a:bodyPr>
          <a:lstStyle/>
          <a:p>
            <a:pPr algn="l">
              <a:spcAft>
                <a:spcPts val="600"/>
              </a:spcAft>
              <a:buNone/>
            </a:pPr>
            <a:r>
              <a:rPr sz="1400" b="1">
                <a:solidFill>
                  <a:srgbClr val="C70F2D"/>
                </a:solidFill>
                <a:latin typeface="Arial"/>
              </a:rPr>
              <a:t>M4 Admin</a:t>
            </a:r>
          </a:p>
          <a:p>
            <a:pPr algn="l">
              <a:buNone/>
            </a:pPr>
            <a:r>
              <a:rPr sz="1250" b="0">
                <a:solidFill>
                  <a:srgbClr val="272727"/>
                </a:solidFill>
                <a:latin typeface="Arial"/>
              </a:rPr>
              <a:t>CRUD for routes, stops, buses, drivers; live fleet view</a:t>
            </a:r>
          </a:p>
        </p:txBody>
      </p:sp>
      <p:sp>
        <p:nvSpPr>
          <p:cNvPr id="35" name="Chevron 34"/>
          <p:cNvSpPr/>
          <p:nvPr/>
        </p:nvSpPr>
        <p:spPr>
          <a:xfrm>
            <a:off x="7269480" y="1691640"/>
            <a:ext cx="2331720" cy="685800"/>
          </a:xfrm>
          <a:prstGeom prst="chevron">
            <a:avLst/>
          </a:prstGeom>
          <a:solidFill>
            <a:srgbClr val="1F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noAutofit/>
          </a:bodyPr>
          <a:lstStyle/>
          <a:p>
            <a:pPr algn="ctr">
              <a:buNone/>
            </a:pPr>
            <a:r>
              <a:rPr sz="1200" b="1">
                <a:solidFill>
                  <a:srgbClr val="FFFFFF"/>
                </a:solidFill>
                <a:latin typeface="Arial"/>
              </a:rPr>
              <a:t>Week 6</a:t>
            </a:r>
          </a:p>
        </p:txBody>
      </p:sp>
      <p:sp>
        <p:nvSpPr>
          <p:cNvPr id="36" name="Rounded Rectangle 35"/>
          <p:cNvSpPr/>
          <p:nvPr/>
        </p:nvSpPr>
        <p:spPr>
          <a:xfrm>
            <a:off x="7315200" y="2560320"/>
            <a:ext cx="2121408" cy="1737360"/>
          </a:xfrm>
          <a:prstGeom prst="roundRect">
            <a:avLst>
              <a:gd name="adj" fmla="val 368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tIns="128016" rIns="109728" bIns="73152">
            <a:noAutofit/>
          </a:bodyPr>
          <a:lstStyle/>
          <a:p>
            <a:pPr algn="l">
              <a:spcAft>
                <a:spcPts val="600"/>
              </a:spcAft>
              <a:buNone/>
            </a:pPr>
            <a:r>
              <a:rPr sz="1400" b="1">
                <a:solidFill>
                  <a:srgbClr val="C70F2D"/>
                </a:solidFill>
                <a:latin typeface="Arial"/>
              </a:rPr>
              <a:t>M5 Reports</a:t>
            </a:r>
          </a:p>
          <a:p>
            <a:pPr algn="l">
              <a:buNone/>
            </a:pPr>
            <a:r>
              <a:rPr sz="1250" b="0">
                <a:solidFill>
                  <a:srgbClr val="272727"/>
                </a:solidFill>
                <a:latin typeface="Arial"/>
              </a:rPr>
              <a:t>Trip replay, delay per stop, CSV export</a:t>
            </a:r>
          </a:p>
        </p:txBody>
      </p:sp>
      <p:sp>
        <p:nvSpPr>
          <p:cNvPr id="37" name="Chevron 36"/>
          <p:cNvSpPr/>
          <p:nvPr/>
        </p:nvSpPr>
        <p:spPr>
          <a:xfrm>
            <a:off x="9555480" y="1691640"/>
            <a:ext cx="2331720" cy="685800"/>
          </a:xfrm>
          <a:prstGeom prst="chevron">
            <a:avLst/>
          </a:prstGeom>
          <a:solidFill>
            <a:srgbClr val="0A1D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noAutofit/>
          </a:bodyPr>
          <a:lstStyle/>
          <a:p>
            <a:pPr algn="ctr">
              <a:buNone/>
            </a:pPr>
            <a:r>
              <a:rPr sz="1200" b="1">
                <a:solidFill>
                  <a:srgbClr val="FFFFFF"/>
                </a:solidFill>
                <a:latin typeface="Arial"/>
              </a:rPr>
              <a:t>Weeks 7–8</a:t>
            </a:r>
          </a:p>
        </p:txBody>
      </p:sp>
      <p:sp>
        <p:nvSpPr>
          <p:cNvPr id="38" name="Rounded Rectangle 37"/>
          <p:cNvSpPr/>
          <p:nvPr/>
        </p:nvSpPr>
        <p:spPr>
          <a:xfrm>
            <a:off x="9601200" y="2560320"/>
            <a:ext cx="2121408" cy="1737360"/>
          </a:xfrm>
          <a:prstGeom prst="roundRect">
            <a:avLst>
              <a:gd name="adj" fmla="val 3684"/>
            </a:avLst>
          </a:prstGeom>
          <a:solidFill>
            <a:srgbClr val="F4F4F4"/>
          </a:solidFill>
          <a:ln w="12700">
            <a:solidFill>
              <a:srgbClr val="0A1D3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7160" tIns="128016" rIns="109728" bIns="73152">
            <a:noAutofit/>
          </a:bodyPr>
          <a:lstStyle/>
          <a:p>
            <a:pPr algn="l">
              <a:spcAft>
                <a:spcPts val="600"/>
              </a:spcAft>
              <a:buNone/>
            </a:pPr>
            <a:r>
              <a:rPr sz="1400" b="1">
                <a:solidFill>
                  <a:srgbClr val="C70F2D"/>
                </a:solidFill>
                <a:latin typeface="Arial"/>
              </a:rPr>
              <a:t>M6 Android + pilot</a:t>
            </a:r>
          </a:p>
          <a:p>
            <a:pPr algn="l">
              <a:buNone/>
            </a:pPr>
            <a:r>
              <a:rPr sz="1250" b="0">
                <a:solidFill>
                  <a:srgbClr val="272727"/>
                </a:solidFill>
                <a:latin typeface="Arial"/>
              </a:rPr>
              <a:t>Background GPS; pilot on route 118; final report</a:t>
            </a:r>
          </a:p>
        </p:txBody>
      </p:sp>
      <p:sp>
        <p:nvSpPr>
          <p:cNvPr id="39" name="Rounded Rectangle 38"/>
          <p:cNvSpPr/>
          <p:nvPr/>
        </p:nvSpPr>
        <p:spPr>
          <a:xfrm>
            <a:off x="411480" y="4572000"/>
            <a:ext cx="5577840" cy="1234440"/>
          </a:xfrm>
          <a:prstGeom prst="roundRect">
            <a:avLst>
              <a:gd name="adj" fmla="val 5185"/>
            </a:avLst>
          </a:prstGeom>
          <a:solidFill>
            <a:srgbClr val="E7F6EC"/>
          </a:solidFill>
          <a:ln w="12700">
            <a:solidFill>
              <a:srgbClr val="12A150"/>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tIns="109728" rIns="137160" bIns="73152">
            <a:noAutofit/>
          </a:bodyPr>
          <a:lstStyle/>
          <a:p>
            <a:pPr algn="l">
              <a:spcAft>
                <a:spcPts val="400"/>
              </a:spcAft>
              <a:buNone/>
            </a:pPr>
            <a:r>
              <a:rPr sz="1200" b="1">
                <a:solidFill>
                  <a:srgbClr val="12A150"/>
                </a:solidFill>
                <a:latin typeface="Arial"/>
              </a:rPr>
              <a:t>DONE IN PHASE 2</a:t>
            </a:r>
          </a:p>
          <a:p>
            <a:pPr algn="l">
              <a:buNone/>
            </a:pPr>
            <a:r>
              <a:rPr sz="1250" b="0">
                <a:solidFill>
                  <a:srgbClr val="272727"/>
                </a:solidFill>
                <a:latin typeface="Arial"/>
              </a:rPr>
              <a:t>All 12 rubric items prepared; Module 1 implemented, tested and demonstrable.</a:t>
            </a:r>
          </a:p>
        </p:txBody>
      </p:sp>
      <p:sp>
        <p:nvSpPr>
          <p:cNvPr id="40" name="Rounded Rectangle 39"/>
          <p:cNvSpPr/>
          <p:nvPr/>
        </p:nvSpPr>
        <p:spPr>
          <a:xfrm>
            <a:off x="6199632" y="4572000"/>
            <a:ext cx="5577840" cy="1234440"/>
          </a:xfrm>
          <a:prstGeom prst="roundRect">
            <a:avLst>
              <a:gd name="adj" fmla="val 5185"/>
            </a:avLst>
          </a:prstGeom>
          <a:solidFill>
            <a:srgbClr val="FBEAEC"/>
          </a:solidFill>
          <a:ln w="12700">
            <a:solidFill>
              <a:srgbClr val="C70F2D"/>
            </a:solidFill>
          </a:ln>
          <a:effectLst>
            <a:outerShdw blurRad="5715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tIns="109728" rIns="137160" bIns="73152">
            <a:noAutofit/>
          </a:bodyPr>
          <a:lstStyle/>
          <a:p>
            <a:pPr algn="l">
              <a:spcAft>
                <a:spcPts val="400"/>
              </a:spcAft>
              <a:buNone/>
            </a:pPr>
            <a:r>
              <a:rPr sz="1200" b="1">
                <a:solidFill>
                  <a:srgbClr val="C70F2D"/>
                </a:solidFill>
                <a:latin typeface="Arial"/>
              </a:rPr>
              <a:t>RISKS AND MITIGATION</a:t>
            </a:r>
          </a:p>
          <a:p>
            <a:pPr algn="l">
              <a:buNone/>
            </a:pPr>
            <a:r>
              <a:rPr sz="1250" b="0">
                <a:solidFill>
                  <a:srgbClr val="272727"/>
                </a:solidFill>
                <a:latin typeface="Arial"/>
              </a:rPr>
              <a:t>Phone battery / background GPS → Android foreground service. Weak network → offline buffer (built).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REFERENCES</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457200" y="1536192"/>
            <a:ext cx="6949440" cy="4526280"/>
          </a:xfrm>
          <a:prstGeom prst="rect">
            <a:avLst/>
          </a:prstGeom>
          <a:noFill/>
        </p:spPr>
        <p:txBody>
          <a:bodyPr wrap="square" lIns="0" tIns="0" rIns="0" bIns="0" anchor="t">
            <a:noAutofit/>
          </a:bodyPr>
          <a:lstStyle/>
          <a:p>
            <a:pPr algn="l">
              <a:spcAft>
                <a:spcPts val="500"/>
              </a:spcAft>
              <a:buNone/>
            </a:pPr>
            <a:r>
              <a:rPr sz="950" b="0">
                <a:solidFill>
                  <a:srgbClr val="272727"/>
                </a:solidFill>
                <a:latin typeface="Arial"/>
              </a:rPr>
              <a:t>[1] K. E. Watkins, B. Ferris, A. Borning, G. S. Rutherford, D. Layton, “Where Is My Bus? Impact of mobile real-time information on the perceived and actual wait time of transit riders,” Transportation Research Part A, 2011. doi:10.1016/j.tra.2011.06.010</a:t>
            </a:r>
          </a:p>
          <a:p>
            <a:pPr algn="l">
              <a:spcAft>
                <a:spcPts val="500"/>
              </a:spcAft>
              <a:buNone/>
            </a:pPr>
            <a:r>
              <a:rPr sz="950" b="0">
                <a:solidFill>
                  <a:srgbClr val="272727"/>
                </a:solidFill>
                <a:latin typeface="Arial"/>
              </a:rPr>
              <a:t>[2] K. Premkumar et al., “College Bus Tracking and Notification System,” IEEE ICSCAN, 2020. doi:10.1109/ICSCAN49426.2020.9262303</a:t>
            </a:r>
          </a:p>
          <a:p>
            <a:pPr algn="l">
              <a:spcAft>
                <a:spcPts val="500"/>
              </a:spcAft>
              <a:buNone/>
            </a:pPr>
            <a:r>
              <a:rPr sz="950" b="0">
                <a:solidFill>
                  <a:srgbClr val="272727"/>
                </a:solidFill>
                <a:latin typeface="Arial"/>
              </a:rPr>
              <a:t>[3] M. Kassim et al., “IoT Bus Tracking System Localization via GPS-RFID,” IEEE ICPEA, 2022. doi:10.1109/ICPEA53519.2022.9744710</a:t>
            </a:r>
          </a:p>
          <a:p>
            <a:pPr algn="l">
              <a:spcAft>
                <a:spcPts val="500"/>
              </a:spcAft>
              <a:buNone/>
            </a:pPr>
            <a:r>
              <a:rPr sz="950" b="0">
                <a:solidFill>
                  <a:srgbClr val="272727"/>
                </a:solidFill>
                <a:latin typeface="Arial"/>
              </a:rPr>
              <a:t>[4] M. Arevalo Villanueva et al., “FIEE Smart Campus IoT real-time bus tracking system and web app using LoRaWAN,” IEEE ISC2, 2022. doi:10.1109/ISC255366.2022.9922172</a:t>
            </a:r>
          </a:p>
          <a:p>
            <a:pPr algn="l">
              <a:spcAft>
                <a:spcPts val="500"/>
              </a:spcAft>
              <a:buNone/>
            </a:pPr>
            <a:r>
              <a:rPr sz="950" b="0">
                <a:solidFill>
                  <a:srgbClr val="272727"/>
                </a:solidFill>
                <a:latin typeface="Arial"/>
              </a:rPr>
              <a:t>[5] M. Sobhana et al., “Smart Campus Bus Tracking Alert System Using Real-Time GPS,” IEEE ICACCS, 2023. doi:10.1109/ICACCS57279.2023.10112757</a:t>
            </a:r>
          </a:p>
          <a:p>
            <a:pPr algn="l">
              <a:spcAft>
                <a:spcPts val="500"/>
              </a:spcAft>
              <a:buNone/>
            </a:pPr>
            <a:r>
              <a:rPr sz="950" b="0">
                <a:solidFill>
                  <a:srgbClr val="272727"/>
                </a:solidFill>
                <a:latin typeface="Arial"/>
              </a:rPr>
              <a:t>[6] N. Shanthi et al., “GPS-based Arrival Time Prediction for Bus Schedules: Enhancing Commuter Experience,” IEEE ICoAC, 2023. doi:10.1109/ICoAC59537.2023.10249289</a:t>
            </a:r>
          </a:p>
          <a:p>
            <a:pPr algn="l">
              <a:spcAft>
                <a:spcPts val="500"/>
              </a:spcAft>
              <a:buNone/>
            </a:pPr>
            <a:r>
              <a:rPr sz="950" b="0">
                <a:solidFill>
                  <a:srgbClr val="272727"/>
                </a:solidFill>
                <a:latin typeface="Arial"/>
              </a:rPr>
              <a:t>[7] N. Rashvand, S. S. Hosseini, M. Azarbayjani, H. Tabkhi, “Real-Time Bus Arrival Prediction: A Deep Learning Approach for Enhanced Urban Mobility,” arXiv:2303.15495, 2023.</a:t>
            </a:r>
          </a:p>
          <a:p>
            <a:pPr algn="l">
              <a:spcAft>
                <a:spcPts val="500"/>
              </a:spcAft>
              <a:buNone/>
            </a:pPr>
            <a:r>
              <a:rPr sz="950" b="0">
                <a:solidFill>
                  <a:srgbClr val="272727"/>
                </a:solidFill>
                <a:latin typeface="Arial"/>
              </a:rPr>
              <a:t>[8] N. Rashvand, S. S. Hosseini, M. Azarbayjani, H. Tabkhi, “Real-Time Bus Departure Prediction Using Neural Networks for Smart IoT Public Bus Transit,” IoT, 5(4), 650–665, 2024. doi:10.3390/iot5040029</a:t>
            </a:r>
          </a:p>
          <a:p>
            <a:pPr algn="l">
              <a:spcAft>
                <a:spcPts val="500"/>
              </a:spcAft>
              <a:buNone/>
            </a:pPr>
            <a:r>
              <a:rPr sz="950" b="0">
                <a:solidFill>
                  <a:srgbClr val="272727"/>
                </a:solidFill>
                <a:latin typeface="Arial"/>
              </a:rPr>
              <a:t>[9] Z. Li, P. Wolf, M. Wang, “ArrivalNet: Predicting City-wide Bus/Tram Arrival Time with Two-dimensional Temporal Variation Modeling,” arXiv:2410.14742, 2024.</a:t>
            </a:r>
          </a:p>
          <a:p>
            <a:pPr algn="l">
              <a:spcAft>
                <a:spcPts val="500"/>
              </a:spcAft>
              <a:buNone/>
            </a:pPr>
            <a:r>
              <a:rPr sz="950" b="0">
                <a:solidFill>
                  <a:srgbClr val="272727"/>
                </a:solidFill>
                <a:latin typeface="Arial"/>
              </a:rPr>
              <a:t>[10] Y. Sun, J. Spall, W. Wong, X. Zhao, “Real-time Bus Travel Time Prediction and Reliability Quantification: A Hybrid Markov Model,” arXiv:2503.05907, 2025.</a:t>
            </a:r>
          </a:p>
        </p:txBody>
      </p:sp>
      <p:sp>
        <p:nvSpPr>
          <p:cNvPr id="30" name="Rounded Rectangle 29"/>
          <p:cNvSpPr/>
          <p:nvPr/>
        </p:nvSpPr>
        <p:spPr>
          <a:xfrm>
            <a:off x="7635240" y="1536192"/>
            <a:ext cx="4142232" cy="4526280"/>
          </a:xfrm>
          <a:prstGeom prst="roundRect">
            <a:avLst>
              <a:gd name="adj" fmla="val 1545"/>
            </a:avLst>
          </a:prstGeom>
          <a:solidFill>
            <a:srgbClr val="F4F4F4"/>
          </a:solidFill>
          <a:ln w="12700">
            <a:solidFill>
              <a:srgbClr val="C8D2E0"/>
            </a:solidFill>
          </a:ln>
        </p:spPr>
        <p:style>
          <a:lnRef idx="1">
            <a:schemeClr val="accent1"/>
          </a:lnRef>
          <a:fillRef idx="3">
            <a:schemeClr val="accent1"/>
          </a:fillRef>
          <a:effectRef idx="2">
            <a:schemeClr val="accent1"/>
          </a:effectRef>
          <a:fontRef idx="minor">
            <a:schemeClr val="lt1"/>
          </a:fontRef>
        </p:style>
        <p:txBody>
          <a:bodyPr rtlCol="0" anchor="t" wrap="square" lIns="164592" tIns="128016" rIns="128016" bIns="73152">
            <a:noAutofit/>
          </a:bodyPr>
          <a:lstStyle/>
          <a:p>
            <a:pPr algn="l">
              <a:spcAft>
                <a:spcPts val="600"/>
              </a:spcAft>
              <a:buNone/>
            </a:pPr>
            <a:r>
              <a:rPr sz="1100" b="1">
                <a:solidFill>
                  <a:srgbClr val="0A1D3D"/>
                </a:solidFill>
                <a:latin typeface="Arial"/>
              </a:rPr>
              <a:t>SYSTEMS AND DATA</a:t>
            </a:r>
          </a:p>
          <a:p>
            <a:pPr algn="l">
              <a:spcAft>
                <a:spcPts val="600"/>
              </a:spcAft>
              <a:buNone/>
            </a:pPr>
            <a:r>
              <a:rPr sz="950" b="0">
                <a:solidFill>
                  <a:srgbClr val="272727"/>
                </a:solidFill>
                <a:latin typeface="Arial"/>
              </a:rPr>
              <a:t>[11] MTC “Chennai Bus” app launch — DT Next, 5 May 2022; mtcbus.tn.gov.in</a:t>
            </a:r>
          </a:p>
          <a:p>
            <a:pPr algn="l">
              <a:spcAft>
                <a:spcPts val="600"/>
              </a:spcAft>
              <a:buNone/>
            </a:pPr>
            <a:r>
              <a:rPr sz="950" b="0">
                <a:solidFill>
                  <a:srgbClr val="272727"/>
                </a:solidFill>
                <a:latin typeface="Arial"/>
              </a:rPr>
              <a:t>[12] Chalo — chalo.com (live bus tracking, 20+ Indian cities)</a:t>
            </a:r>
          </a:p>
          <a:p>
            <a:pPr algn="l">
              <a:spcAft>
                <a:spcPts val="600"/>
              </a:spcAft>
              <a:buNone/>
            </a:pPr>
            <a:r>
              <a:rPr sz="950" b="0">
                <a:solidFill>
                  <a:srgbClr val="272727"/>
                </a:solidFill>
                <a:latin typeface="Arial"/>
              </a:rPr>
              <a:t>[13] TransLoc — transloc.com/universities</a:t>
            </a:r>
          </a:p>
          <a:p>
            <a:pPr algn="l">
              <a:spcAft>
                <a:spcPts val="600"/>
              </a:spcAft>
              <a:buNone/>
            </a:pPr>
            <a:r>
              <a:rPr sz="950" b="0">
                <a:solidFill>
                  <a:srgbClr val="272727"/>
                </a:solidFill>
                <a:latin typeface="Arial"/>
              </a:rPr>
              <a:t>[14] BSACIST Estate Office – Transport Department, Bus Route for the Academic Year 2026-2027</a:t>
            </a:r>
          </a:p>
          <a:p>
            <a:pPr algn="l">
              <a:spcAft>
                <a:spcPts val="600"/>
              </a:spcAft>
              <a:buNone/>
            </a:pPr>
            <a:r>
              <a:rPr sz="950" b="0">
                <a:solidFill>
                  <a:srgbClr val="272727"/>
                </a:solidFill>
                <a:latin typeface="Arial"/>
              </a:rPr>
              <a:t>[15] GTFS Realtime reference — gtfs.org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987552"/>
            <a:ext cx="11274552" cy="457200"/>
          </a:xfrm>
        </p:spPr>
        <p:txBody>
          <a:bodyPr wrap="square"/>
          <a:lstStyle/>
          <a:p>
            <a:pPr algn="ctr"/>
            <a:r>
              <a:rPr sz="2400" b="1">
                <a:solidFill>
                  <a:srgbClr val="0A1D3D"/>
                </a:solidFill>
                <a:latin typeface="Arial" panose="020B0604020202020204"/>
              </a:rPr>
              <a:t>THANK YOU</a:t>
            </a:r>
            <a:endParaRPr sz="2400" b="1">
              <a:solidFill>
                <a:srgbClr val="0A1D3D"/>
              </a:solidFill>
              <a:latin typeface="Arial" panose="020B0604020202020204"/>
            </a:endParaRPr>
          </a:p>
        </p:txBody>
      </p:sp>
      <p:sp>
        <p:nvSpPr>
          <p:cNvPr id="25" name="object 2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spc="-20" dirty="0"/>
              <a:t>DEPARTMENT</a:t>
            </a:r>
            <a:r>
              <a:rPr dirty="0"/>
              <a:t> OF</a:t>
            </a:r>
            <a:r>
              <a:rPr spc="5" dirty="0"/>
              <a:t> </a:t>
            </a:r>
            <a:r>
              <a:rPr spc="-10" dirty="0"/>
              <a:t>COMPUTER</a:t>
            </a:r>
            <a:r>
              <a:rPr spc="-30" dirty="0"/>
              <a:t> </a:t>
            </a:r>
            <a:r>
              <a:rPr spc="-10" dirty="0"/>
              <a:t>APPLICATIONS</a:t>
            </a:r>
            <a:endParaRPr spc="-10" dirty="0"/>
          </a:p>
        </p:txBody>
      </p:sp>
      <p:sp>
        <p:nvSpPr>
          <p:cNvPr id="26" name="object 26"/>
          <p:cNvSpPr txBox="1">
            <a:spLocks noGrp="1"/>
          </p:cNvSpPr>
          <p:nvPr>
            <p:ph type="sldNum" sz="quarter" idx="7"/>
          </p:nvPr>
        </p:nvSpPr>
        <p:spPr>
          <a:xfrm>
            <a:off x="10844784" y="6355080"/>
            <a:ext cx="594360" cy="182880"/>
          </a:xfrm>
          <a:prstGeom prst="rect">
            <a:avLst/>
          </a:prstGeom>
        </p:spPr>
        <p:txBody>
          <a:bodyPr vert="horz" wrap="square" lIns="0" tIns="635" rIns="0" bIns="0" rtlCol="0">
            <a:spAutoFit/>
          </a:bodyPr>
          <a:lstStyle/>
          <a:p>
            <a:pPr marL="38100" algn="r">
              <a:lnSpc>
                <a:spcPct val="100000"/>
              </a:lnSpc>
              <a:spcBef>
                <a:spcPts val="5"/>
              </a:spcBef>
            </a:pPr>
            <a:fld id="{81D60167-4931-47E6-BA6A-407CBD079E47}" type="slidenum">
              <a:rPr spc="-50" dirty="0"/>
            </a:fld>
            <a:endParaRPr spc="-50" dirty="0"/>
          </a:p>
        </p:txBody>
      </p:sp>
      <p:sp>
        <p:nvSpPr>
          <p:cNvPr id="27" name="Rectangle 26"/>
          <p:cNvSpPr/>
          <p:nvPr/>
        </p:nvSpPr>
        <p:spPr>
          <a:xfrm>
            <a:off x="219456" y="128016"/>
            <a:ext cx="2194560" cy="676656"/>
          </a:xfrm>
          <a:prstGeom prst="rect">
            <a:avLst/>
          </a:prstGeom>
          <a:solidFill>
            <a:srgbClr val="FFFFFF"/>
          </a:solidFill>
          <a:ln>
            <a:noFill/>
          </a:ln>
          <a:effectLst/>
        </p:spPr>
        <p:txBody>
          <a:bodyPr rtlCol="0" anchor="ctr"/>
          <a:lstStyle/>
          <a:p>
            <a:pPr algn="ctr"/>
          </a:p>
        </p:txBody>
      </p:sp>
      <p:pic>
        <p:nvPicPr>
          <p:cNvPr id="28" name="Picture 27" descr="image5.jpeg"/>
          <p:cNvPicPr>
            <a:picLocks noChangeAspect="1"/>
          </p:cNvPicPr>
          <p:nvPr/>
        </p:nvPicPr>
        <p:blipFill>
          <a:blip r:embed="rId1"/>
          <a:stretch>
            <a:fillRect/>
          </a:stretch>
        </p:blipFill>
        <p:spPr>
          <a:xfrm>
            <a:off x="9061704" y="18288"/>
            <a:ext cx="2962656" cy="841248"/>
          </a:xfrm>
          <a:prstGeom prst="rect">
            <a:avLst/>
          </a:prstGeom>
        </p:spPr>
      </p:pic>
      <p:sp>
        <p:nvSpPr>
          <p:cNvPr id="29" name="TextBox 28"/>
          <p:cNvSpPr txBox="1"/>
          <p:nvPr/>
        </p:nvSpPr>
        <p:spPr>
          <a:xfrm>
            <a:off x="411480" y="1920240"/>
            <a:ext cx="11365992" cy="548640"/>
          </a:xfrm>
          <a:prstGeom prst="rect">
            <a:avLst/>
          </a:prstGeom>
          <a:noFill/>
        </p:spPr>
        <p:txBody>
          <a:bodyPr wrap="square" lIns="0" tIns="0" rIns="0" bIns="0" anchor="t">
            <a:noAutofit/>
          </a:bodyPr>
          <a:lstStyle/>
          <a:p>
            <a:pPr algn="ctr">
              <a:buNone/>
            </a:pPr>
            <a:r>
              <a:rPr sz="2200" b="1">
                <a:solidFill>
                  <a:srgbClr val="0A1D3D"/>
                </a:solidFill>
                <a:latin typeface="Arial"/>
              </a:rPr>
              <a:t>Live demo: Module 1 — Real-Time Location Pipeline</a:t>
            </a:r>
          </a:p>
        </p:txBody>
      </p:sp>
      <p:sp>
        <p:nvSpPr>
          <p:cNvPr id="30" name="Oval 29"/>
          <p:cNvSpPr/>
          <p:nvPr/>
        </p:nvSpPr>
        <p:spPr>
          <a:xfrm>
            <a:off x="2194560" y="2798064"/>
            <a:ext cx="402336" cy="402336"/>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1</a:t>
            </a:r>
          </a:p>
        </p:txBody>
      </p:sp>
      <p:sp>
        <p:nvSpPr>
          <p:cNvPr id="31" name="TextBox 30"/>
          <p:cNvSpPr txBox="1"/>
          <p:nvPr/>
        </p:nvSpPr>
        <p:spPr>
          <a:xfrm>
            <a:off x="2788920" y="2834640"/>
            <a:ext cx="7772400" cy="365760"/>
          </a:xfrm>
          <a:prstGeom prst="rect">
            <a:avLst/>
          </a:prstGeom>
          <a:noFill/>
        </p:spPr>
        <p:txBody>
          <a:bodyPr wrap="square" lIns="0" tIns="0" rIns="0" bIns="0" anchor="t">
            <a:noAutofit/>
          </a:bodyPr>
          <a:lstStyle/>
          <a:p>
            <a:pPr algn="l">
              <a:buNone/>
            </a:pPr>
            <a:r>
              <a:rPr sz="1400" b="0">
                <a:solidFill>
                  <a:srgbClr val="272727"/>
                </a:solidFill>
                <a:latin typeface="Arial"/>
              </a:rPr>
              <a:t>Driver App: sign in as the driver of route 118 and start the trip</a:t>
            </a:r>
          </a:p>
        </p:txBody>
      </p:sp>
      <p:sp>
        <p:nvSpPr>
          <p:cNvPr id="32" name="Oval 31"/>
          <p:cNvSpPr/>
          <p:nvPr/>
        </p:nvSpPr>
        <p:spPr>
          <a:xfrm>
            <a:off x="2194560" y="3456432"/>
            <a:ext cx="402336" cy="402336"/>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2</a:t>
            </a:r>
          </a:p>
        </p:txBody>
      </p:sp>
      <p:sp>
        <p:nvSpPr>
          <p:cNvPr id="33" name="TextBox 32"/>
          <p:cNvSpPr txBox="1"/>
          <p:nvPr/>
        </p:nvSpPr>
        <p:spPr>
          <a:xfrm>
            <a:off x="2788920" y="3493008"/>
            <a:ext cx="7772400" cy="365760"/>
          </a:xfrm>
          <a:prstGeom prst="rect">
            <a:avLst/>
          </a:prstGeom>
          <a:noFill/>
        </p:spPr>
        <p:txBody>
          <a:bodyPr wrap="square" lIns="0" tIns="0" rIns="0" bIns="0" anchor="t">
            <a:noAutofit/>
          </a:bodyPr>
          <a:lstStyle/>
          <a:p>
            <a:pPr algn="l">
              <a:buNone/>
            </a:pPr>
            <a:r>
              <a:rPr sz="1400" b="0">
                <a:solidFill>
                  <a:srgbClr val="272727"/>
                </a:solidFill>
                <a:latin typeface="Arial"/>
              </a:rPr>
              <a:t>Student Live Map: the bus appears and glides along its real route</a:t>
            </a:r>
          </a:p>
        </p:txBody>
      </p:sp>
      <p:sp>
        <p:nvSpPr>
          <p:cNvPr id="34" name="Oval 33"/>
          <p:cNvSpPr/>
          <p:nvPr/>
        </p:nvSpPr>
        <p:spPr>
          <a:xfrm>
            <a:off x="2194560" y="4114799"/>
            <a:ext cx="402336" cy="402336"/>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3</a:t>
            </a:r>
          </a:p>
        </p:txBody>
      </p:sp>
      <p:sp>
        <p:nvSpPr>
          <p:cNvPr id="35" name="TextBox 34"/>
          <p:cNvSpPr txBox="1"/>
          <p:nvPr/>
        </p:nvSpPr>
        <p:spPr>
          <a:xfrm>
            <a:off x="2788920" y="4151375"/>
            <a:ext cx="7772400" cy="365760"/>
          </a:xfrm>
          <a:prstGeom prst="rect">
            <a:avLst/>
          </a:prstGeom>
          <a:noFill/>
        </p:spPr>
        <p:txBody>
          <a:bodyPr wrap="square" lIns="0" tIns="0" rIns="0" bIns="0" anchor="t">
            <a:noAutofit/>
          </a:bodyPr>
          <a:lstStyle/>
          <a:p>
            <a:pPr algn="l">
              <a:buNone/>
            </a:pPr>
            <a:r>
              <a:rPr sz="1400" b="0">
                <a:solidFill>
                  <a:srgbClr val="272727"/>
                </a:solidFill>
                <a:latin typeface="Arial"/>
              </a:rPr>
              <a:t>Send a 0,0 fix and a 12 km jump: both rejected, bus position unchanged</a:t>
            </a:r>
          </a:p>
        </p:txBody>
      </p:sp>
      <p:sp>
        <p:nvSpPr>
          <p:cNvPr id="36" name="Oval 35"/>
          <p:cNvSpPr/>
          <p:nvPr/>
        </p:nvSpPr>
        <p:spPr>
          <a:xfrm>
            <a:off x="2194560" y="4773168"/>
            <a:ext cx="402336" cy="402336"/>
          </a:xfrm>
          <a:prstGeom prst="ellipse">
            <a:avLst/>
          </a:prstGeom>
          <a:solidFill>
            <a:srgbClr val="C70F2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buNone/>
            </a:pPr>
            <a:r>
              <a:rPr sz="1200" b="1">
                <a:solidFill>
                  <a:srgbClr val="FFFFFF"/>
                </a:solidFill>
                <a:latin typeface="Arial"/>
              </a:rPr>
              <a:t>4</a:t>
            </a:r>
          </a:p>
        </p:txBody>
      </p:sp>
      <p:sp>
        <p:nvSpPr>
          <p:cNvPr id="37" name="TextBox 36"/>
          <p:cNvSpPr txBox="1"/>
          <p:nvPr/>
        </p:nvSpPr>
        <p:spPr>
          <a:xfrm>
            <a:off x="2788920" y="4809744"/>
            <a:ext cx="7772400" cy="365760"/>
          </a:xfrm>
          <a:prstGeom prst="rect">
            <a:avLst/>
          </a:prstGeom>
          <a:noFill/>
        </p:spPr>
        <p:txBody>
          <a:bodyPr wrap="square" lIns="0" tIns="0" rIns="0" bIns="0" anchor="t">
            <a:noAutofit/>
          </a:bodyPr>
          <a:lstStyle/>
          <a:p>
            <a:pPr algn="l">
              <a:buNone/>
            </a:pPr>
            <a:r>
              <a:rPr sz="1400" b="0">
                <a:solidFill>
                  <a:srgbClr val="272727"/>
                </a:solidFill>
                <a:latin typeface="Arial"/>
              </a:rPr>
              <a:t>Stop a bus: Live ➜ Delayed after 30 s ➜ Offline after 2 min with last-seen stop</a:t>
            </a:r>
          </a:p>
        </p:txBody>
      </p:sp>
      <p:sp>
        <p:nvSpPr>
          <p:cNvPr id="38" name="TextBox 37"/>
          <p:cNvSpPr txBox="1"/>
          <p:nvPr/>
        </p:nvSpPr>
        <p:spPr>
          <a:xfrm>
            <a:off x="411480" y="5577840"/>
            <a:ext cx="11365992" cy="365760"/>
          </a:xfrm>
          <a:prstGeom prst="rect">
            <a:avLst/>
          </a:prstGeom>
          <a:noFill/>
        </p:spPr>
        <p:txBody>
          <a:bodyPr wrap="square" lIns="0" tIns="0" rIns="0" bIns="0" anchor="t">
            <a:noAutofit/>
          </a:bodyPr>
          <a:lstStyle/>
          <a:p>
            <a:pPr algn="ctr">
              <a:buNone/>
            </a:pPr>
            <a:r>
              <a:rPr sz="1800" b="1">
                <a:solidFill>
                  <a:srgbClr val="C70F2D"/>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6012</Words>
  <Application>WPS Presentation</Application>
  <PresentationFormat>Widescreen</PresentationFormat>
  <Paragraphs>251</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Arial</vt:lpstr>
      <vt:lpstr>Microsoft YaHei</vt:lpstr>
      <vt:lpstr>Arial Unicode MS</vt:lpstr>
      <vt:lpstr>Calibri</vt:lpstr>
      <vt:lpstr>Office Theme</vt:lpstr>
      <vt:lpstr>PowerPoint 演示文稿</vt:lpstr>
      <vt:lpstr>ABSTRACT</vt:lpstr>
      <vt:lpstr>PROBLEM STATEMENT</vt:lpstr>
      <vt:lpstr>OBJECTIVE</vt:lpstr>
      <vt:lpstr>LITERATURE SURVEY</vt:lpstr>
      <vt:lpstr>TECHNOLOGIES USED</vt:lpstr>
      <vt:lpstr>COMPLETE SYSTEM ARCHITECTURE</vt:lpstr>
      <vt:lpstr>ROADMAP &amp; EXPECTED OUTPUT</vt:lpstr>
      <vt:lpstr>BUS TRACKER — STUDENT APP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Thameem</cp:lastModifiedBy>
  <cp:revision>27</cp:revision>
  <dcterms:created xsi:type="dcterms:W3CDTF">2026-09-07T17:24:00Z</dcterms:created>
  <dcterms:modified xsi:type="dcterms:W3CDTF">2026-09-16T08:09:51Z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2026-09-07T05:30:00Z</vt:filetime>
  </property>
  <property fmtid="{D5CDD505-2E9C-101B-9397-08002B2CF9AE}" pid="4" name="Creator">
    <vt:lpwstr>Impress</vt:lpwstr>
  </property>
  <property fmtid="{D5CDD505-2E9C-101B-9397-08002B2CF9AE}" pid="5" name="Producer">
    <vt:lpwstr>LibreOffice 7.4</vt:lpwstr>
  </property>
  <property fmtid="{D5CDD505-2E9C-101B-9397-08002B2CF9AE}" pid="6" name="LastSaved">
    <vt:filetime>2026-09-07T05:30:00Z</vt:filetime>
  </property>
  <property fmtid="{D5CDD505-2E9C-101B-9397-08002B2CF9AE}" pid="7" name="ICV">
    <vt:lpwstr>A4EAC57A86694CF1B498ADC406C51D2F_12</vt:lpwstr>
  </property>
  <property fmtid="{D5CDD505-2E9C-101B-9397-08002B2CF9AE}" pid="8" name="KSOProductBuildVer">
    <vt:lpwstr>1033-12.1.0.28485</vt:lpwstr>
  </property>
</Properties>
</file>